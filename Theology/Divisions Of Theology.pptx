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4" r:id="rId3"/>
    <p:sldId id="28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5" r:id="rId13"/>
    <p:sldId id="268" r:id="rId14"/>
    <p:sldId id="269" r:id="rId15"/>
    <p:sldId id="266" r:id="rId16"/>
    <p:sldId id="270" r:id="rId17"/>
    <p:sldId id="271" r:id="rId18"/>
    <p:sldId id="273" r:id="rId19"/>
    <p:sldId id="274" r:id="rId20"/>
    <p:sldId id="275" r:id="rId21"/>
    <p:sldId id="277" r:id="rId22"/>
    <p:sldId id="287" r:id="rId23"/>
    <p:sldId id="288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19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67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32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07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74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88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64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67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88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18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600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0369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17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486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632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836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64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9D5427-C2E5-4485-A15F-897AB6E6F4BA}" type="datetimeFigureOut">
              <a:rPr lang="en-IN" smtClean="0"/>
              <a:t>27-08-2025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50563-2CA0-428B-ACAE-1330B95783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2691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8800" b="1" u="sng" dirty="0" smtClean="0"/>
              <a:t>Systematic Theology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335630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</a:t>
            </a:r>
            <a:r>
              <a:rPr lang="en-IN" sz="2400" dirty="0" err="1" smtClean="0"/>
              <a:t>Bibliology</a:t>
            </a:r>
            <a:r>
              <a:rPr lang="en-IN" sz="2400" dirty="0" smtClean="0"/>
              <a:t>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</a:t>
            </a:r>
            <a:r>
              <a:rPr lang="en-IN" sz="2400" dirty="0" err="1" smtClean="0"/>
              <a:t>Hamartiology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28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745433" cy="6161727"/>
          </a:xfrm>
        </p:spPr>
        <p:txBody>
          <a:bodyPr anchor="ctr"/>
          <a:lstStyle/>
          <a:p>
            <a:pPr algn="ctr"/>
            <a:r>
              <a:rPr lang="en-US" sz="11500" dirty="0" smtClean="0"/>
              <a:t>BIBLIOLOGY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54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BIBLIOLOGY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Word of God</a:t>
            </a:r>
          </a:p>
          <a:p>
            <a:r>
              <a:rPr lang="en-US" sz="3200" dirty="0"/>
              <a:t>Four Implications</a:t>
            </a:r>
          </a:p>
          <a:p>
            <a:pPr lvl="1"/>
            <a:r>
              <a:rPr lang="en-US" sz="3000" dirty="0"/>
              <a:t>1. It has creating power</a:t>
            </a:r>
          </a:p>
          <a:p>
            <a:pPr lvl="1"/>
            <a:r>
              <a:rPr lang="en-US" sz="3000" dirty="0"/>
              <a:t>2. Jesus Christ</a:t>
            </a:r>
          </a:p>
          <a:p>
            <a:pPr lvl="1"/>
            <a:r>
              <a:rPr lang="en-US" sz="3000" dirty="0"/>
              <a:t>3. </a:t>
            </a:r>
            <a:r>
              <a:rPr lang="en-US" sz="3000" dirty="0" err="1"/>
              <a:t>Goodnews</a:t>
            </a:r>
            <a:r>
              <a:rPr lang="en-US" sz="3000" dirty="0"/>
              <a:t> to the kingdom of God</a:t>
            </a:r>
          </a:p>
          <a:p>
            <a:pPr lvl="1"/>
            <a:r>
              <a:rPr lang="en-US" sz="3000" dirty="0"/>
              <a:t>4. Written Word of </a:t>
            </a:r>
            <a:r>
              <a:rPr lang="en-US" sz="3000" dirty="0" smtClean="0"/>
              <a:t>God-THE </a:t>
            </a:r>
            <a:r>
              <a:rPr lang="en-US" sz="3000" dirty="0"/>
              <a:t>BIBLE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62804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DEFENITION OF </a:t>
            </a:r>
            <a:r>
              <a:rPr lang="en-US" dirty="0" smtClean="0"/>
              <a:t>BIBLE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 - Basic</a:t>
            </a:r>
            <a:endParaRPr lang="en-US" dirty="0"/>
          </a:p>
          <a:p>
            <a:r>
              <a:rPr lang="en-US" dirty="0" smtClean="0"/>
              <a:t> I - Instructions</a:t>
            </a:r>
            <a:endParaRPr lang="en-US" dirty="0"/>
          </a:p>
          <a:p>
            <a:r>
              <a:rPr lang="en-US" dirty="0" smtClean="0"/>
              <a:t>B - Before</a:t>
            </a:r>
            <a:endParaRPr lang="en-US" dirty="0"/>
          </a:p>
          <a:p>
            <a:r>
              <a:rPr lang="en-US" dirty="0" smtClean="0"/>
              <a:t>L - Leaving</a:t>
            </a:r>
            <a:endParaRPr lang="en-US" dirty="0"/>
          </a:p>
          <a:p>
            <a:r>
              <a:rPr lang="en-US" dirty="0" smtClean="0"/>
              <a:t>E - Earth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68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Biblion</a:t>
            </a:r>
            <a:r>
              <a:rPr lang="en-IN" dirty="0"/>
              <a:t>-Greek Word</a:t>
            </a:r>
          </a:p>
          <a:p>
            <a:r>
              <a:rPr lang="en-IN" dirty="0"/>
              <a:t>Bible- English Word</a:t>
            </a:r>
          </a:p>
          <a:p>
            <a:r>
              <a:rPr lang="en-IN" dirty="0"/>
              <a:t>Bible Languages</a:t>
            </a:r>
          </a:p>
          <a:p>
            <a:pPr lvl="1"/>
            <a:r>
              <a:rPr lang="en-IN" dirty="0"/>
              <a:t>1.Hebrew-Old Testament</a:t>
            </a:r>
          </a:p>
          <a:p>
            <a:pPr lvl="1"/>
            <a:r>
              <a:rPr lang="en-IN" dirty="0"/>
              <a:t>2.Greek-New Testament</a:t>
            </a:r>
          </a:p>
          <a:p>
            <a:pPr lvl="1"/>
            <a:r>
              <a:rPr lang="en-IN" dirty="0"/>
              <a:t>3.Aramaic Daniel 2:4-7:28, </a:t>
            </a:r>
            <a:r>
              <a:rPr lang="en-IN" dirty="0" err="1"/>
              <a:t>Esra</a:t>
            </a:r>
            <a:r>
              <a:rPr lang="en-IN" dirty="0"/>
              <a:t> 4:8-6:8, </a:t>
            </a:r>
            <a:r>
              <a:rPr lang="en-IN" dirty="0" err="1"/>
              <a:t>Esra</a:t>
            </a:r>
            <a:r>
              <a:rPr lang="en-IN" dirty="0"/>
              <a:t> 7:12-26 </a:t>
            </a:r>
          </a:p>
          <a:p>
            <a:pPr lvl="2"/>
            <a:r>
              <a:rPr lang="en-IN" dirty="0"/>
              <a:t>{600BC to 700AD Aramaic language was National</a:t>
            </a:r>
            <a:r>
              <a:rPr lang="en-IN" dirty="0" smtClean="0"/>
              <a:t>}</a:t>
            </a:r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Septuagent</a:t>
            </a:r>
            <a:r>
              <a:rPr lang="en-US" dirty="0" smtClean="0"/>
              <a:t> : Meaning 70 - {LXX} BC 273- Written By 70 Scribes </a:t>
            </a:r>
            <a:endParaRPr lang="en-IN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43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Divisions Of Bible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20"/>
            <a:ext cx="8946541" cy="1066296"/>
          </a:xfrm>
        </p:spPr>
        <p:txBody>
          <a:bodyPr/>
          <a:lstStyle/>
          <a:p>
            <a:r>
              <a:rPr lang="en-US" dirty="0"/>
              <a:t>1. Old Testament</a:t>
            </a:r>
          </a:p>
          <a:p>
            <a:r>
              <a:rPr lang="en-US" dirty="0"/>
              <a:t>2. New </a:t>
            </a:r>
            <a:r>
              <a:rPr lang="en-US" dirty="0" smtClean="0"/>
              <a:t>Testament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5130" y="3119216"/>
            <a:ext cx="9404723" cy="931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/>
              <a:t>Testament</a:t>
            </a:r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8978" y="4452864"/>
            <a:ext cx="9306891" cy="1862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/>
            <a:r>
              <a:rPr lang="en-US" dirty="0"/>
              <a:t>The </a:t>
            </a:r>
            <a:r>
              <a:rPr lang="en-US" dirty="0" err="1"/>
              <a:t>Lattin</a:t>
            </a:r>
            <a:r>
              <a:rPr lang="en-US" dirty="0"/>
              <a:t> Word For Testament-TESTAMENTUM</a:t>
            </a:r>
          </a:p>
          <a:p>
            <a:pPr lvl="1"/>
            <a:r>
              <a:rPr lang="en-US" dirty="0"/>
              <a:t>The Hebrew Word--BERITH Corresponding English Word-</a:t>
            </a:r>
            <a:r>
              <a:rPr lang="en-US" dirty="0" err="1"/>
              <a:t>Covenent</a:t>
            </a:r>
            <a:endParaRPr lang="en-US" dirty="0"/>
          </a:p>
          <a:p>
            <a:pPr lvl="1"/>
            <a:r>
              <a:rPr lang="en-US" dirty="0"/>
              <a:t>The Greek Word--DIATHEKE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99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0"/>
            <a:ext cx="9404723" cy="1400530"/>
          </a:xfrm>
        </p:spPr>
        <p:txBody>
          <a:bodyPr/>
          <a:lstStyle/>
          <a:p>
            <a:pPr algn="ctr"/>
            <a:r>
              <a:rPr lang="en-IN" dirty="0"/>
              <a:t>Number of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Total-66 OT-39 NT-27</a:t>
            </a:r>
          </a:p>
          <a:p>
            <a:r>
              <a:rPr lang="en-US" dirty="0" smtClean="0"/>
              <a:t>Luke 24: 44 </a:t>
            </a:r>
          </a:p>
          <a:p>
            <a:r>
              <a:rPr lang="en-US" dirty="0" smtClean="0"/>
              <a:t>The Scripture {Old Testament}</a:t>
            </a:r>
          </a:p>
          <a:p>
            <a:pPr lvl="1"/>
            <a:r>
              <a:rPr lang="en-US" dirty="0" smtClean="0"/>
              <a:t>Torah : The Law - Genesis to Deuteronomy</a:t>
            </a:r>
          </a:p>
          <a:p>
            <a:pPr lvl="1"/>
            <a:r>
              <a:rPr lang="en-US" dirty="0" err="1" smtClean="0"/>
              <a:t>Nabim</a:t>
            </a:r>
            <a:r>
              <a:rPr lang="en-US" dirty="0" smtClean="0"/>
              <a:t> : The Prophetical Books</a:t>
            </a:r>
          </a:p>
          <a:p>
            <a:pPr lvl="2"/>
            <a:r>
              <a:rPr lang="en-US" dirty="0" smtClean="0"/>
              <a:t>Earlier Prophetical Books - Joshua to Kings</a:t>
            </a:r>
          </a:p>
          <a:p>
            <a:pPr lvl="2"/>
            <a:r>
              <a:rPr lang="en-US" dirty="0" smtClean="0"/>
              <a:t>Lateral Prophetical Books – Isaiah to Ezekiel, Hosea to Malachi</a:t>
            </a:r>
          </a:p>
          <a:p>
            <a:pPr lvl="1"/>
            <a:r>
              <a:rPr lang="en-US" dirty="0" err="1" smtClean="0"/>
              <a:t>Ketubim</a:t>
            </a:r>
            <a:r>
              <a:rPr lang="en-US" dirty="0" smtClean="0"/>
              <a:t> : Writings [Psalms]</a:t>
            </a:r>
          </a:p>
          <a:p>
            <a:pPr lvl="2"/>
            <a:r>
              <a:rPr lang="en-US" dirty="0" smtClean="0"/>
              <a:t>Poetical Writings – Psalms, Proverbs &amp; Job</a:t>
            </a:r>
          </a:p>
          <a:p>
            <a:pPr lvl="2"/>
            <a:r>
              <a:rPr lang="en-US" dirty="0" err="1" smtClean="0"/>
              <a:t>Megilloth</a:t>
            </a:r>
            <a:r>
              <a:rPr lang="en-US" dirty="0"/>
              <a:t> </a:t>
            </a:r>
            <a:r>
              <a:rPr lang="en-US" dirty="0" smtClean="0"/>
              <a:t>– {5 books} – Ruth, Esther, Ecclesiastics, Song of Songs &amp; Lamentation</a:t>
            </a:r>
          </a:p>
          <a:p>
            <a:pPr lvl="2"/>
            <a:r>
              <a:rPr lang="en-US" dirty="0" smtClean="0"/>
              <a:t>Historical Books – Chronicles, Ezra-Nehemiah &amp; Daniel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914400" lvl="2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6374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Bible Divisions Today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Old Testament</a:t>
            </a:r>
          </a:p>
          <a:p>
            <a:pPr lvl="1"/>
            <a:r>
              <a:rPr lang="en-US" dirty="0" smtClean="0"/>
              <a:t>The Law</a:t>
            </a:r>
          </a:p>
          <a:p>
            <a:pPr lvl="1"/>
            <a:r>
              <a:rPr lang="en-US" dirty="0" smtClean="0"/>
              <a:t>Historical Books</a:t>
            </a:r>
          </a:p>
          <a:p>
            <a:pPr lvl="1"/>
            <a:r>
              <a:rPr lang="en-US" dirty="0" smtClean="0"/>
              <a:t>Poetical Books</a:t>
            </a:r>
          </a:p>
          <a:p>
            <a:pPr lvl="1"/>
            <a:r>
              <a:rPr lang="en-US" dirty="0" smtClean="0"/>
              <a:t>Major Prophetical Books</a:t>
            </a:r>
          </a:p>
          <a:p>
            <a:pPr lvl="1"/>
            <a:r>
              <a:rPr lang="en-US" dirty="0" smtClean="0"/>
              <a:t>Minor Prophetical Books</a:t>
            </a:r>
          </a:p>
          <a:p>
            <a:r>
              <a:rPr lang="en-US" dirty="0" smtClean="0"/>
              <a:t>New Testament</a:t>
            </a:r>
          </a:p>
          <a:p>
            <a:pPr lvl="1"/>
            <a:r>
              <a:rPr lang="en-US" dirty="0" smtClean="0"/>
              <a:t>The Gospels</a:t>
            </a:r>
          </a:p>
          <a:p>
            <a:pPr lvl="1"/>
            <a:r>
              <a:rPr lang="en-US" dirty="0" smtClean="0"/>
              <a:t>Historical Book</a:t>
            </a:r>
          </a:p>
          <a:p>
            <a:pPr lvl="1"/>
            <a:r>
              <a:rPr lang="en-US" dirty="0" smtClean="0"/>
              <a:t>Pauline Epistles {Letters}</a:t>
            </a:r>
          </a:p>
          <a:p>
            <a:pPr lvl="1"/>
            <a:r>
              <a:rPr lang="en-US" dirty="0" smtClean="0"/>
              <a:t>General Epistles {Letters}</a:t>
            </a:r>
          </a:p>
          <a:p>
            <a:pPr lvl="1"/>
            <a:r>
              <a:rPr lang="en-US" dirty="0" smtClean="0"/>
              <a:t>Prophetical Book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32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Bible Canon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Canon </a:t>
            </a:r>
          </a:p>
          <a:p>
            <a:pPr lvl="1"/>
            <a:r>
              <a:rPr lang="en-IN" dirty="0"/>
              <a:t>Rule</a:t>
            </a:r>
            <a:endParaRPr lang="en-US" dirty="0" smtClean="0"/>
          </a:p>
          <a:p>
            <a:pPr lvl="1"/>
            <a:r>
              <a:rPr lang="en-US" dirty="0" smtClean="0"/>
              <a:t>Measuring </a:t>
            </a:r>
            <a:r>
              <a:rPr lang="en-IN" dirty="0"/>
              <a:t>stick</a:t>
            </a:r>
            <a:endParaRPr lang="en-US" dirty="0" smtClean="0"/>
          </a:p>
          <a:p>
            <a:pPr lvl="1"/>
            <a:r>
              <a:rPr lang="en-IN" dirty="0" smtClean="0"/>
              <a:t>Standard [of Scripture]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Bible Canon</a:t>
            </a:r>
            <a:r>
              <a:rPr lang="en-US" dirty="0"/>
              <a:t> is the </a:t>
            </a:r>
            <a:r>
              <a:rPr lang="en-US" b="1" dirty="0"/>
              <a:t>authoritative collection of sacred books</a:t>
            </a:r>
            <a:r>
              <a:rPr lang="en-US" dirty="0"/>
              <a:t> that form the Bible. It tells us which writings are considered </a:t>
            </a:r>
            <a:r>
              <a:rPr lang="en-US" b="1" dirty="0"/>
              <a:t>Scripture</a:t>
            </a:r>
            <a:r>
              <a:rPr lang="en-US" dirty="0"/>
              <a:t>, providing a foundation for faith, doctrine, and practice in the Christian tradition</a:t>
            </a:r>
            <a:r>
              <a:rPr lang="en-US" dirty="0" smtClean="0"/>
              <a:t>.</a:t>
            </a:r>
            <a:endParaRPr lang="en-IN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88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Old Testament </a:t>
            </a:r>
            <a:r>
              <a:rPr lang="en-IN" dirty="0" smtClean="0"/>
              <a:t>Canon Fixation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Council of </a:t>
            </a:r>
            <a:r>
              <a:rPr lang="en-US" b="1" dirty="0" err="1"/>
              <a:t>Jamnia</a:t>
            </a:r>
            <a:r>
              <a:rPr lang="en-US" dirty="0"/>
              <a:t> (circa 90 CE): Often cited as when the Jewish canon was finalized (though recent scholars debate the extent of this</a:t>
            </a:r>
            <a:r>
              <a:rPr lang="en-US" dirty="0" smtClean="0"/>
              <a:t>).</a:t>
            </a:r>
          </a:p>
          <a:p>
            <a:r>
              <a:rPr lang="en-US" b="1" dirty="0"/>
              <a:t>Church Councils</a:t>
            </a:r>
            <a:r>
              <a:rPr lang="en-US" dirty="0"/>
              <a:t> such as Hippo (393 CE) and Carthage (397 CE) affirmed the Christian Old Testament canon including Deuterocanonical books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75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Criteria </a:t>
            </a:r>
            <a:r>
              <a:rPr lang="en-US" dirty="0" smtClean="0"/>
              <a:t>of New Testament Canon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3083104"/>
          </a:xfrm>
        </p:spPr>
        <p:txBody>
          <a:bodyPr/>
          <a:lstStyle/>
          <a:p>
            <a:r>
              <a:rPr lang="en-IN" dirty="0"/>
              <a:t>Apostolic Origin (Apostolicity</a:t>
            </a:r>
            <a:r>
              <a:rPr lang="en-IN" dirty="0" smtClean="0"/>
              <a:t>)</a:t>
            </a:r>
          </a:p>
          <a:p>
            <a:r>
              <a:rPr lang="en-IN" dirty="0"/>
              <a:t>Orthodoxy (Doctrinal Consistency</a:t>
            </a:r>
            <a:r>
              <a:rPr lang="en-IN" dirty="0" smtClean="0"/>
              <a:t>)</a:t>
            </a:r>
          </a:p>
          <a:p>
            <a:r>
              <a:rPr lang="en-IN" dirty="0"/>
              <a:t>Universal </a:t>
            </a:r>
            <a:r>
              <a:rPr lang="en-IN" dirty="0" smtClean="0"/>
              <a:t>Acceptance </a:t>
            </a:r>
            <a:r>
              <a:rPr lang="en-IN" dirty="0"/>
              <a:t>(Catholicity</a:t>
            </a:r>
            <a:r>
              <a:rPr lang="en-IN" dirty="0" smtClean="0"/>
              <a:t>)</a:t>
            </a:r>
          </a:p>
          <a:p>
            <a:r>
              <a:rPr lang="en-US" dirty="0"/>
              <a:t>Liturgical Use (Public Reading in Worship</a:t>
            </a:r>
            <a:r>
              <a:rPr lang="en-US" dirty="0" smtClean="0"/>
              <a:t>)</a:t>
            </a:r>
          </a:p>
          <a:p>
            <a:r>
              <a:rPr lang="en-US" dirty="0"/>
              <a:t>Inspiration by the Holy </a:t>
            </a:r>
            <a:r>
              <a:rPr lang="en-US" dirty="0" smtClean="0"/>
              <a:t>Spirit</a:t>
            </a:r>
          </a:p>
        </p:txBody>
      </p:sp>
    </p:spTree>
    <p:extLst>
      <p:ext uri="{BB962C8B-B14F-4D97-AF65-F5344CB8AC3E}">
        <p14:creationId xmlns:p14="http://schemas.microsoft.com/office/powerpoint/2010/main" val="56959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Need of Canon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Preserve </a:t>
            </a:r>
            <a:r>
              <a:rPr lang="en-IN" b="1" dirty="0"/>
              <a:t>true apostolic </a:t>
            </a:r>
            <a:r>
              <a:rPr lang="en-IN" b="1" dirty="0" smtClean="0"/>
              <a:t>teaching</a:t>
            </a:r>
          </a:p>
          <a:p>
            <a:r>
              <a:rPr lang="en-US" dirty="0"/>
              <a:t>Avoid </a:t>
            </a:r>
            <a:r>
              <a:rPr lang="en-US" b="1" dirty="0"/>
              <a:t>heretical texts</a:t>
            </a:r>
            <a:r>
              <a:rPr lang="en-US" dirty="0"/>
              <a:t> (like Gnostic gospels</a:t>
            </a:r>
            <a:r>
              <a:rPr lang="en-US" dirty="0" smtClean="0"/>
              <a:t>)</a:t>
            </a:r>
          </a:p>
          <a:p>
            <a:r>
              <a:rPr lang="en-IN" dirty="0"/>
              <a:t>Establish unity among </a:t>
            </a:r>
            <a:r>
              <a:rPr lang="en-IN" dirty="0" smtClean="0"/>
              <a:t>churches</a:t>
            </a:r>
          </a:p>
          <a:p>
            <a:r>
              <a:rPr lang="en-US" dirty="0"/>
              <a:t>Respond to </a:t>
            </a:r>
            <a:r>
              <a:rPr lang="en-US" b="1" dirty="0"/>
              <a:t>persecution</a:t>
            </a:r>
            <a:r>
              <a:rPr lang="en-US" dirty="0"/>
              <a:t> and </a:t>
            </a:r>
            <a:r>
              <a:rPr lang="en-US" b="1" dirty="0"/>
              <a:t>false </a:t>
            </a:r>
            <a:r>
              <a:rPr lang="en-US" b="1" dirty="0" smtClean="0"/>
              <a:t>teachers</a:t>
            </a:r>
          </a:p>
        </p:txBody>
      </p:sp>
    </p:spTree>
    <p:extLst>
      <p:ext uri="{BB962C8B-B14F-4D97-AF65-F5344CB8AC3E}">
        <p14:creationId xmlns:p14="http://schemas.microsoft.com/office/powerpoint/2010/main" val="119688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Testament </a:t>
            </a:r>
            <a:r>
              <a:rPr lang="en-US" dirty="0" smtClean="0"/>
              <a:t>Canon Fixation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98064"/>
            <a:ext cx="10048950" cy="505056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1st Century (0–100 AD</a:t>
            </a:r>
            <a:r>
              <a:rPr lang="en-IN" dirty="0" smtClean="0"/>
              <a:t>)</a:t>
            </a:r>
          </a:p>
          <a:p>
            <a:pPr lvl="1"/>
            <a:r>
              <a:rPr lang="en-IN" dirty="0"/>
              <a:t>No formal canon </a:t>
            </a:r>
            <a:r>
              <a:rPr lang="en-IN" dirty="0" smtClean="0"/>
              <a:t>yet</a:t>
            </a:r>
          </a:p>
          <a:p>
            <a:pPr lvl="2"/>
            <a:r>
              <a:rPr lang="en-US" dirty="0"/>
              <a:t>but respected writings were already being treated as Scripture (see 2 Peter 3:15–16 referring to Paul’s letters as "Scripture").</a:t>
            </a:r>
            <a:endParaRPr lang="en-IN" dirty="0" smtClean="0"/>
          </a:p>
          <a:p>
            <a:r>
              <a:rPr lang="en-IN" dirty="0" smtClean="0"/>
              <a:t>2nd Century (100–200 AD)</a:t>
            </a:r>
          </a:p>
          <a:p>
            <a:pPr lvl="1"/>
            <a:r>
              <a:rPr lang="en-US" b="1" dirty="0" err="1"/>
              <a:t>Irenaeus</a:t>
            </a:r>
            <a:r>
              <a:rPr lang="en-US" dirty="0"/>
              <a:t>, </a:t>
            </a:r>
            <a:r>
              <a:rPr lang="en-US" b="1" dirty="0"/>
              <a:t>Justin Martyr</a:t>
            </a:r>
            <a:r>
              <a:rPr lang="en-US" dirty="0"/>
              <a:t>, and </a:t>
            </a:r>
            <a:r>
              <a:rPr lang="en-US" b="1" dirty="0"/>
              <a:t>Tertullian</a:t>
            </a:r>
            <a:r>
              <a:rPr lang="en-US" dirty="0"/>
              <a:t> recognized the authority of the four Gospels and Paul's letters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The </a:t>
            </a:r>
            <a:r>
              <a:rPr lang="en-US" b="1" dirty="0" err="1"/>
              <a:t>Muratorian</a:t>
            </a:r>
            <a:r>
              <a:rPr lang="en-US" b="1" dirty="0"/>
              <a:t> Fragment</a:t>
            </a:r>
            <a:r>
              <a:rPr lang="en-US" dirty="0"/>
              <a:t> (c. 170 AD) gives one of the earliest known lists of accepted NT books — most of our 27 books are there.</a:t>
            </a:r>
            <a:endParaRPr lang="en-IN" dirty="0" smtClean="0"/>
          </a:p>
          <a:p>
            <a:r>
              <a:rPr lang="en-IN" dirty="0" smtClean="0"/>
              <a:t>3rd–4th </a:t>
            </a:r>
            <a:r>
              <a:rPr lang="en-IN" dirty="0"/>
              <a:t>Centuries (200–400 AD</a:t>
            </a:r>
            <a:r>
              <a:rPr lang="en-IN" dirty="0" smtClean="0"/>
              <a:t>)</a:t>
            </a:r>
          </a:p>
          <a:p>
            <a:pPr lvl="1"/>
            <a:r>
              <a:rPr lang="en-US" b="1" dirty="0"/>
              <a:t>The </a:t>
            </a:r>
            <a:r>
              <a:rPr lang="en-US" b="1" dirty="0" err="1"/>
              <a:t>Muratorian</a:t>
            </a:r>
            <a:r>
              <a:rPr lang="en-US" b="1" dirty="0"/>
              <a:t> Fragment</a:t>
            </a:r>
            <a:r>
              <a:rPr lang="en-US" dirty="0"/>
              <a:t> (c. 170 AD) gives one of the earliest known lists of accepted NT books — most of our 27 books are there</a:t>
            </a:r>
            <a:r>
              <a:rPr lang="en-US" dirty="0" smtClean="0"/>
              <a:t>.</a:t>
            </a:r>
          </a:p>
          <a:p>
            <a:pPr lvl="1"/>
            <a:r>
              <a:rPr lang="en-IN" b="1" dirty="0"/>
              <a:t>Church councils</a:t>
            </a:r>
            <a:r>
              <a:rPr lang="en-IN" dirty="0"/>
              <a:t> confirmed </a:t>
            </a:r>
            <a:r>
              <a:rPr lang="en-IN" dirty="0" smtClean="0"/>
              <a:t>this</a:t>
            </a:r>
          </a:p>
          <a:p>
            <a:pPr lvl="2"/>
            <a:r>
              <a:rPr lang="en-US" dirty="0"/>
              <a:t>Council of Hippo (393 AD</a:t>
            </a:r>
            <a:r>
              <a:rPr lang="en-US" dirty="0" smtClean="0"/>
              <a:t>)</a:t>
            </a:r>
          </a:p>
          <a:p>
            <a:pPr lvl="2"/>
            <a:r>
              <a:rPr lang="en-US" dirty="0"/>
              <a:t>Council of Carthage (397 AD &amp; 419 AD</a:t>
            </a:r>
            <a:r>
              <a:rPr lang="en-US" dirty="0" smtClean="0"/>
              <a:t>)</a:t>
            </a:r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850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Apocrypha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</a:t>
            </a:r>
            <a:r>
              <a:rPr lang="en-US" b="1" dirty="0"/>
              <a:t>"Apocrypha"</a:t>
            </a:r>
            <a:r>
              <a:rPr lang="en-US" dirty="0"/>
              <a:t> means "hidden" or "secret</a:t>
            </a:r>
            <a:r>
              <a:rPr lang="en-US" dirty="0" smtClean="0"/>
              <a:t>.“</a:t>
            </a:r>
          </a:p>
          <a:p>
            <a:r>
              <a:rPr lang="en-US" dirty="0"/>
              <a:t>It generally refers to a collection of ancient books or writings that are related to the Bible but are </a:t>
            </a:r>
            <a:r>
              <a:rPr lang="en-US" b="1" dirty="0"/>
              <a:t>not considered part of the official canon</a:t>
            </a:r>
            <a:r>
              <a:rPr lang="en-US" dirty="0"/>
              <a:t> by some religious traditions.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1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Inspiration of Word of God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Inspiration : God’s Breath 2Timothy 3 : 16</a:t>
            </a:r>
          </a:p>
          <a:p>
            <a:r>
              <a:rPr lang="en-US" dirty="0" smtClean="0"/>
              <a:t>Definition</a:t>
            </a:r>
          </a:p>
          <a:p>
            <a:r>
              <a:rPr lang="en-US" dirty="0" smtClean="0"/>
              <a:t>Some Theories</a:t>
            </a:r>
          </a:p>
          <a:p>
            <a:pPr lvl="1"/>
            <a:r>
              <a:rPr lang="en-US" dirty="0" smtClean="0"/>
              <a:t>Natural Theory</a:t>
            </a:r>
          </a:p>
          <a:p>
            <a:pPr lvl="1"/>
            <a:r>
              <a:rPr lang="en-US" dirty="0" smtClean="0"/>
              <a:t>Illumination Theory</a:t>
            </a:r>
          </a:p>
          <a:p>
            <a:pPr lvl="1"/>
            <a:r>
              <a:rPr lang="en-US" dirty="0" smtClean="0"/>
              <a:t>Dictation Theory</a:t>
            </a:r>
          </a:p>
          <a:p>
            <a:pPr lvl="1"/>
            <a:r>
              <a:rPr lang="en-US" dirty="0" smtClean="0"/>
              <a:t>Dynamical Theory</a:t>
            </a:r>
          </a:p>
          <a:p>
            <a:pPr lvl="1"/>
            <a:r>
              <a:rPr lang="en-US" dirty="0" smtClean="0"/>
              <a:t>Concept Theory</a:t>
            </a:r>
          </a:p>
          <a:p>
            <a:pPr lvl="1"/>
            <a:r>
              <a:rPr lang="en-US" dirty="0" err="1" smtClean="0"/>
              <a:t>Pleanary</a:t>
            </a:r>
            <a:r>
              <a:rPr lang="en-US" dirty="0" smtClean="0"/>
              <a:t> Verbal Inspiration Theory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863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942128" cy="1478632"/>
          </a:xfrm>
        </p:spPr>
        <p:txBody>
          <a:bodyPr/>
          <a:lstStyle/>
          <a:p>
            <a:pPr algn="ctr"/>
            <a:r>
              <a:rPr lang="en-IN" dirty="0"/>
              <a:t>Ancient </a:t>
            </a:r>
            <a:r>
              <a:rPr lang="en-IN" dirty="0" smtClean="0"/>
              <a:t>Copies, Translations, Codices and Fragments</a:t>
            </a: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34938" y="2052918"/>
            <a:ext cx="10579694" cy="4195481"/>
          </a:xfrm>
        </p:spPr>
        <p:txBody>
          <a:bodyPr/>
          <a:lstStyle/>
          <a:p>
            <a:r>
              <a:rPr lang="en-US" b="1" dirty="0"/>
              <a:t>Copies (</a:t>
            </a:r>
            <a:r>
              <a:rPr lang="en-US" b="1" dirty="0" err="1"/>
              <a:t>Prathi</a:t>
            </a:r>
            <a:r>
              <a:rPr lang="en-US" b="1" dirty="0"/>
              <a:t>)</a:t>
            </a:r>
            <a:r>
              <a:rPr lang="en-US" dirty="0"/>
              <a:t> 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handwritten manuscript copies in the same language</a:t>
            </a:r>
            <a:r>
              <a:rPr lang="en-US" dirty="0" smtClean="0"/>
              <a:t>.</a:t>
            </a:r>
          </a:p>
          <a:p>
            <a:r>
              <a:rPr lang="en-IN" b="1" dirty="0"/>
              <a:t>Translations (</a:t>
            </a:r>
            <a:r>
              <a:rPr lang="en-IN" b="1" dirty="0" err="1"/>
              <a:t>Paribhasha</a:t>
            </a:r>
            <a:r>
              <a:rPr lang="en-IN" b="1" dirty="0" smtClean="0"/>
              <a:t>)</a:t>
            </a:r>
          </a:p>
          <a:p>
            <a:pPr lvl="1"/>
            <a:r>
              <a:rPr lang="en-IN" dirty="0"/>
              <a:t>rendering into another language</a:t>
            </a:r>
            <a:r>
              <a:rPr lang="en-IN" dirty="0" smtClean="0"/>
              <a:t>.</a:t>
            </a:r>
          </a:p>
          <a:p>
            <a:r>
              <a:rPr lang="en-IN" b="1" dirty="0"/>
              <a:t>Codices</a:t>
            </a:r>
            <a:r>
              <a:rPr lang="en-IN" dirty="0"/>
              <a:t> </a:t>
            </a:r>
            <a:endParaRPr lang="en-IN" dirty="0" smtClean="0"/>
          </a:p>
          <a:p>
            <a:pPr lvl="1"/>
            <a:r>
              <a:rPr lang="en-US" dirty="0"/>
              <a:t>book-form manuscripts (instead of scrolls</a:t>
            </a:r>
            <a:r>
              <a:rPr lang="en-US" dirty="0" smtClean="0"/>
              <a:t>).</a:t>
            </a:r>
          </a:p>
          <a:p>
            <a:r>
              <a:rPr lang="en-US" b="1" dirty="0"/>
              <a:t>Fragment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only </a:t>
            </a:r>
            <a:r>
              <a:rPr lang="en-US" dirty="0"/>
              <a:t>a small surviving part of a </a:t>
            </a:r>
            <a:r>
              <a:rPr lang="en-US" dirty="0" smtClean="0"/>
              <a:t>manuscript</a:t>
            </a:r>
          </a:p>
          <a:p>
            <a:pPr lvl="1"/>
            <a:r>
              <a:rPr lang="en-IN" dirty="0"/>
              <a:t>small manuscript </a:t>
            </a:r>
            <a:r>
              <a:rPr lang="en-IN" dirty="0" smtClean="0"/>
              <a:t>pieces.</a:t>
            </a:r>
          </a:p>
          <a:p>
            <a:pPr lvl="1"/>
            <a:r>
              <a:rPr lang="en-IN" dirty="0"/>
              <a:t>extremely </a:t>
            </a:r>
            <a:r>
              <a:rPr lang="en-IN" dirty="0" smtClean="0"/>
              <a:t>valuable.</a:t>
            </a:r>
            <a:endParaRPr lang="en-US" dirty="0" smtClean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2443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Copies (</a:t>
            </a:r>
            <a:r>
              <a:rPr lang="en-US" b="1" dirty="0" err="1"/>
              <a:t>Prathi</a:t>
            </a:r>
            <a:r>
              <a:rPr lang="en-US" b="1" dirty="0"/>
              <a:t>)</a:t>
            </a: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869" y="1316052"/>
            <a:ext cx="11152262" cy="53325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Handwritten </a:t>
            </a:r>
            <a:r>
              <a:rPr lang="en-US" dirty="0" smtClean="0"/>
              <a:t>copies </a:t>
            </a:r>
            <a:r>
              <a:rPr lang="en-US" dirty="0"/>
              <a:t>of the Bible in the </a:t>
            </a:r>
            <a:r>
              <a:rPr lang="en-US" b="1" dirty="0"/>
              <a:t>original languages</a:t>
            </a:r>
            <a:r>
              <a:rPr lang="en-US" dirty="0"/>
              <a:t> (Hebrew, Aramaic, Greek</a:t>
            </a:r>
            <a:r>
              <a:rPr lang="en-US" dirty="0" smtClean="0"/>
              <a:t>).</a:t>
            </a:r>
          </a:p>
          <a:p>
            <a:r>
              <a:rPr lang="en-IN" dirty="0"/>
              <a:t>Important ancient copies</a:t>
            </a:r>
            <a:r>
              <a:rPr lang="en-IN" dirty="0" smtClean="0"/>
              <a:t>:</a:t>
            </a:r>
          </a:p>
          <a:p>
            <a:pPr lvl="1"/>
            <a:r>
              <a:rPr lang="en-US" b="1" dirty="0"/>
              <a:t>Dead Sea Scrolls</a:t>
            </a:r>
            <a:r>
              <a:rPr lang="en-US" dirty="0"/>
              <a:t> (~250 BC – 100 AD, Hebrew/Aramaic OT copies</a:t>
            </a:r>
            <a:r>
              <a:rPr lang="en-US" dirty="0" smtClean="0"/>
              <a:t>).</a:t>
            </a:r>
          </a:p>
          <a:p>
            <a:pPr lvl="2"/>
            <a:r>
              <a:rPr lang="en-US" dirty="0"/>
              <a:t>Old Testament books (except Esther), plus other Jewish writings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Found in caves near Qumran (1947–1956).</a:t>
            </a:r>
          </a:p>
          <a:p>
            <a:pPr lvl="1"/>
            <a:r>
              <a:rPr lang="en-US" b="1" dirty="0" smtClean="0"/>
              <a:t>Masoretic </a:t>
            </a:r>
            <a:r>
              <a:rPr lang="en-US" b="1" dirty="0"/>
              <a:t>Text</a:t>
            </a:r>
            <a:r>
              <a:rPr lang="en-US" dirty="0"/>
              <a:t> (~7th–10th century AD, Hebrew OT</a:t>
            </a:r>
            <a:r>
              <a:rPr lang="en-US" dirty="0" smtClean="0"/>
              <a:t>).</a:t>
            </a:r>
          </a:p>
          <a:p>
            <a:pPr lvl="2"/>
            <a:r>
              <a:rPr lang="en-US" dirty="0"/>
              <a:t>Standardized Old Testament text used in Judaism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The </a:t>
            </a:r>
            <a:r>
              <a:rPr lang="en-US" b="1" dirty="0" err="1"/>
              <a:t>Masoretes</a:t>
            </a:r>
            <a:r>
              <a:rPr lang="en-US" dirty="0"/>
              <a:t>, Jewish scribes, carefully copied and preserved it.</a:t>
            </a:r>
            <a:endParaRPr lang="en-US" dirty="0" smtClean="0"/>
          </a:p>
          <a:p>
            <a:pPr lvl="1"/>
            <a:r>
              <a:rPr lang="en-US" b="1" dirty="0"/>
              <a:t>Chester Beatty Papyri</a:t>
            </a:r>
            <a:r>
              <a:rPr lang="en-US" dirty="0"/>
              <a:t> (~200 AD, Greek NT fragments</a:t>
            </a:r>
            <a:r>
              <a:rPr lang="en-US" dirty="0" smtClean="0"/>
              <a:t>).</a:t>
            </a:r>
          </a:p>
          <a:p>
            <a:pPr lvl="2"/>
            <a:r>
              <a:rPr lang="en-US" dirty="0"/>
              <a:t>Large portions of the </a:t>
            </a:r>
            <a:r>
              <a:rPr lang="en-US" b="1" dirty="0"/>
              <a:t>New Testament</a:t>
            </a:r>
            <a:r>
              <a:rPr lang="en-US" dirty="0"/>
              <a:t> (Gospels, Acts, Paul’s letters, Revelation</a:t>
            </a:r>
            <a:r>
              <a:rPr lang="en-US" dirty="0" smtClean="0"/>
              <a:t>).</a:t>
            </a:r>
          </a:p>
          <a:p>
            <a:pPr lvl="2"/>
            <a:r>
              <a:rPr lang="en-IN" dirty="0"/>
              <a:t>Found in Egypt, 1930s.</a:t>
            </a:r>
            <a:endParaRPr lang="en-US" dirty="0" smtClean="0"/>
          </a:p>
          <a:p>
            <a:pPr lvl="1"/>
            <a:r>
              <a:rPr lang="en-IN" b="1" dirty="0" err="1"/>
              <a:t>Bodmer</a:t>
            </a:r>
            <a:r>
              <a:rPr lang="en-IN" b="1" dirty="0"/>
              <a:t> Papyri</a:t>
            </a:r>
            <a:r>
              <a:rPr lang="en-IN" dirty="0"/>
              <a:t> (~200 AD, Greek NT fragments</a:t>
            </a:r>
            <a:r>
              <a:rPr lang="en-IN" dirty="0" smtClean="0"/>
              <a:t>).</a:t>
            </a:r>
          </a:p>
          <a:p>
            <a:pPr lvl="2"/>
            <a:r>
              <a:rPr lang="en-US" dirty="0"/>
              <a:t>Gospels (especially John and Luke</a:t>
            </a:r>
            <a:r>
              <a:rPr lang="en-US" dirty="0" smtClean="0"/>
              <a:t>).</a:t>
            </a:r>
          </a:p>
          <a:p>
            <a:pPr lvl="2"/>
            <a:r>
              <a:rPr lang="en-IN" dirty="0"/>
              <a:t>Found in Egypt, 1950s</a:t>
            </a:r>
            <a:r>
              <a:rPr lang="en-IN" dirty="0" smtClean="0"/>
              <a:t>.</a:t>
            </a:r>
            <a:endParaRPr lang="en-US" dirty="0" smtClean="0"/>
          </a:p>
          <a:p>
            <a:pPr lvl="2"/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 in Egypt, 1950s.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60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Translations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64" y="1469878"/>
            <a:ext cx="11058258" cy="491383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Septuagint (LXX)</a:t>
            </a:r>
            <a:r>
              <a:rPr lang="en-IN" sz="2400" dirty="0"/>
              <a:t> – Hebrew OT → Greek (~250 BC</a:t>
            </a:r>
            <a:r>
              <a:rPr lang="en-IN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Vulgate</a:t>
            </a:r>
            <a:r>
              <a:rPr lang="en-US" sz="2400" dirty="0"/>
              <a:t> – Bible → Latin (Jerome, ~400 AD</a:t>
            </a:r>
            <a:r>
              <a:rPr lang="en-US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 err="1"/>
              <a:t>Syriac</a:t>
            </a:r>
            <a:r>
              <a:rPr lang="en-IN" sz="2400" b="1" dirty="0"/>
              <a:t> </a:t>
            </a:r>
            <a:r>
              <a:rPr lang="en-IN" sz="2400" b="1" dirty="0" err="1"/>
              <a:t>Peshitta</a:t>
            </a:r>
            <a:r>
              <a:rPr lang="en-IN" sz="2400" dirty="0"/>
              <a:t> – Bible → </a:t>
            </a:r>
            <a:r>
              <a:rPr lang="en-IN" sz="2400" dirty="0" err="1"/>
              <a:t>Syriac</a:t>
            </a:r>
            <a:r>
              <a:rPr lang="en-IN" sz="2400" dirty="0"/>
              <a:t>/Aramaic (~400 AD</a:t>
            </a:r>
            <a:r>
              <a:rPr lang="en-IN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Gothic Bible</a:t>
            </a:r>
            <a:r>
              <a:rPr lang="en-US" sz="2400" dirty="0"/>
              <a:t> – Bible → Gothic (</a:t>
            </a:r>
            <a:r>
              <a:rPr lang="en-US" sz="2400" dirty="0" err="1"/>
              <a:t>Ulfilas</a:t>
            </a:r>
            <a:r>
              <a:rPr lang="en-US" sz="2400" dirty="0"/>
              <a:t>, 4th century</a:t>
            </a:r>
            <a:r>
              <a:rPr lang="en-US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Coptic Versions</a:t>
            </a:r>
            <a:r>
              <a:rPr lang="en-US" sz="2400" dirty="0"/>
              <a:t> – </a:t>
            </a:r>
            <a:r>
              <a:rPr lang="en-US" sz="2400" dirty="0" smtClean="0"/>
              <a:t>Bible </a:t>
            </a:r>
            <a:r>
              <a:rPr lang="en-US" sz="2400" dirty="0"/>
              <a:t>→ Egyptian dialects </a:t>
            </a:r>
            <a:r>
              <a:rPr lang="en-US" sz="2400" dirty="0" smtClean="0"/>
              <a:t>(2nd </a:t>
            </a:r>
            <a:r>
              <a:rPr lang="en-US" sz="2400" dirty="0"/>
              <a:t>century</a:t>
            </a:r>
            <a:r>
              <a:rPr lang="en-US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Armenian Bible</a:t>
            </a:r>
            <a:r>
              <a:rPr lang="en-IN" sz="2400" dirty="0"/>
              <a:t> (~400 AD</a:t>
            </a:r>
            <a:r>
              <a:rPr lang="en-IN" sz="2400" dirty="0" smtClean="0"/>
              <a:t>)</a:t>
            </a:r>
            <a:r>
              <a:rPr lang="en-US" sz="2400" dirty="0"/>
              <a:t> → </a:t>
            </a:r>
            <a:r>
              <a:rPr lang="en-US" sz="2400" dirty="0" smtClean="0"/>
              <a:t>Known </a:t>
            </a:r>
            <a:r>
              <a:rPr lang="en-US" sz="2400" dirty="0"/>
              <a:t>as the </a:t>
            </a:r>
            <a:r>
              <a:rPr lang="en-US" sz="2400" b="1" dirty="0"/>
              <a:t>Queen of Versions</a:t>
            </a:r>
            <a:r>
              <a:rPr lang="en-IN" sz="2400" dirty="0" smtClean="0"/>
              <a:t>.</a:t>
            </a:r>
            <a:endParaRPr lang="en-IN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N" sz="2400" b="1" dirty="0" smtClean="0"/>
              <a:t>Ethiopic </a:t>
            </a:r>
            <a:r>
              <a:rPr lang="en-IN" sz="2400" b="1" dirty="0"/>
              <a:t>Bible</a:t>
            </a:r>
            <a:r>
              <a:rPr lang="en-IN" sz="2400" dirty="0"/>
              <a:t> (~400 AD</a:t>
            </a:r>
            <a:r>
              <a:rPr lang="en-IN" sz="2400" dirty="0" smtClean="0"/>
              <a:t>)</a:t>
            </a:r>
            <a:r>
              <a:rPr lang="en-IN" sz="2400" dirty="0"/>
              <a:t> </a:t>
            </a:r>
            <a:r>
              <a:rPr lang="en-US" sz="2400" dirty="0"/>
              <a:t>→ </a:t>
            </a:r>
            <a:r>
              <a:rPr lang="en-IN" sz="2400" dirty="0" smtClean="0"/>
              <a:t>translated </a:t>
            </a:r>
            <a:r>
              <a:rPr lang="en-IN" sz="2400" dirty="0"/>
              <a:t>into </a:t>
            </a:r>
            <a:r>
              <a:rPr lang="en-IN" sz="2400" b="1" dirty="0" err="1"/>
              <a:t>Geʽez</a:t>
            </a:r>
            <a:r>
              <a:rPr lang="en-IN" sz="2400" dirty="0" smtClean="0"/>
              <a:t>.</a:t>
            </a:r>
            <a:endParaRPr lang="en-IN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N" sz="2400" b="1" dirty="0" smtClean="0"/>
              <a:t>Georgian </a:t>
            </a:r>
            <a:r>
              <a:rPr lang="en-IN" sz="2400" b="1" dirty="0"/>
              <a:t>Bible</a:t>
            </a:r>
            <a:r>
              <a:rPr lang="en-IN" sz="2400" dirty="0"/>
              <a:t> (~500 AD</a:t>
            </a:r>
            <a:r>
              <a:rPr lang="en-IN" sz="2400" dirty="0" smtClean="0"/>
              <a:t>)</a:t>
            </a:r>
            <a:r>
              <a:rPr lang="en-US" sz="2400" dirty="0"/>
              <a:t> →</a:t>
            </a:r>
            <a:r>
              <a:rPr lang="en-US" sz="2400" b="1" dirty="0" smtClean="0"/>
              <a:t> </a:t>
            </a:r>
            <a:r>
              <a:rPr lang="en-US" sz="2400" dirty="0"/>
              <a:t>translation of the Bible into </a:t>
            </a:r>
            <a:r>
              <a:rPr lang="en-US" sz="2400" b="1" dirty="0"/>
              <a:t>Old Georgian</a:t>
            </a:r>
            <a:r>
              <a:rPr lang="en-US" sz="2400" dirty="0"/>
              <a:t>.</a:t>
            </a:r>
            <a:endParaRPr lang="en-IN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Later</a:t>
            </a:r>
            <a:r>
              <a:rPr lang="en-US" sz="2400" dirty="0"/>
              <a:t>: </a:t>
            </a:r>
            <a:r>
              <a:rPr lang="en-US" sz="2400" b="1" dirty="0"/>
              <a:t>English</a:t>
            </a:r>
            <a:r>
              <a:rPr lang="en-US" sz="2400" dirty="0"/>
              <a:t> (Wycliffe, </a:t>
            </a:r>
            <a:r>
              <a:rPr lang="en-US" sz="2400" dirty="0" smtClean="0"/>
              <a:t>Tyndale</a:t>
            </a:r>
            <a:r>
              <a:rPr lang="en-US" sz="2400" dirty="0"/>
              <a:t>, KJV, NIV, etc.), </a:t>
            </a:r>
            <a:r>
              <a:rPr lang="en-US" sz="2400" b="1" dirty="0"/>
              <a:t>Malayalam</a:t>
            </a:r>
            <a:r>
              <a:rPr lang="en-US" sz="2400" dirty="0"/>
              <a:t>, and thousands more.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2985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Codices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14" y="1853248"/>
            <a:ext cx="10947163" cy="4395151"/>
          </a:xfrm>
        </p:spPr>
        <p:txBody>
          <a:bodyPr>
            <a:normAutofit/>
          </a:bodyPr>
          <a:lstStyle/>
          <a:p>
            <a:r>
              <a:rPr lang="en-US" b="1" dirty="0"/>
              <a:t>Codex </a:t>
            </a:r>
            <a:r>
              <a:rPr lang="en-US" b="1" dirty="0" err="1"/>
              <a:t>Vaticanus</a:t>
            </a:r>
            <a:r>
              <a:rPr lang="en-US" b="1" dirty="0"/>
              <a:t> (B)</a:t>
            </a:r>
            <a:r>
              <a:rPr lang="en-US" dirty="0"/>
              <a:t> – c. 300–325 AD – Greek OT + NT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Sinaiticus</a:t>
            </a:r>
            <a:r>
              <a:rPr lang="en-US" b="1" dirty="0"/>
              <a:t> (ℵ)</a:t>
            </a:r>
            <a:r>
              <a:rPr lang="en-US" dirty="0"/>
              <a:t> – c. 330–360 AD – Complete NT + most OT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Alexandrinus</a:t>
            </a:r>
            <a:r>
              <a:rPr lang="en-US" b="1" dirty="0"/>
              <a:t> (A)</a:t>
            </a:r>
            <a:r>
              <a:rPr lang="en-US" dirty="0"/>
              <a:t> – c. 400–440 AD – Most OT + NT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Bezae</a:t>
            </a:r>
            <a:r>
              <a:rPr lang="en-US" b="1" dirty="0"/>
              <a:t> (D)</a:t>
            </a:r>
            <a:r>
              <a:rPr lang="en-US" dirty="0"/>
              <a:t> – 5th century – Greek/Latin – Gospels + Acts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Ephraemi</a:t>
            </a:r>
            <a:r>
              <a:rPr lang="en-US" b="1" dirty="0"/>
              <a:t> </a:t>
            </a:r>
            <a:r>
              <a:rPr lang="en-US" b="1" dirty="0" err="1"/>
              <a:t>Rescriptus</a:t>
            </a:r>
            <a:r>
              <a:rPr lang="en-US" b="1" dirty="0"/>
              <a:t> (C)</a:t>
            </a:r>
            <a:r>
              <a:rPr lang="en-US" dirty="0"/>
              <a:t> – 5th century – Palimpsest, parts OT + NT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Claromontanus</a:t>
            </a:r>
            <a:r>
              <a:rPr lang="en-US" dirty="0"/>
              <a:t> – 6th century – Greek/Latin – Paul’s letters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Rossanensis</a:t>
            </a:r>
            <a:r>
              <a:rPr lang="en-US" b="1" dirty="0"/>
              <a:t> &amp; </a:t>
            </a:r>
            <a:r>
              <a:rPr lang="en-US" b="1" dirty="0" err="1"/>
              <a:t>Petropolitanus</a:t>
            </a:r>
            <a:r>
              <a:rPr lang="en-US" dirty="0"/>
              <a:t> – 6th century – Purple Gospels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Laudianus</a:t>
            </a:r>
            <a:r>
              <a:rPr lang="en-US" dirty="0"/>
              <a:t> – 6th century – Acts, Greek/Latin</a:t>
            </a:r>
            <a:r>
              <a:rPr lang="en-US" dirty="0" smtClean="0"/>
              <a:t>.</a:t>
            </a:r>
          </a:p>
          <a:p>
            <a:r>
              <a:rPr lang="en-IN" b="1" dirty="0"/>
              <a:t>Codex </a:t>
            </a:r>
            <a:r>
              <a:rPr lang="en-IN" b="1" dirty="0" err="1"/>
              <a:t>Basilensis</a:t>
            </a:r>
            <a:r>
              <a:rPr lang="en-IN" b="1" dirty="0"/>
              <a:t>, </a:t>
            </a:r>
            <a:r>
              <a:rPr lang="en-IN" b="1" dirty="0" err="1"/>
              <a:t>Regius</a:t>
            </a:r>
            <a:r>
              <a:rPr lang="en-IN" b="1" dirty="0"/>
              <a:t>, </a:t>
            </a:r>
            <a:r>
              <a:rPr lang="en-IN" b="1" dirty="0" err="1"/>
              <a:t>Koridethi</a:t>
            </a:r>
            <a:r>
              <a:rPr lang="en-IN" b="1" dirty="0"/>
              <a:t>, </a:t>
            </a:r>
            <a:r>
              <a:rPr lang="en-IN" b="1" dirty="0" err="1"/>
              <a:t>Boernerianus</a:t>
            </a:r>
            <a:r>
              <a:rPr lang="en-IN" b="1" dirty="0"/>
              <a:t>, </a:t>
            </a:r>
            <a:r>
              <a:rPr lang="en-IN" b="1" dirty="0" err="1"/>
              <a:t>Sangallensis</a:t>
            </a:r>
            <a:r>
              <a:rPr lang="en-IN" dirty="0"/>
              <a:t> – 8th–9th century.</a:t>
            </a:r>
          </a:p>
        </p:txBody>
      </p:sp>
    </p:spTree>
    <p:extLst>
      <p:ext uri="{BB962C8B-B14F-4D97-AF65-F5344CB8AC3E}">
        <p14:creationId xmlns:p14="http://schemas.microsoft.com/office/powerpoint/2010/main" val="220623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Fragments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17786"/>
            <a:ext cx="8946541" cy="4630614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 smtClean="0"/>
              <a:t> </a:t>
            </a:r>
            <a:r>
              <a:rPr lang="en-IN" b="1" dirty="0"/>
              <a:t>Dead Sea Scroll Fragments (~250 BC – 100 AD)</a:t>
            </a:r>
          </a:p>
          <a:p>
            <a:pPr lvl="1"/>
            <a:r>
              <a:rPr lang="en-IN" dirty="0"/>
              <a:t>Many scrolls survived only as </a:t>
            </a:r>
            <a:r>
              <a:rPr lang="en-IN" b="1" dirty="0"/>
              <a:t>fragments</a:t>
            </a:r>
            <a:r>
              <a:rPr lang="en-IN" dirty="0"/>
              <a:t>, like pieces of Isaiah, Psalms, Deuteronomy.</a:t>
            </a:r>
          </a:p>
          <a:p>
            <a:pPr lvl="1"/>
            <a:r>
              <a:rPr lang="en-IN" dirty="0"/>
              <a:t>Together they confirm the reliability of the Hebrew Old Testament.</a:t>
            </a:r>
          </a:p>
          <a:p>
            <a:r>
              <a:rPr lang="en-IN" b="1" dirty="0" err="1" smtClean="0"/>
              <a:t>Rylands</a:t>
            </a:r>
            <a:r>
              <a:rPr lang="en-IN" b="1" dirty="0" smtClean="0"/>
              <a:t> </a:t>
            </a:r>
            <a:r>
              <a:rPr lang="en-IN" b="1" dirty="0"/>
              <a:t>Papyrus (P52, ~125 AD)</a:t>
            </a:r>
          </a:p>
          <a:p>
            <a:pPr lvl="1"/>
            <a:r>
              <a:rPr lang="en-IN" dirty="0"/>
              <a:t>Tiny fragment of the </a:t>
            </a:r>
            <a:r>
              <a:rPr lang="en-IN" b="1" dirty="0"/>
              <a:t>Gospel of John (John 18:31–33, 37–38)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Oldest known </a:t>
            </a:r>
            <a:r>
              <a:rPr lang="en-IN" b="1" dirty="0"/>
              <a:t>New Testament fragment</a:t>
            </a:r>
            <a:r>
              <a:rPr lang="en-IN" dirty="0"/>
              <a:t>.</a:t>
            </a:r>
          </a:p>
          <a:p>
            <a:r>
              <a:rPr lang="en-IN" b="1" dirty="0" smtClean="0"/>
              <a:t>Chester </a:t>
            </a:r>
            <a:r>
              <a:rPr lang="en-IN" b="1" dirty="0"/>
              <a:t>Beatty Papyri (~200 AD)</a:t>
            </a:r>
          </a:p>
          <a:p>
            <a:pPr lvl="1"/>
            <a:r>
              <a:rPr lang="en-IN" dirty="0"/>
              <a:t>Large but still fragmentary collections (parts of Gospels, Acts, Paul’s letters, Revelation).</a:t>
            </a:r>
          </a:p>
          <a:p>
            <a:r>
              <a:rPr lang="en-IN" b="1" dirty="0" err="1" smtClean="0"/>
              <a:t>Bodmer</a:t>
            </a:r>
            <a:r>
              <a:rPr lang="en-IN" b="1" dirty="0" smtClean="0"/>
              <a:t> Papyri </a:t>
            </a:r>
            <a:r>
              <a:rPr lang="en-IN" b="1" dirty="0"/>
              <a:t>(~200 AD)</a:t>
            </a:r>
          </a:p>
          <a:p>
            <a:pPr lvl="1"/>
            <a:r>
              <a:rPr lang="en-IN" dirty="0"/>
              <a:t>Early fragments of John, Luke, and other NT writings.</a:t>
            </a:r>
          </a:p>
          <a:p>
            <a:r>
              <a:rPr lang="en-IN" b="1" dirty="0" err="1" smtClean="0"/>
              <a:t>Oxyrhynchus</a:t>
            </a:r>
            <a:r>
              <a:rPr lang="en-IN" b="1" dirty="0" smtClean="0"/>
              <a:t> </a:t>
            </a:r>
            <a:r>
              <a:rPr lang="en-IN" b="1" dirty="0"/>
              <a:t>Papyri (1st–6th centuries AD)</a:t>
            </a:r>
          </a:p>
          <a:p>
            <a:pPr lvl="1"/>
            <a:r>
              <a:rPr lang="en-IN" dirty="0"/>
              <a:t>Thousands of papyrus fragments found in Egypt, including NT and OT passages.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02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Biblical </a:t>
            </a:r>
            <a:r>
              <a:rPr lang="en-IN" dirty="0" err="1"/>
              <a:t>Sigla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word </a:t>
            </a:r>
            <a:r>
              <a:rPr lang="en-US" b="1" dirty="0" err="1"/>
              <a:t>siglum</a:t>
            </a:r>
            <a:r>
              <a:rPr lang="en-US" dirty="0"/>
              <a:t> (plural: </a:t>
            </a:r>
            <a:r>
              <a:rPr lang="en-US" i="1" dirty="0" err="1"/>
              <a:t>sigla</a:t>
            </a:r>
            <a:r>
              <a:rPr lang="en-US" dirty="0"/>
              <a:t>) comes from Latin, meaning </a:t>
            </a:r>
            <a:r>
              <a:rPr lang="en-US" b="1" dirty="0"/>
              <a:t>“sign” or “abbreviation</a:t>
            </a:r>
            <a:r>
              <a:rPr lang="en-US" b="1" dirty="0" smtClean="0"/>
              <a:t>.”</a:t>
            </a:r>
          </a:p>
          <a:p>
            <a:r>
              <a:rPr lang="en-US" dirty="0"/>
              <a:t>In </a:t>
            </a:r>
            <a:r>
              <a:rPr lang="en-US" b="1" dirty="0"/>
              <a:t>textual criticism</a:t>
            </a:r>
            <a:r>
              <a:rPr lang="en-US" dirty="0"/>
              <a:t> (the study of manuscripts), a </a:t>
            </a:r>
            <a:r>
              <a:rPr lang="en-US" b="1" dirty="0" err="1"/>
              <a:t>siglum</a:t>
            </a:r>
            <a:r>
              <a:rPr lang="en-US" dirty="0"/>
              <a:t> is a </a:t>
            </a:r>
            <a:r>
              <a:rPr lang="en-US" b="1" dirty="0"/>
              <a:t>short symbol, letter, or character</a:t>
            </a:r>
            <a:r>
              <a:rPr lang="en-US" dirty="0"/>
              <a:t> used to identify a specific manuscript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lvl="1"/>
            <a:r>
              <a:rPr lang="en-US" b="1" dirty="0">
                <a:latin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Vaticanus</a:t>
            </a:r>
            <a:r>
              <a:rPr lang="en-US" dirty="0">
                <a:latin typeface="Arial" panose="020B0604020202020204" pitchFamily="34" charset="0"/>
              </a:rPr>
              <a:t> (c. 325 AD, Greek Bible, Vatican Library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ℵ (Aleph)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Sinaiticus</a:t>
            </a:r>
            <a:r>
              <a:rPr lang="en-US" dirty="0">
                <a:latin typeface="Arial" panose="020B0604020202020204" pitchFamily="34" charset="0"/>
              </a:rPr>
              <a:t> (c. 330–360 AD, Greek Bible, British Library + other places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Alexandrinus</a:t>
            </a:r>
            <a:r>
              <a:rPr lang="en-US" dirty="0">
                <a:latin typeface="Arial" panose="020B0604020202020204" pitchFamily="34" charset="0"/>
              </a:rPr>
              <a:t> (c. 400–440 AD, Greek Bible, British Library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C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Ephraemi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Rescriptus</a:t>
            </a:r>
            <a:r>
              <a:rPr lang="en-US" dirty="0">
                <a:latin typeface="Arial" panose="020B0604020202020204" pitchFamily="34" charset="0"/>
              </a:rPr>
              <a:t> (5th century, palimpsest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D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Bezae</a:t>
            </a:r>
            <a:r>
              <a:rPr lang="en-US" dirty="0">
                <a:latin typeface="Arial" panose="020B0604020202020204" pitchFamily="34" charset="0"/>
              </a:rPr>
              <a:t> (5th century, Gospels/Acts, bilingual Greek/Latin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Θ (Theta)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Koridethi</a:t>
            </a:r>
            <a:r>
              <a:rPr lang="en-US" dirty="0">
                <a:latin typeface="Arial" panose="020B0604020202020204" pitchFamily="34" charset="0"/>
              </a:rPr>
              <a:t> (9th century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Δ (Delta)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Sangallensis</a:t>
            </a:r>
            <a:r>
              <a:rPr lang="en-US" dirty="0">
                <a:latin typeface="Arial" panose="020B0604020202020204" pitchFamily="34" charset="0"/>
              </a:rPr>
              <a:t> (9th century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pPr lvl="0"/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pPr lvl="0"/>
            <a:endParaRPr lang="en-US" dirty="0">
              <a:latin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</a:endParaRP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033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788162" cy="5725891"/>
          </a:xfrm>
        </p:spPr>
        <p:txBody>
          <a:bodyPr anchor="ctr"/>
          <a:lstStyle/>
          <a:p>
            <a:pPr algn="ctr"/>
            <a:r>
              <a:rPr lang="en-US" sz="8800" b="1" dirty="0" smtClean="0"/>
              <a:t>Malayalam Bible History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309257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531930" cy="1400530"/>
          </a:xfrm>
        </p:spPr>
        <p:txBody>
          <a:bodyPr/>
          <a:lstStyle/>
          <a:p>
            <a:pPr algn="ctr"/>
            <a:r>
              <a:rPr lang="en-US" sz="4400" b="1" dirty="0"/>
              <a:t>1. Early Roots (Pre-18th Century)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142925"/>
          </a:xfrm>
        </p:spPr>
        <p:txBody>
          <a:bodyPr/>
          <a:lstStyle/>
          <a:p>
            <a:r>
              <a:rPr lang="en-US" dirty="0" smtClean="0"/>
              <a:t>Christianity </a:t>
            </a:r>
            <a:r>
              <a:rPr lang="en-US" dirty="0"/>
              <a:t>in Kerala traces back to </a:t>
            </a:r>
            <a:r>
              <a:rPr lang="en-US" b="1" dirty="0"/>
              <a:t>St. Thomas the Apostle (52 AD)</a:t>
            </a:r>
            <a:r>
              <a:rPr lang="en-US" dirty="0"/>
              <a:t>.</a:t>
            </a:r>
          </a:p>
          <a:p>
            <a:r>
              <a:rPr lang="en-US" dirty="0"/>
              <a:t>For centuries, the Scriptures used were in </a:t>
            </a:r>
            <a:r>
              <a:rPr lang="en-US" b="1" dirty="0" err="1"/>
              <a:t>Syriac</a:t>
            </a:r>
            <a:r>
              <a:rPr lang="en-US" b="1" dirty="0"/>
              <a:t> (</a:t>
            </a:r>
            <a:r>
              <a:rPr lang="en-US" b="1" dirty="0" err="1"/>
              <a:t>Peshitta</a:t>
            </a:r>
            <a:r>
              <a:rPr lang="en-US" b="1" dirty="0"/>
              <a:t> Bible)</a:t>
            </a:r>
            <a:r>
              <a:rPr lang="en-US" dirty="0"/>
              <a:t>, not Malayalam.</a:t>
            </a:r>
          </a:p>
          <a:p>
            <a:r>
              <a:rPr lang="en-US" dirty="0"/>
              <a:t>Liturgy and Bible reading in Syrian Churches remained in </a:t>
            </a:r>
            <a:r>
              <a:rPr lang="en-US" dirty="0" err="1"/>
              <a:t>Syriac</a:t>
            </a:r>
            <a:r>
              <a:rPr lang="en-US" dirty="0"/>
              <a:t> until translations began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214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2. First Attempts (1700s)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Johann </a:t>
            </a:r>
            <a:r>
              <a:rPr lang="en-US" b="1" dirty="0"/>
              <a:t>Ernst </a:t>
            </a:r>
            <a:r>
              <a:rPr lang="en-US" b="1" dirty="0" err="1"/>
              <a:t>Gründler</a:t>
            </a:r>
            <a:r>
              <a:rPr lang="en-US" b="1" dirty="0"/>
              <a:t> (1714)</a:t>
            </a:r>
            <a:r>
              <a:rPr lang="en-US" dirty="0"/>
              <a:t> – Lutheran missionary at </a:t>
            </a:r>
            <a:r>
              <a:rPr lang="en-US" dirty="0" err="1"/>
              <a:t>Tranquebar</a:t>
            </a:r>
            <a:r>
              <a:rPr lang="en-US" dirty="0"/>
              <a:t> Mission tried translating the Bible into Malayalam but used </a:t>
            </a:r>
            <a:r>
              <a:rPr lang="en-US" b="1" dirty="0"/>
              <a:t>Tamil script</a:t>
            </a:r>
            <a:r>
              <a:rPr lang="en-US" dirty="0"/>
              <a:t>.</a:t>
            </a:r>
          </a:p>
          <a:p>
            <a:r>
              <a:rPr lang="en-US" b="1" dirty="0"/>
              <a:t>Benjamin </a:t>
            </a:r>
            <a:r>
              <a:rPr lang="en-US" b="1" dirty="0" err="1"/>
              <a:t>Schultze</a:t>
            </a:r>
            <a:r>
              <a:rPr lang="en-US" b="1" dirty="0"/>
              <a:t> (1723)</a:t>
            </a:r>
            <a:r>
              <a:rPr lang="en-US" dirty="0"/>
              <a:t> – another Lutheran missionary translated and printed the </a:t>
            </a:r>
            <a:r>
              <a:rPr lang="en-US" b="1" dirty="0"/>
              <a:t>New Testament in Malayalam</a:t>
            </a:r>
            <a:r>
              <a:rPr lang="en-US" dirty="0"/>
              <a:t> (first printed portions), though it was not widely distributed in Kerala.</a:t>
            </a:r>
          </a:p>
          <a:p>
            <a:r>
              <a:rPr lang="en-US" b="1" dirty="0"/>
              <a:t>Clement Joseph (Armenian merchant, 1772)</a:t>
            </a:r>
            <a:r>
              <a:rPr lang="en-US" dirty="0"/>
              <a:t> – encouraged Bible distribution in Kerala.</a:t>
            </a:r>
          </a:p>
        </p:txBody>
      </p:sp>
    </p:spTree>
    <p:extLst>
      <p:ext uri="{BB962C8B-B14F-4D97-AF65-F5344CB8AC3E}">
        <p14:creationId xmlns:p14="http://schemas.microsoft.com/office/powerpoint/2010/main" val="271963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796850" cy="1400530"/>
          </a:xfrm>
        </p:spPr>
        <p:txBody>
          <a:bodyPr/>
          <a:lstStyle/>
          <a:p>
            <a:pPr algn="ctr"/>
            <a:r>
              <a:rPr lang="en-IN" b="1" dirty="0"/>
              <a:t>3. Arrival of CMS Missionaries </a:t>
            </a: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(</a:t>
            </a:r>
            <a:r>
              <a:rPr lang="en-IN" b="1" dirty="0"/>
              <a:t>Early 1800s)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1806</a:t>
            </a:r>
            <a:r>
              <a:rPr lang="en-IN" dirty="0" smtClean="0"/>
              <a:t> </a:t>
            </a:r>
            <a:r>
              <a:rPr lang="en-IN" dirty="0"/>
              <a:t>– Rev. Claudius Buchanan (Scottish missionary) visited Kerala and promoted Bible translation in Malayalam.</a:t>
            </a:r>
          </a:p>
          <a:p>
            <a:r>
              <a:rPr lang="en-IN" b="1" dirty="0"/>
              <a:t>1813</a:t>
            </a:r>
            <a:r>
              <a:rPr lang="en-IN" dirty="0"/>
              <a:t> – Church Missionary Society (CMS) began work in Kerala, based at </a:t>
            </a:r>
            <a:r>
              <a:rPr lang="en-IN" b="1" dirty="0" err="1"/>
              <a:t>Kottayam</a:t>
            </a:r>
            <a:r>
              <a:rPr lang="en-IN" dirty="0"/>
              <a:t>.</a:t>
            </a:r>
          </a:p>
          <a:p>
            <a:r>
              <a:rPr lang="en-IN" b="1" dirty="0"/>
              <a:t>1811</a:t>
            </a:r>
            <a:r>
              <a:rPr lang="en-IN" dirty="0"/>
              <a:t> – </a:t>
            </a:r>
            <a:r>
              <a:rPr lang="en-IN" b="1" dirty="0"/>
              <a:t>Rev. Benjamin Bailey</a:t>
            </a:r>
            <a:r>
              <a:rPr lang="en-IN" dirty="0"/>
              <a:t> arrived in Kerala, later known as </a:t>
            </a:r>
            <a:r>
              <a:rPr lang="en-IN" i="1" dirty="0"/>
              <a:t>“the father of the Malayalam Bible.”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07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4. Milestones in Translation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693995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 smtClean="0"/>
              <a:t> </a:t>
            </a:r>
            <a:r>
              <a:rPr lang="en-IN" b="1" dirty="0"/>
              <a:t>New Testament</a:t>
            </a:r>
          </a:p>
          <a:p>
            <a:pPr lvl="1"/>
            <a:r>
              <a:rPr lang="en-IN" b="1" dirty="0"/>
              <a:t>1829</a:t>
            </a:r>
            <a:r>
              <a:rPr lang="en-IN" dirty="0"/>
              <a:t> – Rev. Benjamin Bailey completed the </a:t>
            </a:r>
            <a:r>
              <a:rPr lang="en-IN" b="1" dirty="0"/>
              <a:t>first printed Malayalam New Testament</a:t>
            </a:r>
            <a:r>
              <a:rPr lang="en-IN" dirty="0"/>
              <a:t>.</a:t>
            </a:r>
          </a:p>
          <a:p>
            <a:r>
              <a:rPr lang="en-IN" b="1" dirty="0" smtClean="0"/>
              <a:t> </a:t>
            </a:r>
            <a:r>
              <a:rPr lang="en-IN" b="1" dirty="0"/>
              <a:t>Complete Bible</a:t>
            </a:r>
          </a:p>
          <a:p>
            <a:pPr lvl="1"/>
            <a:r>
              <a:rPr lang="en-IN" b="1" dirty="0"/>
              <a:t>1841</a:t>
            </a:r>
            <a:r>
              <a:rPr lang="en-IN" dirty="0"/>
              <a:t> – Rev. Benjamin Bailey + his team (CMS missionaries and local scholars) completed the </a:t>
            </a:r>
            <a:r>
              <a:rPr lang="en-IN" b="1" dirty="0"/>
              <a:t>first full Malayalam Bible (OT + NT)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Printed at the </a:t>
            </a:r>
            <a:r>
              <a:rPr lang="en-IN" b="1" dirty="0"/>
              <a:t>CMS Press, </a:t>
            </a:r>
            <a:r>
              <a:rPr lang="en-IN" b="1" dirty="0" err="1"/>
              <a:t>Kottayam</a:t>
            </a:r>
            <a:r>
              <a:rPr lang="en-IN" b="1" dirty="0"/>
              <a:t> (est. 1821 by Bailey)</a:t>
            </a:r>
            <a:r>
              <a:rPr lang="en-IN" dirty="0"/>
              <a:t> – the </a:t>
            </a:r>
            <a:r>
              <a:rPr lang="en-IN" b="1" dirty="0"/>
              <a:t>first Malayalam printing press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94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5. Revisions &amp; Improvements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1870s</a:t>
            </a:r>
            <a:r>
              <a:rPr lang="en-US" b="1" dirty="0"/>
              <a:t>:</a:t>
            </a:r>
            <a:r>
              <a:rPr lang="en-US" dirty="0"/>
              <a:t> The translation needed revision because Malayalam language had evolved.</a:t>
            </a:r>
          </a:p>
          <a:p>
            <a:r>
              <a:rPr lang="en-US" b="1" dirty="0"/>
              <a:t>1872:</a:t>
            </a:r>
            <a:r>
              <a:rPr lang="en-US" dirty="0"/>
              <a:t> Rev. Richard Collins led a revision committee.</a:t>
            </a:r>
          </a:p>
          <a:p>
            <a:r>
              <a:rPr lang="en-US" b="1" dirty="0"/>
              <a:t>1910:</a:t>
            </a:r>
            <a:r>
              <a:rPr lang="en-US" dirty="0"/>
              <a:t> Publication of the </a:t>
            </a:r>
            <a:r>
              <a:rPr lang="en-US" b="1" dirty="0"/>
              <a:t>Malayalam Revised Version</a:t>
            </a:r>
            <a:r>
              <a:rPr lang="en-US" dirty="0"/>
              <a:t> (based on the English Revised Version).</a:t>
            </a:r>
          </a:p>
          <a:p>
            <a:pPr lvl="1"/>
            <a:r>
              <a:rPr lang="en-US" dirty="0"/>
              <a:t>More faithful to Hebrew &amp; Greek texts.</a:t>
            </a:r>
          </a:p>
          <a:p>
            <a:pPr lvl="1"/>
            <a:r>
              <a:rPr lang="en-US" dirty="0"/>
              <a:t>Became the </a:t>
            </a:r>
            <a:r>
              <a:rPr lang="en-US" b="1" dirty="0"/>
              <a:t>standard Bible</a:t>
            </a:r>
            <a:r>
              <a:rPr lang="en-US" dirty="0"/>
              <a:t> for Malayalam Protestants.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73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6. Catholic Malayalam Bible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Pallikkunnu</a:t>
            </a:r>
            <a:r>
              <a:rPr lang="en-US" b="1" dirty="0" smtClean="0"/>
              <a:t> </a:t>
            </a:r>
            <a:r>
              <a:rPr lang="en-US" b="1" dirty="0" err="1"/>
              <a:t>Paulose</a:t>
            </a:r>
            <a:r>
              <a:rPr lang="en-US" b="1" dirty="0"/>
              <a:t> </a:t>
            </a:r>
            <a:r>
              <a:rPr lang="en-US" b="1" dirty="0" err="1"/>
              <a:t>Malpan</a:t>
            </a:r>
            <a:r>
              <a:rPr lang="en-US" b="1" dirty="0"/>
              <a:t> (19th century)</a:t>
            </a:r>
            <a:r>
              <a:rPr lang="en-US" dirty="0"/>
              <a:t> – translated New Testament for </a:t>
            </a:r>
            <a:r>
              <a:rPr lang="en-US" dirty="0" err="1"/>
              <a:t>Syro</a:t>
            </a:r>
            <a:r>
              <a:rPr lang="en-US" dirty="0"/>
              <a:t>-Malabar Catholics.</a:t>
            </a:r>
          </a:p>
          <a:p>
            <a:r>
              <a:rPr lang="en-US" b="1" dirty="0"/>
              <a:t>1968:</a:t>
            </a:r>
            <a:r>
              <a:rPr lang="en-US" dirty="0"/>
              <a:t> The first </a:t>
            </a:r>
            <a:r>
              <a:rPr lang="en-US" b="1" dirty="0"/>
              <a:t>Catholic Malayalam Bible</a:t>
            </a:r>
            <a:r>
              <a:rPr lang="en-US" dirty="0"/>
              <a:t> (official version approved by the Catholic Church) was published.</a:t>
            </a:r>
          </a:p>
          <a:p>
            <a:r>
              <a:rPr lang="en-US" dirty="0"/>
              <a:t>Based on the </a:t>
            </a:r>
            <a:r>
              <a:rPr lang="en-US" b="1" dirty="0"/>
              <a:t>Latin Vulgate</a:t>
            </a:r>
            <a:r>
              <a:rPr lang="en-US" dirty="0"/>
              <a:t> and later aligned with original languages after Vatican II.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64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7. Modern Versions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Sathyaveda</a:t>
            </a:r>
            <a:r>
              <a:rPr lang="en-US" b="1" dirty="0" smtClean="0"/>
              <a:t> </a:t>
            </a:r>
            <a:r>
              <a:rPr lang="en-US" b="1" dirty="0" err="1"/>
              <a:t>Pusthakam</a:t>
            </a:r>
            <a:r>
              <a:rPr lang="en-US" dirty="0"/>
              <a:t> (common Protestant Bible) – in literary Malayalam, widely used.</a:t>
            </a:r>
          </a:p>
          <a:p>
            <a:r>
              <a:rPr lang="en-US" b="1" dirty="0"/>
              <a:t>Common Language Translation (CLT, 1970s–1990s)</a:t>
            </a:r>
            <a:r>
              <a:rPr lang="en-US" dirty="0"/>
              <a:t> – simplified Malayalam for ordinary readers.</a:t>
            </a:r>
          </a:p>
          <a:p>
            <a:r>
              <a:rPr lang="en-US" b="1" dirty="0"/>
              <a:t>Bible Society of India</a:t>
            </a:r>
            <a:r>
              <a:rPr lang="en-US" dirty="0"/>
              <a:t> – continues printing and revising Malayalam Bibles.</a:t>
            </a:r>
          </a:p>
          <a:p>
            <a:r>
              <a:rPr lang="en-US" b="1" dirty="0"/>
              <a:t>Catholic Editions</a:t>
            </a:r>
            <a:r>
              <a:rPr lang="en-US" dirty="0"/>
              <a:t> – newer translations after Vatican II use Hebrew/Greek instead of only Latin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5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8. Digital &amp; Contemporary Era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2000s </a:t>
            </a:r>
            <a:r>
              <a:rPr lang="en-US" b="1" dirty="0"/>
              <a:t>onwards</a:t>
            </a:r>
            <a:r>
              <a:rPr lang="en-US" dirty="0"/>
              <a:t> – Malayalam Bible available in apps, websites, and PDF.</a:t>
            </a:r>
          </a:p>
          <a:p>
            <a:r>
              <a:rPr lang="en-US" dirty="0"/>
              <a:t>Versions available:</a:t>
            </a:r>
          </a:p>
          <a:p>
            <a:pPr lvl="1"/>
            <a:r>
              <a:rPr lang="en-US" b="1" dirty="0"/>
              <a:t>Revised Version (1910)</a:t>
            </a:r>
            <a:r>
              <a:rPr lang="en-US" dirty="0"/>
              <a:t> – still in use.</a:t>
            </a:r>
          </a:p>
          <a:p>
            <a:pPr lvl="1"/>
            <a:r>
              <a:rPr lang="en-US" b="1" dirty="0"/>
              <a:t>Easy-to-Read Version</a:t>
            </a:r>
            <a:r>
              <a:rPr lang="en-US" dirty="0"/>
              <a:t> – for children &amp; new believers.</a:t>
            </a:r>
          </a:p>
          <a:p>
            <a:pPr lvl="1"/>
            <a:r>
              <a:rPr lang="en-US" b="1" dirty="0"/>
              <a:t>Parallel Bibles</a:t>
            </a:r>
            <a:r>
              <a:rPr lang="en-US" dirty="0"/>
              <a:t> – Malayalam + English.</a:t>
            </a:r>
          </a:p>
          <a:p>
            <a:pPr lvl="1"/>
            <a:r>
              <a:rPr lang="en-US" b="1" dirty="0"/>
              <a:t>Audio Bibles</a:t>
            </a:r>
            <a:r>
              <a:rPr lang="en-US" dirty="0"/>
              <a:t> – widely used by diaspora communities.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38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993403" cy="1400530"/>
          </a:xfrm>
        </p:spPr>
        <p:txBody>
          <a:bodyPr/>
          <a:lstStyle/>
          <a:p>
            <a:pPr algn="ctr"/>
            <a:r>
              <a:rPr lang="en-IN" b="1" dirty="0" smtClean="0"/>
              <a:t>South-Indian Bible Timeline </a:t>
            </a:r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071" y="1230595"/>
            <a:ext cx="10391687" cy="546076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 smtClean="0"/>
              <a:t>52 </a:t>
            </a:r>
            <a:r>
              <a:rPr lang="en-IN" b="1" dirty="0"/>
              <a:t>AD</a:t>
            </a:r>
            <a:r>
              <a:rPr lang="en-IN" dirty="0"/>
              <a:t> – St. Thomas brings Christianity to Kerala (</a:t>
            </a:r>
            <a:r>
              <a:rPr lang="en-IN" dirty="0" err="1"/>
              <a:t>Syriac</a:t>
            </a:r>
            <a:r>
              <a:rPr lang="en-IN" dirty="0"/>
              <a:t> Bible used).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1714</a:t>
            </a:r>
            <a:r>
              <a:rPr lang="en-IN" dirty="0"/>
              <a:t> – First attempt (</a:t>
            </a:r>
            <a:r>
              <a:rPr lang="en-IN" dirty="0" err="1"/>
              <a:t>Gründler</a:t>
            </a:r>
            <a:r>
              <a:rPr lang="en-IN" dirty="0"/>
              <a:t>, Tamil script).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1723</a:t>
            </a:r>
            <a:r>
              <a:rPr lang="en-IN" dirty="0"/>
              <a:t> – </a:t>
            </a:r>
            <a:r>
              <a:rPr lang="en-IN" dirty="0" err="1"/>
              <a:t>Schultze</a:t>
            </a:r>
            <a:r>
              <a:rPr lang="en-IN" dirty="0"/>
              <a:t> prints Malayalam NT </a:t>
            </a:r>
            <a:r>
              <a:rPr lang="en-IN" dirty="0" smtClean="0"/>
              <a:t>portions.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1821</a:t>
            </a:r>
            <a:r>
              <a:rPr lang="en-IN" dirty="0"/>
              <a:t> – CMS Press founded, </a:t>
            </a:r>
            <a:r>
              <a:rPr lang="en-IN" dirty="0" err="1"/>
              <a:t>Kottayam</a:t>
            </a:r>
            <a:r>
              <a:rPr lang="en-IN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1829</a:t>
            </a:r>
            <a:r>
              <a:rPr lang="en-IN" dirty="0"/>
              <a:t> </a:t>
            </a:r>
            <a:r>
              <a:rPr lang="en-IN" dirty="0" smtClean="0"/>
              <a:t>– First Malayalam New </a:t>
            </a:r>
            <a:r>
              <a:rPr lang="en-IN" dirty="0"/>
              <a:t>Testament (Bailey</a:t>
            </a:r>
            <a:r>
              <a:rPr lang="en-IN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 smtClean="0"/>
              <a:t>1835 </a:t>
            </a:r>
            <a:r>
              <a:rPr lang="en-IN" dirty="0"/>
              <a:t>– First Malayalam </a:t>
            </a:r>
            <a:r>
              <a:rPr lang="en-IN" dirty="0" smtClean="0"/>
              <a:t>Old Testament </a:t>
            </a:r>
            <a:r>
              <a:rPr lang="en-IN" dirty="0"/>
              <a:t>(Bailey).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1841</a:t>
            </a:r>
            <a:r>
              <a:rPr lang="en-IN" dirty="0"/>
              <a:t> – First complete Malayalam Bible</a:t>
            </a:r>
            <a:r>
              <a:rPr lang="en-IN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1854 </a:t>
            </a:r>
            <a:r>
              <a:rPr lang="en-IN" dirty="0" smtClean="0"/>
              <a:t>– Complete Malayalam NT(</a:t>
            </a:r>
            <a:r>
              <a:rPr lang="en-IN" dirty="0" err="1" smtClean="0"/>
              <a:t>Gutten</a:t>
            </a:r>
            <a:r>
              <a:rPr lang="en-IN" dirty="0" smtClean="0"/>
              <a:t> Burg).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1885 </a:t>
            </a:r>
            <a:r>
              <a:rPr lang="en-IN" dirty="0"/>
              <a:t>– Complete Malayalam O</a:t>
            </a:r>
            <a:r>
              <a:rPr lang="en-IN" dirty="0" smtClean="0"/>
              <a:t>T(</a:t>
            </a:r>
            <a:r>
              <a:rPr lang="en-IN" dirty="0" err="1" smtClean="0"/>
              <a:t>Gutten</a:t>
            </a:r>
            <a:r>
              <a:rPr lang="en-IN" dirty="0" smtClean="0"/>
              <a:t> </a:t>
            </a:r>
            <a:r>
              <a:rPr lang="en-IN" dirty="0"/>
              <a:t>Burg</a:t>
            </a:r>
            <a:r>
              <a:rPr lang="en-IN" dirty="0" smtClean="0"/>
              <a:t>).</a:t>
            </a:r>
            <a:endParaRPr lang="en-IN" b="1" dirty="0" smtClean="0"/>
          </a:p>
          <a:p>
            <a:pPr marL="457200" indent="-457200">
              <a:buFont typeface="+mj-lt"/>
              <a:buAutoNum type="arabicPeriod"/>
            </a:pPr>
            <a:r>
              <a:rPr lang="en-IN" b="1" dirty="0" smtClean="0"/>
              <a:t>1910</a:t>
            </a:r>
            <a:r>
              <a:rPr lang="en-IN" dirty="0" smtClean="0"/>
              <a:t> </a:t>
            </a:r>
            <a:r>
              <a:rPr lang="en-IN" dirty="0"/>
              <a:t>– Malayalam Revised Version.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1968</a:t>
            </a:r>
            <a:r>
              <a:rPr lang="en-IN" dirty="0"/>
              <a:t> – Catholic Malayalam Bible.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1970s–90s</a:t>
            </a:r>
            <a:r>
              <a:rPr lang="en-IN" dirty="0"/>
              <a:t> – Common Language Versions.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2000s–present</a:t>
            </a:r>
            <a:r>
              <a:rPr lang="en-IN" dirty="0"/>
              <a:t> – Digital, audio, parallel versions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18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2055</TotalTime>
  <Words>2005</Words>
  <Application>Microsoft Office PowerPoint</Application>
  <PresentationFormat>Widescreen</PresentationFormat>
  <Paragraphs>249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Century Gothic</vt:lpstr>
      <vt:lpstr>Kartika</vt:lpstr>
      <vt:lpstr>Mangal</vt:lpstr>
      <vt:lpstr>Wingdings 3</vt:lpstr>
      <vt:lpstr>Ion</vt:lpstr>
      <vt:lpstr>PowerPoint Presentation</vt:lpstr>
      <vt:lpstr>PowerPoint Presentation</vt:lpstr>
      <vt:lpstr>BIBLIOLOGY</vt:lpstr>
      <vt:lpstr>BIBLIOLOGY</vt:lpstr>
      <vt:lpstr>DEFENITION OF BIBLE</vt:lpstr>
      <vt:lpstr>Terminology</vt:lpstr>
      <vt:lpstr>Divisions Of Bible</vt:lpstr>
      <vt:lpstr>Number of books</vt:lpstr>
      <vt:lpstr>Bible Divisions Today</vt:lpstr>
      <vt:lpstr>Bible Canon</vt:lpstr>
      <vt:lpstr>Old Testament Canon Fixation</vt:lpstr>
      <vt:lpstr>Criteria of New Testament Canon</vt:lpstr>
      <vt:lpstr>Need of Canon</vt:lpstr>
      <vt:lpstr>New Testament Canon Fixation</vt:lpstr>
      <vt:lpstr>Apocrypha</vt:lpstr>
      <vt:lpstr>Inspiration of Word of God</vt:lpstr>
      <vt:lpstr>Ancient Copies, Translations, Codices and Fragments</vt:lpstr>
      <vt:lpstr>Copies (Prathi)  </vt:lpstr>
      <vt:lpstr>Translations</vt:lpstr>
      <vt:lpstr>Codices</vt:lpstr>
      <vt:lpstr>Fragments</vt:lpstr>
      <vt:lpstr>Biblical Sigla</vt:lpstr>
      <vt:lpstr>Malayalam Bible History</vt:lpstr>
      <vt:lpstr>1. Early Roots (Pre-18th Century)</vt:lpstr>
      <vt:lpstr>2. First Attempts (1700s) </vt:lpstr>
      <vt:lpstr>3. Arrival of CMS Missionaries  (Early 1800s) </vt:lpstr>
      <vt:lpstr>4. Milestones in Translation </vt:lpstr>
      <vt:lpstr>5. Revisions &amp; Improvements </vt:lpstr>
      <vt:lpstr>6. Catholic Malayalam Bible </vt:lpstr>
      <vt:lpstr>7. Modern Versions </vt:lpstr>
      <vt:lpstr>8. Digital &amp; Contemporary Era </vt:lpstr>
      <vt:lpstr>South-Indian Bible Timeline Summary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Divisions Of Theology  1 . Bibliology  2 . Theology Proper 3 . Christology 4 . Pneumatology 5 . Angelology 6 . Anthropology 7 . Hamartiology 8 . Soteriology 9 . Ecclesiology 10. Eschatology</dc:title>
  <dc:creator>DELL</dc:creator>
  <cp:lastModifiedBy>DELL</cp:lastModifiedBy>
  <cp:revision>75</cp:revision>
  <dcterms:created xsi:type="dcterms:W3CDTF">2025-08-11T18:01:49Z</dcterms:created>
  <dcterms:modified xsi:type="dcterms:W3CDTF">2025-08-27T16:38:48Z</dcterms:modified>
</cp:coreProperties>
</file>