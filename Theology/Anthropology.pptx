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8"/>
  </p:notesMasterIdLst>
  <p:sldIdLst>
    <p:sldId id="270" r:id="rId2"/>
    <p:sldId id="269" r:id="rId3"/>
    <p:sldId id="256" r:id="rId4"/>
    <p:sldId id="271" r:id="rId5"/>
    <p:sldId id="275" r:id="rId6"/>
    <p:sldId id="276" r:id="rId7"/>
    <p:sldId id="277" r:id="rId8"/>
    <p:sldId id="272" r:id="rId9"/>
    <p:sldId id="273" r:id="rId10"/>
    <p:sldId id="274" r:id="rId11"/>
    <p:sldId id="278" r:id="rId12"/>
    <p:sldId id="279" r:id="rId13"/>
    <p:sldId id="280" r:id="rId14"/>
    <p:sldId id="281" r:id="rId15"/>
    <p:sldId id="282" r:id="rId16"/>
    <p:sldId id="283" r:id="rId17"/>
    <p:sldId id="261" r:id="rId18"/>
    <p:sldId id="258" r:id="rId19"/>
    <p:sldId id="260" r:id="rId20"/>
    <p:sldId id="262" r:id="rId21"/>
    <p:sldId id="263" r:id="rId22"/>
    <p:sldId id="265" r:id="rId23"/>
    <p:sldId id="264" r:id="rId24"/>
    <p:sldId id="266" r:id="rId25"/>
    <p:sldId id="267" r:id="rId26"/>
    <p:sldId id="26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FA374-8E7E-4B0D-99D3-80D47AC3E6A7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C5D9C-8A74-4784-9348-FBEF914C2D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86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22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60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59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4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31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1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23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92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4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86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362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434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66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327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231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53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0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1630285-0AE9-406D-9BF4-D64A4485C15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CB0F7B2-6BBD-4A0A-B2DF-42585375BD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60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8038" y="786213"/>
            <a:ext cx="11615158" cy="29782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8800" b="1" u="sng" dirty="0" smtClean="0"/>
              <a:t>Systematic Theology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205020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</a:t>
            </a:r>
            <a:r>
              <a:rPr lang="en-IN" sz="2400" dirty="0" err="1" smtClean="0"/>
              <a:t>Bibliology</a:t>
            </a:r>
            <a:r>
              <a:rPr lang="en-IN" sz="2400" dirty="0" smtClean="0"/>
              <a:t>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</a:t>
            </a:r>
            <a:r>
              <a:rPr lang="en-IN" sz="2400" dirty="0" err="1" smtClean="0"/>
              <a:t>Hamartiology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63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/>
              <a:t>Anthropology</a:t>
            </a:r>
            <a:br>
              <a:rPr lang="en-US" sz="8000" dirty="0" smtClean="0"/>
            </a:br>
            <a:r>
              <a:rPr lang="ml-IN" sz="6000" dirty="0" smtClean="0"/>
              <a:t>നരവംശശാസ്ത്ര</a:t>
            </a:r>
            <a:r>
              <a:rPr lang="ml-IN" sz="5400" dirty="0" smtClean="0"/>
              <a:t>൦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2240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</a:t>
            </a:r>
            <a:br>
              <a:rPr lang="en-US" dirty="0" smtClean="0"/>
            </a:br>
            <a:r>
              <a:rPr lang="ml-IN" dirty="0"/>
              <a:t>മുഖവുര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Definition : study about human beings </a:t>
            </a:r>
            <a:r>
              <a:rPr lang="ml-IN" dirty="0"/>
              <a:t>നരകുലത്തെ കുറിച്ചുള്ള പഠനം</a:t>
            </a:r>
            <a:endParaRPr lang="en-US" dirty="0" smtClean="0"/>
          </a:p>
          <a:p>
            <a:r>
              <a:rPr lang="en-US" dirty="0" smtClean="0"/>
              <a:t>Terminology : </a:t>
            </a:r>
            <a:r>
              <a:rPr lang="en-US" dirty="0" err="1" smtClean="0"/>
              <a:t>anthropos</a:t>
            </a:r>
            <a:r>
              <a:rPr lang="en-US" dirty="0" smtClean="0"/>
              <a:t> + Logos = anthropology </a:t>
            </a:r>
            <a:r>
              <a:rPr lang="ml-IN" dirty="0"/>
              <a:t>നരവംശ </a:t>
            </a:r>
            <a:r>
              <a:rPr lang="ml-IN" dirty="0" smtClean="0"/>
              <a:t>ശാസ്ത്ര൦</a:t>
            </a:r>
            <a:endParaRPr lang="en-US" dirty="0" smtClean="0"/>
          </a:p>
          <a:p>
            <a:r>
              <a:rPr lang="ml-IN" dirty="0"/>
              <a:t>മനുഷ്യനെ കുറിച്ചുള്ള ദൈവശാസ്ത്ര പഠനമാണ് നരവംശശാസ്ത്ര൦</a:t>
            </a:r>
            <a:endParaRPr lang="en-US" dirty="0" smtClean="0"/>
          </a:p>
          <a:p>
            <a:r>
              <a:rPr lang="en-US" dirty="0" smtClean="0"/>
              <a:t>Introduction: </a:t>
            </a:r>
            <a:r>
              <a:rPr lang="en-US" dirty="0" err="1" smtClean="0"/>
              <a:t>arther</a:t>
            </a:r>
            <a:r>
              <a:rPr lang="en-US" dirty="0" smtClean="0"/>
              <a:t> shopper </a:t>
            </a:r>
            <a:r>
              <a:rPr lang="en-US" dirty="0" err="1" smtClean="0"/>
              <a:t>haver</a:t>
            </a:r>
            <a:r>
              <a:rPr lang="en-US" dirty="0" smtClean="0"/>
              <a:t> </a:t>
            </a:r>
            <a:r>
              <a:rPr lang="en-US" dirty="0" err="1" smtClean="0"/>
              <a:t>german</a:t>
            </a:r>
            <a:r>
              <a:rPr lang="en-US" dirty="0"/>
              <a:t> </a:t>
            </a:r>
            <a:r>
              <a:rPr lang="en-US" dirty="0" smtClean="0"/>
              <a:t>“</a:t>
            </a:r>
            <a:r>
              <a:rPr lang="ml-IN" dirty="0" smtClean="0"/>
              <a:t>ഞാനാരെന്നൊ,അതെനിക്കറിയില്ല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Thales of </a:t>
            </a:r>
            <a:r>
              <a:rPr lang="en-US" dirty="0" err="1" smtClean="0"/>
              <a:t>miletus</a:t>
            </a:r>
            <a:r>
              <a:rPr lang="en-US" dirty="0" smtClean="0"/>
              <a:t> - </a:t>
            </a:r>
            <a:r>
              <a:rPr lang="ml-IN" dirty="0"/>
              <a:t>ഏറ്റവും </a:t>
            </a:r>
            <a:r>
              <a:rPr lang="ml-IN" dirty="0" smtClean="0"/>
              <a:t>വിഷമമുള്ളത്</a:t>
            </a:r>
            <a:r>
              <a:rPr lang="en-US" dirty="0" smtClean="0"/>
              <a:t>- “</a:t>
            </a:r>
            <a:r>
              <a:rPr lang="ml-IN" dirty="0" smtClean="0"/>
              <a:t>നിന്നെത്തന്നെ</a:t>
            </a:r>
            <a:r>
              <a:rPr lang="en-US" dirty="0" smtClean="0"/>
              <a:t> </a:t>
            </a:r>
            <a:r>
              <a:rPr lang="ml-IN" dirty="0" smtClean="0"/>
              <a:t>അറിയുക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In </a:t>
            </a:r>
            <a:r>
              <a:rPr lang="en-US" dirty="0" err="1" smtClean="0"/>
              <a:t>greece</a:t>
            </a:r>
            <a:r>
              <a:rPr lang="en-US" dirty="0" smtClean="0"/>
              <a:t> , Delphi – </a:t>
            </a:r>
            <a:r>
              <a:rPr lang="en-US" dirty="0" err="1" smtClean="0"/>
              <a:t>appolo</a:t>
            </a:r>
            <a:r>
              <a:rPr lang="en-US" dirty="0" smtClean="0"/>
              <a:t> – “</a:t>
            </a:r>
            <a:r>
              <a:rPr lang="ml-IN" dirty="0" smtClean="0"/>
              <a:t>നീ</a:t>
            </a:r>
            <a:r>
              <a:rPr lang="en-US" dirty="0" smtClean="0"/>
              <a:t> </a:t>
            </a:r>
            <a:r>
              <a:rPr lang="ml-IN" dirty="0" smtClean="0"/>
              <a:t>വെറും</a:t>
            </a:r>
            <a:r>
              <a:rPr lang="en-US" dirty="0" smtClean="0"/>
              <a:t> </a:t>
            </a:r>
            <a:r>
              <a:rPr lang="ml-IN" dirty="0" smtClean="0"/>
              <a:t>മനുഷ്യനാണ്</a:t>
            </a:r>
            <a:r>
              <a:rPr lang="en-US" dirty="0" smtClean="0"/>
              <a:t> </a:t>
            </a:r>
            <a:r>
              <a:rPr lang="ml-IN" dirty="0" smtClean="0"/>
              <a:t>ഒട്ടും</a:t>
            </a:r>
            <a:r>
              <a:rPr lang="en-US" dirty="0" smtClean="0"/>
              <a:t> </a:t>
            </a:r>
            <a:r>
              <a:rPr lang="ml-IN" dirty="0" smtClean="0"/>
              <a:t>കൂടിയവനല്ല</a:t>
            </a:r>
            <a:r>
              <a:rPr lang="en-US" dirty="0" smtClean="0"/>
              <a:t>” </a:t>
            </a:r>
          </a:p>
          <a:p>
            <a:r>
              <a:rPr lang="en-US" dirty="0" smtClean="0"/>
              <a:t>Two types of study : 1. scientific study : evolution theory </a:t>
            </a:r>
            <a:r>
              <a:rPr lang="ml-IN" dirty="0" smtClean="0"/>
              <a:t>പരിണാമ</a:t>
            </a:r>
            <a:r>
              <a:rPr lang="en-US" dirty="0" smtClean="0"/>
              <a:t> </a:t>
            </a:r>
            <a:r>
              <a:rPr lang="ml-IN" dirty="0" smtClean="0"/>
              <a:t>സിദ്ധാന്തം</a:t>
            </a:r>
            <a:endParaRPr lang="en-US" dirty="0" smtClean="0"/>
          </a:p>
          <a:p>
            <a:pPr lvl="1"/>
            <a:r>
              <a:rPr lang="en-US" dirty="0" smtClean="0"/>
              <a:t>2. theological study : relationship between god and human ; god created man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46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Sceintific</a:t>
            </a:r>
            <a:r>
              <a:rPr lang="en-US" dirty="0" smtClean="0"/>
              <a:t> study</a:t>
            </a:r>
            <a:br>
              <a:rPr lang="en-US" dirty="0" smtClean="0"/>
            </a:br>
            <a:r>
              <a:rPr lang="en-US" dirty="0" smtClean="0"/>
              <a:t>zoology </a:t>
            </a:r>
            <a:r>
              <a:rPr lang="ml-IN" dirty="0" smtClean="0"/>
              <a:t>ജന്തുശാസ്ത്ര൦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zoology defines  </a:t>
            </a:r>
            <a:r>
              <a:rPr lang="en-US" dirty="0" err="1" smtClean="0"/>
              <a:t>Homosapiens</a:t>
            </a:r>
            <a:r>
              <a:rPr lang="en-US" dirty="0" smtClean="0"/>
              <a:t> </a:t>
            </a:r>
          </a:p>
          <a:p>
            <a:r>
              <a:rPr lang="en-US" dirty="0" smtClean="0"/>
              <a:t>Phylum – chordate, class – Mammalia, order – primates, family – </a:t>
            </a:r>
            <a:r>
              <a:rPr lang="en-US" dirty="0" err="1" smtClean="0"/>
              <a:t>hominedel</a:t>
            </a:r>
            <a:endParaRPr lang="en-US" dirty="0" smtClean="0"/>
          </a:p>
          <a:p>
            <a:pPr lvl="1"/>
            <a:r>
              <a:rPr lang="en-US" dirty="0" smtClean="0"/>
              <a:t>Genus – homo,  specious – sapiens.</a:t>
            </a:r>
          </a:p>
          <a:p>
            <a:r>
              <a:rPr lang="ml-IN" dirty="0" smtClean="0"/>
              <a:t>ജന്തു</a:t>
            </a:r>
            <a:r>
              <a:rPr lang="en-US" dirty="0" smtClean="0"/>
              <a:t> </a:t>
            </a:r>
            <a:r>
              <a:rPr lang="ml-IN" dirty="0" smtClean="0"/>
              <a:t>ശാസ്ത്ര൦</a:t>
            </a:r>
            <a:r>
              <a:rPr lang="en-US" dirty="0" smtClean="0"/>
              <a:t> </a:t>
            </a:r>
            <a:r>
              <a:rPr lang="ml-IN" dirty="0"/>
              <a:t>മനുഷ്യനു നല്കിയിരിക്കുന്ന </a:t>
            </a:r>
            <a:r>
              <a:rPr lang="ml-IN" dirty="0" smtClean="0"/>
              <a:t>സാങ്കേതിക</a:t>
            </a:r>
            <a:r>
              <a:rPr lang="en-US" dirty="0" smtClean="0"/>
              <a:t> </a:t>
            </a:r>
            <a:r>
              <a:rPr lang="ml-IN" dirty="0" smtClean="0"/>
              <a:t>നാമം ഹോമോസാപ്പിയൻസ്</a:t>
            </a:r>
            <a:r>
              <a:rPr lang="en-US" dirty="0" smtClean="0"/>
              <a:t> </a:t>
            </a:r>
            <a:r>
              <a:rPr lang="ml-IN" dirty="0" smtClean="0"/>
              <a:t>എന്നാണ്</a:t>
            </a:r>
            <a:r>
              <a:rPr lang="en-US" dirty="0" smtClean="0"/>
              <a:t> . </a:t>
            </a:r>
            <a:r>
              <a:rPr lang="ml-IN" dirty="0" smtClean="0"/>
              <a:t>നട്ടെല്ലികൾ</a:t>
            </a:r>
            <a:r>
              <a:rPr lang="en-US" dirty="0" smtClean="0"/>
              <a:t> </a:t>
            </a:r>
            <a:r>
              <a:rPr lang="ml-IN" dirty="0" smtClean="0"/>
              <a:t>എന്ന</a:t>
            </a:r>
            <a:r>
              <a:rPr lang="en-US" dirty="0" smtClean="0"/>
              <a:t> </a:t>
            </a:r>
            <a:r>
              <a:rPr lang="ml-IN" dirty="0" smtClean="0"/>
              <a:t>ജന്തു</a:t>
            </a:r>
            <a:r>
              <a:rPr lang="en-US" dirty="0" smtClean="0"/>
              <a:t> </a:t>
            </a:r>
            <a:r>
              <a:rPr lang="ml-IN" dirty="0" smtClean="0"/>
              <a:t>വർഗ്ഗത്തിൽ സസ്തനി</a:t>
            </a:r>
            <a:r>
              <a:rPr lang="en-US" dirty="0" smtClean="0"/>
              <a:t> </a:t>
            </a:r>
            <a:r>
              <a:rPr lang="ml-IN" dirty="0" smtClean="0"/>
              <a:t>ജീവി</a:t>
            </a:r>
            <a:r>
              <a:rPr lang="en-US" dirty="0" smtClean="0"/>
              <a:t> </a:t>
            </a:r>
            <a:r>
              <a:rPr lang="ml-IN" dirty="0" smtClean="0"/>
              <a:t>വിഭാഗത്തിൽ</a:t>
            </a:r>
            <a:r>
              <a:rPr lang="en-US" dirty="0" smtClean="0"/>
              <a:t> </a:t>
            </a:r>
            <a:r>
              <a:rPr lang="ml-IN" dirty="0" smtClean="0"/>
              <a:t>പ്രൈമേറ്റ്</a:t>
            </a:r>
            <a:r>
              <a:rPr lang="en-US" dirty="0" smtClean="0"/>
              <a:t> </a:t>
            </a:r>
            <a:r>
              <a:rPr lang="ml-IN" dirty="0" smtClean="0"/>
              <a:t>ഗോത്രത്തിൽ</a:t>
            </a:r>
            <a:r>
              <a:rPr lang="en-US" dirty="0" smtClean="0"/>
              <a:t> </a:t>
            </a:r>
            <a:r>
              <a:rPr lang="ml-IN" dirty="0" smtClean="0"/>
              <a:t>ഹൊമിനിഡേ കുടുംബത്തിൽ</a:t>
            </a:r>
            <a:r>
              <a:rPr lang="en-US" dirty="0" smtClean="0"/>
              <a:t> </a:t>
            </a:r>
            <a:r>
              <a:rPr lang="ml-IN" dirty="0" smtClean="0"/>
              <a:t>ഹോമോ</a:t>
            </a:r>
            <a:r>
              <a:rPr lang="en-US" dirty="0" smtClean="0"/>
              <a:t> </a:t>
            </a:r>
            <a:r>
              <a:rPr lang="ml-IN" dirty="0" smtClean="0"/>
              <a:t>ഗണത്തിൽ</a:t>
            </a:r>
            <a:r>
              <a:rPr lang="en-US" dirty="0" smtClean="0"/>
              <a:t> </a:t>
            </a:r>
            <a:r>
              <a:rPr lang="ml-IN" dirty="0" smtClean="0"/>
              <a:t>സേപ്പിയൻസ്</a:t>
            </a:r>
            <a:r>
              <a:rPr lang="en-US" dirty="0" smtClean="0"/>
              <a:t> </a:t>
            </a:r>
            <a:r>
              <a:rPr lang="ml-IN" dirty="0" smtClean="0"/>
              <a:t>എന്ന</a:t>
            </a:r>
            <a:r>
              <a:rPr lang="en-US" dirty="0" smtClean="0"/>
              <a:t> </a:t>
            </a:r>
            <a:r>
              <a:rPr lang="ml-IN" dirty="0" smtClean="0"/>
              <a:t>ജീവി</a:t>
            </a:r>
            <a:r>
              <a:rPr lang="en-US" dirty="0" smtClean="0"/>
              <a:t> </a:t>
            </a:r>
            <a:r>
              <a:rPr lang="ml-IN" dirty="0" smtClean="0"/>
              <a:t>ജാതിയിൽ</a:t>
            </a:r>
            <a:r>
              <a:rPr lang="en-US" dirty="0" smtClean="0"/>
              <a:t> </a:t>
            </a:r>
            <a:r>
              <a:rPr lang="ml-IN" dirty="0" smtClean="0"/>
              <a:t>പെടുന്നു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1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Some definitions</a:t>
            </a:r>
            <a:br>
              <a:rPr lang="en-US" dirty="0" smtClean="0"/>
            </a:br>
            <a:r>
              <a:rPr lang="ml-IN" dirty="0"/>
              <a:t>ചില നിർവ്വചനങ്ങൾ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Homosapiens</a:t>
            </a:r>
            <a:r>
              <a:rPr lang="en-US" dirty="0" smtClean="0"/>
              <a:t>        : </a:t>
            </a:r>
            <a:r>
              <a:rPr lang="ml-IN" dirty="0"/>
              <a:t>ചിന്തിക്കുന്ന മൃഗ൦</a:t>
            </a:r>
            <a:endParaRPr lang="en-US" dirty="0" smtClean="0"/>
          </a:p>
          <a:p>
            <a:r>
              <a:rPr lang="en-US" dirty="0" smtClean="0"/>
              <a:t>Social animal      : </a:t>
            </a:r>
            <a:r>
              <a:rPr lang="ml-IN" dirty="0"/>
              <a:t>സാമൂഹിക സ്വഭാവമുള്ള മൃഗ൦</a:t>
            </a:r>
            <a:r>
              <a:rPr lang="en-US" dirty="0" smtClean="0"/>
              <a:t> </a:t>
            </a:r>
          </a:p>
          <a:p>
            <a:r>
              <a:rPr lang="en-US" dirty="0" smtClean="0"/>
              <a:t>Political animal   : </a:t>
            </a:r>
            <a:r>
              <a:rPr lang="ml-IN" dirty="0"/>
              <a:t>രാഷ്ട്രീയ ബോധമുള്ള മൃഗം</a:t>
            </a:r>
            <a:endParaRPr lang="en-US" dirty="0" smtClean="0"/>
          </a:p>
          <a:p>
            <a:r>
              <a:rPr lang="en-US" dirty="0" smtClean="0"/>
              <a:t>Homo religious    : </a:t>
            </a:r>
            <a:r>
              <a:rPr lang="ml-IN" dirty="0"/>
              <a:t>ഈശ്വര വിശ്വാസമുള്ള മൃഗം</a:t>
            </a:r>
            <a:endParaRPr lang="en-US" dirty="0" smtClean="0"/>
          </a:p>
          <a:p>
            <a:r>
              <a:rPr lang="en-US" dirty="0" smtClean="0"/>
              <a:t>Homo </a:t>
            </a:r>
            <a:r>
              <a:rPr lang="en-US" dirty="0" err="1" smtClean="0"/>
              <a:t>faber</a:t>
            </a:r>
            <a:r>
              <a:rPr lang="en-US" dirty="0" smtClean="0"/>
              <a:t>          : </a:t>
            </a:r>
            <a:r>
              <a:rPr lang="ml-IN" dirty="0"/>
              <a:t>ഉപകരണങ്ങൾ നിർമ്മിക്കുന്ന മൃഗ൦</a:t>
            </a:r>
            <a:endParaRPr lang="en-US" dirty="0" smtClean="0"/>
          </a:p>
          <a:p>
            <a:r>
              <a:rPr lang="en-US" dirty="0" smtClean="0"/>
              <a:t>Laughing animal  : </a:t>
            </a:r>
            <a:r>
              <a:rPr lang="ml-IN" dirty="0"/>
              <a:t>ചിരിക്കുന്ന മൃഗം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14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Divisions of man 		</a:t>
            </a:r>
            <a:r>
              <a:rPr lang="ml-IN" dirty="0"/>
              <a:t>മനുഷ്യവർഗ്ഗ വിഭജന൦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Cocosoids</a:t>
            </a:r>
            <a:r>
              <a:rPr lang="en-US" dirty="0" smtClean="0"/>
              <a:t> : </a:t>
            </a:r>
            <a:r>
              <a:rPr lang="ml-IN" dirty="0" smtClean="0"/>
              <a:t>കൊക്കസോയിഡ്സ്</a:t>
            </a:r>
            <a:r>
              <a:rPr lang="en-US" dirty="0" smtClean="0"/>
              <a:t> Europeans</a:t>
            </a:r>
          </a:p>
          <a:p>
            <a:r>
              <a:rPr lang="en-US" dirty="0" err="1" smtClean="0"/>
              <a:t>Mangaloids</a:t>
            </a:r>
            <a:r>
              <a:rPr lang="en-US" dirty="0" smtClean="0"/>
              <a:t> : </a:t>
            </a:r>
            <a:r>
              <a:rPr lang="ml-IN" dirty="0" smtClean="0"/>
              <a:t>മ൦ഗളോയിഡ്സ്</a:t>
            </a:r>
            <a:r>
              <a:rPr lang="en-US" dirty="0" smtClean="0"/>
              <a:t>      Asians</a:t>
            </a:r>
          </a:p>
          <a:p>
            <a:r>
              <a:rPr lang="en-US" dirty="0" err="1" smtClean="0"/>
              <a:t>Negroids</a:t>
            </a:r>
            <a:r>
              <a:rPr lang="en-US" dirty="0" smtClean="0"/>
              <a:t>      : </a:t>
            </a:r>
            <a:r>
              <a:rPr lang="ml-IN" dirty="0" smtClean="0"/>
              <a:t>നീഗ്രോയിഡ്സ്</a:t>
            </a:r>
            <a:r>
              <a:rPr lang="en-US" dirty="0" smtClean="0"/>
              <a:t>        Africans</a:t>
            </a:r>
          </a:p>
          <a:p>
            <a:r>
              <a:rPr lang="en-US" sz="3200" b="1" dirty="0" smtClean="0"/>
              <a:t>Importance of anthropology </a:t>
            </a:r>
          </a:p>
          <a:p>
            <a:pPr lvl="1"/>
            <a:r>
              <a:rPr lang="en-US" sz="1800" dirty="0" smtClean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All Christian doctrines are related to man </a:t>
            </a:r>
            <a:r>
              <a:rPr lang="ml-IN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എല്ലാ ക്രിസ്തീയ ഉപദേശവും മനുഷ്യരുമായി ബദ്ധപ്പെട്ടുള്ളതാണ്</a:t>
            </a:r>
            <a:endParaRPr lang="en-US" sz="1800" dirty="0" smtClean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</a:endParaRPr>
          </a:p>
          <a:p>
            <a:pPr lvl="1"/>
            <a:r>
              <a:rPr lang="en-US" dirty="0" smtClean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The most important creation of god is man </a:t>
            </a:r>
            <a:r>
              <a:rPr lang="ml-IN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ദൈവത്തിന്റെ ഏറ്റവും പ്രധാനപ്പെട്ട സൃഷ്ടി മനുഷ്യനാണ്</a:t>
            </a:r>
            <a:endParaRPr lang="en-IN" sz="18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724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Names of man </a:t>
            </a:r>
            <a:br>
              <a:rPr lang="en-US" dirty="0" smtClean="0"/>
            </a:br>
            <a:r>
              <a:rPr lang="ml-IN" dirty="0"/>
              <a:t>മനുഷ്യന്റെ പേരുകൾ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Hebrew words </a:t>
            </a:r>
          </a:p>
          <a:p>
            <a:pPr lvl="1"/>
            <a:r>
              <a:rPr lang="en-US" dirty="0" smtClean="0"/>
              <a:t>Adam  : </a:t>
            </a:r>
            <a:r>
              <a:rPr lang="ml-IN" dirty="0" smtClean="0"/>
              <a:t>ചെമ്മണ്ണ്</a:t>
            </a:r>
            <a:endParaRPr lang="en-US" dirty="0" smtClean="0"/>
          </a:p>
          <a:p>
            <a:pPr lvl="2"/>
            <a:r>
              <a:rPr lang="en-US" dirty="0" smtClean="0"/>
              <a:t>Individual    romans 5 : 14, </a:t>
            </a:r>
            <a:r>
              <a:rPr lang="en-US" dirty="0" err="1" smtClean="0"/>
              <a:t>luke</a:t>
            </a:r>
            <a:r>
              <a:rPr lang="en-US" dirty="0" smtClean="0"/>
              <a:t> 3:38</a:t>
            </a:r>
          </a:p>
          <a:p>
            <a:pPr lvl="2"/>
            <a:r>
              <a:rPr lang="en-US" dirty="0" smtClean="0"/>
              <a:t>General      genesis 1: 26,27 5:1,2</a:t>
            </a:r>
          </a:p>
          <a:p>
            <a:pPr lvl="2"/>
            <a:r>
              <a:rPr lang="en-US" dirty="0" smtClean="0"/>
              <a:t>Linguistic     genesis 3:12</a:t>
            </a:r>
          </a:p>
          <a:p>
            <a:pPr lvl="1"/>
            <a:r>
              <a:rPr lang="en-US" dirty="0" err="1" smtClean="0"/>
              <a:t>Iish</a:t>
            </a:r>
            <a:r>
              <a:rPr lang="en-US" dirty="0" smtClean="0"/>
              <a:t>  : </a:t>
            </a:r>
            <a:r>
              <a:rPr lang="ml-IN" dirty="0" smtClean="0"/>
              <a:t>പുരുഷൻ</a:t>
            </a:r>
            <a:endParaRPr lang="en-US" dirty="0" smtClean="0"/>
          </a:p>
          <a:p>
            <a:pPr lvl="1"/>
            <a:r>
              <a:rPr lang="en-US" dirty="0" err="1" smtClean="0"/>
              <a:t>Enosh</a:t>
            </a:r>
            <a:r>
              <a:rPr lang="en-US" dirty="0" smtClean="0"/>
              <a:t>  : </a:t>
            </a:r>
            <a:r>
              <a:rPr lang="ml-IN" dirty="0" smtClean="0"/>
              <a:t>ദുർബലൻ</a:t>
            </a:r>
            <a:r>
              <a:rPr lang="en-US" dirty="0" smtClean="0"/>
              <a:t> , </a:t>
            </a:r>
            <a:r>
              <a:rPr lang="ml-IN" dirty="0"/>
              <a:t>മർത്യൻ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19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59832"/>
          </a:xfrm>
        </p:spPr>
        <p:txBody>
          <a:bodyPr/>
          <a:lstStyle/>
          <a:p>
            <a:pPr algn="ctr"/>
            <a:r>
              <a:rPr lang="en-US" dirty="0" smtClean="0"/>
              <a:t>Greek words for man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Greek words</a:t>
            </a:r>
          </a:p>
          <a:p>
            <a:pPr lvl="1"/>
            <a:r>
              <a:rPr lang="en-US" dirty="0" err="1" smtClean="0"/>
              <a:t>Anthapose</a:t>
            </a:r>
            <a:r>
              <a:rPr lang="en-US" dirty="0" smtClean="0"/>
              <a:t> :  </a:t>
            </a:r>
            <a:r>
              <a:rPr lang="ml-IN" dirty="0" smtClean="0"/>
              <a:t>നരമുഖമുള്ളവൻ</a:t>
            </a:r>
            <a:endParaRPr lang="en-US" dirty="0" smtClean="0"/>
          </a:p>
          <a:p>
            <a:pPr lvl="1"/>
            <a:r>
              <a:rPr lang="en-US" dirty="0" err="1" smtClean="0"/>
              <a:t>Aneer</a:t>
            </a:r>
            <a:r>
              <a:rPr lang="en-US" dirty="0" smtClean="0"/>
              <a:t>         : </a:t>
            </a:r>
            <a:r>
              <a:rPr lang="ml-IN" dirty="0" smtClean="0"/>
              <a:t>പുരുഷൻ</a:t>
            </a:r>
            <a:endParaRPr lang="en-US" dirty="0" smtClean="0"/>
          </a:p>
          <a:p>
            <a:r>
              <a:rPr lang="en-US" dirty="0" smtClean="0"/>
              <a:t>Seven stages</a:t>
            </a:r>
          </a:p>
          <a:p>
            <a:pPr lvl="1"/>
            <a:r>
              <a:rPr lang="en-US" dirty="0" err="1" smtClean="0"/>
              <a:t>Pydion</a:t>
            </a:r>
            <a:r>
              <a:rPr lang="en-US" dirty="0" smtClean="0"/>
              <a:t>        : </a:t>
            </a:r>
            <a:r>
              <a:rPr lang="ml-IN" dirty="0" smtClean="0"/>
              <a:t>ശിശു</a:t>
            </a:r>
            <a:endParaRPr lang="en-US" dirty="0" smtClean="0"/>
          </a:p>
          <a:p>
            <a:pPr lvl="1"/>
            <a:r>
              <a:rPr lang="en-US" dirty="0" err="1" smtClean="0"/>
              <a:t>Pyse</a:t>
            </a:r>
            <a:r>
              <a:rPr lang="en-US" dirty="0" smtClean="0"/>
              <a:t>            :  </a:t>
            </a:r>
            <a:r>
              <a:rPr lang="ml-IN" dirty="0" smtClean="0"/>
              <a:t>ബാലൻ</a:t>
            </a:r>
            <a:endParaRPr lang="en-US" dirty="0" smtClean="0"/>
          </a:p>
          <a:p>
            <a:pPr lvl="1"/>
            <a:r>
              <a:rPr lang="en-US" dirty="0" err="1" smtClean="0"/>
              <a:t>Myrakion</a:t>
            </a:r>
            <a:r>
              <a:rPr lang="en-US" dirty="0" smtClean="0"/>
              <a:t>   : </a:t>
            </a:r>
            <a:r>
              <a:rPr lang="ml-IN" dirty="0" smtClean="0"/>
              <a:t>കുമാരൻ</a:t>
            </a:r>
            <a:endParaRPr lang="en-US" dirty="0" smtClean="0"/>
          </a:p>
          <a:p>
            <a:pPr lvl="1"/>
            <a:r>
              <a:rPr lang="en-US" dirty="0" err="1" smtClean="0"/>
              <a:t>Pneaniscos</a:t>
            </a:r>
            <a:r>
              <a:rPr lang="en-US" dirty="0" smtClean="0"/>
              <a:t> : </a:t>
            </a:r>
            <a:r>
              <a:rPr lang="ml-IN" dirty="0" smtClean="0"/>
              <a:t>യൌവനക്കാരൻ</a:t>
            </a:r>
            <a:endParaRPr lang="en-US" dirty="0" smtClean="0"/>
          </a:p>
          <a:p>
            <a:pPr lvl="1"/>
            <a:r>
              <a:rPr lang="en-US" dirty="0" err="1" smtClean="0"/>
              <a:t>Aneer</a:t>
            </a:r>
            <a:r>
              <a:rPr lang="en-US" dirty="0" smtClean="0"/>
              <a:t>          : </a:t>
            </a:r>
            <a:r>
              <a:rPr lang="ml-IN" dirty="0" smtClean="0"/>
              <a:t>പുരുഷൻ</a:t>
            </a:r>
            <a:endParaRPr lang="en-US" dirty="0" smtClean="0"/>
          </a:p>
          <a:p>
            <a:pPr lvl="1"/>
            <a:r>
              <a:rPr lang="en-US" dirty="0" err="1" smtClean="0"/>
              <a:t>Presbutis</a:t>
            </a:r>
            <a:r>
              <a:rPr lang="en-US" dirty="0" smtClean="0"/>
              <a:t>      : </a:t>
            </a:r>
            <a:r>
              <a:rPr lang="ml-IN" dirty="0" smtClean="0"/>
              <a:t>മൂപ്പൻ</a:t>
            </a:r>
            <a:endParaRPr lang="en-US" dirty="0" smtClean="0"/>
          </a:p>
          <a:p>
            <a:pPr lvl="1"/>
            <a:r>
              <a:rPr lang="en-US" dirty="0" err="1" smtClean="0"/>
              <a:t>Geron</a:t>
            </a:r>
            <a:r>
              <a:rPr lang="en-US" dirty="0" smtClean="0"/>
              <a:t>         : </a:t>
            </a:r>
            <a:r>
              <a:rPr lang="ml-IN" dirty="0"/>
              <a:t>വൃദ്ധൻ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2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Different religious views </a:t>
            </a:r>
            <a:br>
              <a:rPr lang="en-US" dirty="0" smtClean="0"/>
            </a:br>
            <a:r>
              <a:rPr lang="ml-IN" dirty="0" smtClean="0"/>
              <a:t>വിവിധ</a:t>
            </a:r>
            <a:r>
              <a:rPr lang="en-US" dirty="0" smtClean="0"/>
              <a:t> </a:t>
            </a:r>
            <a:r>
              <a:rPr lang="ml-IN" dirty="0" smtClean="0"/>
              <a:t>മത</a:t>
            </a:r>
            <a:r>
              <a:rPr lang="en-US" dirty="0" smtClean="0"/>
              <a:t> </a:t>
            </a:r>
            <a:r>
              <a:rPr lang="ml-IN" dirty="0" smtClean="0"/>
              <a:t>വീക്ഷണങ്ങൾ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Buddhists  : </a:t>
            </a:r>
            <a:r>
              <a:rPr lang="ml-IN" dirty="0"/>
              <a:t>ബുദ്ധമത </a:t>
            </a:r>
            <a:r>
              <a:rPr lang="ml-IN" dirty="0" smtClean="0"/>
              <a:t>വീക്ഷണം</a:t>
            </a:r>
            <a:r>
              <a:rPr lang="en-US" dirty="0" smtClean="0"/>
              <a:t> - </a:t>
            </a:r>
            <a:r>
              <a:rPr lang="ml-IN" dirty="0"/>
              <a:t>ആസക്തികൾ നിറഞ്ഞതാണ് </a:t>
            </a:r>
            <a:r>
              <a:rPr lang="ml-IN" dirty="0" smtClean="0"/>
              <a:t>ശരീര൦</a:t>
            </a:r>
            <a:endParaRPr lang="en-US" dirty="0" smtClean="0"/>
          </a:p>
          <a:p>
            <a:pPr lvl="1"/>
            <a:r>
              <a:rPr lang="ml-IN" dirty="0"/>
              <a:t>ഭൌമീകൻ, ആത്മികൻ , ബോധിസത്വ൦</a:t>
            </a:r>
            <a:endParaRPr lang="en-US" dirty="0" smtClean="0"/>
          </a:p>
          <a:p>
            <a:r>
              <a:rPr lang="en-US" dirty="0" smtClean="0"/>
              <a:t>Greeks      : </a:t>
            </a:r>
            <a:r>
              <a:rPr lang="ml-IN" dirty="0"/>
              <a:t>യവനായ </a:t>
            </a:r>
            <a:r>
              <a:rPr lang="ml-IN" dirty="0" smtClean="0"/>
              <a:t>വീക്ഷണം</a:t>
            </a:r>
            <a:r>
              <a:rPr lang="en-US" dirty="0" smtClean="0"/>
              <a:t> - </a:t>
            </a:r>
            <a:r>
              <a:rPr lang="ml-IN" dirty="0"/>
              <a:t>ശരീരം നശ്വരവു൦ </a:t>
            </a:r>
            <a:r>
              <a:rPr lang="ml-IN" dirty="0" smtClean="0"/>
              <a:t>മ്ലേച്ഛവുമാണ്</a:t>
            </a:r>
            <a:endParaRPr lang="en-US" dirty="0" smtClean="0"/>
          </a:p>
          <a:p>
            <a:pPr lvl="1"/>
            <a:r>
              <a:rPr lang="ml-IN" dirty="0"/>
              <a:t>ആത്മാവ് </a:t>
            </a:r>
            <a:r>
              <a:rPr lang="ml-IN" dirty="0" smtClean="0"/>
              <a:t>അനശ്വരമാണ്</a:t>
            </a:r>
            <a:r>
              <a:rPr lang="en-US" dirty="0" smtClean="0"/>
              <a:t>, </a:t>
            </a:r>
            <a:r>
              <a:rPr lang="ml-IN" dirty="0"/>
              <a:t>ശരീരം ആത്മാവിന്റെ തടവറയാണ് </a:t>
            </a:r>
            <a:endParaRPr lang="en-US" dirty="0" smtClean="0"/>
          </a:p>
          <a:p>
            <a:r>
              <a:rPr lang="en-US" dirty="0" smtClean="0"/>
              <a:t>Islam         : </a:t>
            </a:r>
            <a:r>
              <a:rPr lang="ml-IN" dirty="0"/>
              <a:t>ഇസ്ലാം </a:t>
            </a:r>
            <a:r>
              <a:rPr lang="ml-IN" dirty="0" smtClean="0"/>
              <a:t>വീക്ഷണം</a:t>
            </a:r>
            <a:r>
              <a:rPr lang="en-US" dirty="0" smtClean="0"/>
              <a:t> - </a:t>
            </a:r>
            <a:r>
              <a:rPr lang="ml-IN" dirty="0" smtClean="0"/>
              <a:t>ഖുറാൻ</a:t>
            </a:r>
            <a:r>
              <a:rPr lang="en-US" dirty="0" smtClean="0"/>
              <a:t>-</a:t>
            </a:r>
            <a:r>
              <a:rPr lang="en-US" dirty="0"/>
              <a:t> </a:t>
            </a:r>
            <a:r>
              <a:rPr lang="ml-IN" dirty="0" smtClean="0"/>
              <a:t>ദൈവ൦</a:t>
            </a:r>
            <a:r>
              <a:rPr lang="en-US" dirty="0" smtClean="0"/>
              <a:t> </a:t>
            </a:r>
            <a:r>
              <a:rPr lang="ml-IN" dirty="0" smtClean="0"/>
              <a:t>മനുഷ്യനെ</a:t>
            </a:r>
            <a:r>
              <a:rPr lang="en-US" dirty="0" smtClean="0"/>
              <a:t> </a:t>
            </a:r>
            <a:r>
              <a:rPr lang="ml-IN" dirty="0" smtClean="0"/>
              <a:t>സൃഷ്ടിച്ചു</a:t>
            </a:r>
            <a:r>
              <a:rPr lang="en-US" dirty="0" smtClean="0"/>
              <a:t>.</a:t>
            </a:r>
            <a:r>
              <a:rPr lang="ml-IN" dirty="0" smtClean="0"/>
              <a:t> </a:t>
            </a:r>
            <a:endParaRPr lang="en-US" dirty="0" smtClean="0"/>
          </a:p>
          <a:p>
            <a:r>
              <a:rPr lang="en-US" dirty="0" smtClean="0"/>
              <a:t>Hindus       : </a:t>
            </a:r>
            <a:r>
              <a:rPr lang="ml-IN" dirty="0"/>
              <a:t>ഹൈന്ദവ </a:t>
            </a:r>
            <a:r>
              <a:rPr lang="ml-IN" dirty="0" smtClean="0"/>
              <a:t>വീക്ഷണം</a:t>
            </a:r>
            <a:r>
              <a:rPr lang="en-US" dirty="0" smtClean="0"/>
              <a:t> - </a:t>
            </a:r>
            <a:r>
              <a:rPr lang="ml-IN" dirty="0"/>
              <a:t>പുനർജനനത്തിൽ വിശ്വസിക്കുന്നു</a:t>
            </a:r>
            <a:r>
              <a:rPr lang="en-US" dirty="0" smtClean="0"/>
              <a:t> </a:t>
            </a:r>
          </a:p>
          <a:p>
            <a:r>
              <a:rPr lang="en-US" dirty="0" smtClean="0"/>
              <a:t>Christians  : </a:t>
            </a:r>
            <a:r>
              <a:rPr lang="ml-IN" dirty="0"/>
              <a:t>ക്രിസ്തീയ </a:t>
            </a:r>
            <a:r>
              <a:rPr lang="ml-IN" dirty="0" smtClean="0"/>
              <a:t>വീക്ഷണ൦</a:t>
            </a:r>
            <a:r>
              <a:rPr lang="en-US" dirty="0" smtClean="0"/>
              <a:t> - </a:t>
            </a:r>
            <a:r>
              <a:rPr lang="ml-IN" dirty="0" smtClean="0"/>
              <a:t>ദൈവ൦ </a:t>
            </a:r>
            <a:r>
              <a:rPr lang="ml-IN" dirty="0"/>
              <a:t>മനുഷ്യനെ </a:t>
            </a:r>
            <a:r>
              <a:rPr lang="ml-IN" dirty="0" smtClean="0"/>
              <a:t>സൃഷ്ടിച്ചു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99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Different Christian beliefs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 - </a:t>
            </a:r>
            <a:r>
              <a:rPr lang="en-US" dirty="0" err="1" smtClean="0"/>
              <a:t>adamits</a:t>
            </a:r>
            <a:r>
              <a:rPr lang="en-US" dirty="0" smtClean="0"/>
              <a:t> theory : </a:t>
            </a:r>
            <a:r>
              <a:rPr lang="ml-IN" dirty="0"/>
              <a:t>ആദമിന് മുൻപുള്ള കാല൦</a:t>
            </a:r>
            <a:endParaRPr lang="en-US" dirty="0" smtClean="0"/>
          </a:p>
          <a:p>
            <a:r>
              <a:rPr lang="en-US" dirty="0" smtClean="0"/>
              <a:t>Fiat creationism      : </a:t>
            </a:r>
            <a:r>
              <a:rPr lang="ml-IN" dirty="0"/>
              <a:t>യഥാർത്ഥ സൃഷ്ടി വാദ൦</a:t>
            </a:r>
            <a:endParaRPr lang="en-US" dirty="0" smtClean="0"/>
          </a:p>
          <a:p>
            <a:r>
              <a:rPr lang="en-US" dirty="0" smtClean="0"/>
              <a:t>Theistic evolution    : </a:t>
            </a:r>
            <a:r>
              <a:rPr lang="ml-IN" dirty="0"/>
              <a:t>ദൈവ വിശ്വാസമുള്ള പരിണാമം</a:t>
            </a:r>
            <a:endParaRPr lang="en-US" dirty="0" smtClean="0"/>
          </a:p>
          <a:p>
            <a:r>
              <a:rPr lang="en-US" dirty="0" smtClean="0"/>
              <a:t>Deistic evolution     : </a:t>
            </a:r>
            <a:r>
              <a:rPr lang="ml-IN" dirty="0"/>
              <a:t>ആസ്തിക്യ പരിണാമം</a:t>
            </a:r>
            <a:endParaRPr lang="en-US" dirty="0" smtClean="0"/>
          </a:p>
          <a:p>
            <a:r>
              <a:rPr lang="en-US" dirty="0" smtClean="0"/>
              <a:t>Progressive creationism : </a:t>
            </a:r>
            <a:r>
              <a:rPr lang="ml-IN" dirty="0"/>
              <a:t>പുരോഗമന സൃഷ്ടി വാദ൦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68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creation of man </a:t>
            </a:r>
            <a:br>
              <a:rPr lang="en-US" dirty="0" smtClean="0"/>
            </a:br>
            <a:r>
              <a:rPr lang="ml-IN" dirty="0"/>
              <a:t>മനുഷ്യ സൃഷ്ടിപ്പ്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645569"/>
          </a:xfrm>
        </p:spPr>
        <p:txBody>
          <a:bodyPr>
            <a:normAutofit/>
          </a:bodyPr>
          <a:lstStyle/>
          <a:p>
            <a:r>
              <a:rPr lang="en-US" dirty="0" smtClean="0"/>
              <a:t>Genesis 1 : 26,27. 2: 7  god made man in  his own image and likeness. </a:t>
            </a:r>
          </a:p>
          <a:p>
            <a:r>
              <a:rPr lang="ml-IN" dirty="0" smtClean="0"/>
              <a:t>ദൈവ൦</a:t>
            </a:r>
            <a:r>
              <a:rPr lang="en-US" dirty="0" smtClean="0"/>
              <a:t> </a:t>
            </a:r>
            <a:r>
              <a:rPr lang="ml-IN" dirty="0" smtClean="0"/>
              <a:t>തന്റെ</a:t>
            </a:r>
            <a:r>
              <a:rPr lang="en-US" dirty="0" smtClean="0"/>
              <a:t> </a:t>
            </a:r>
            <a:r>
              <a:rPr lang="ml-IN" dirty="0" smtClean="0"/>
              <a:t>സാദൃശ്യത്തിലു൦</a:t>
            </a:r>
            <a:r>
              <a:rPr lang="en-US" dirty="0" smtClean="0"/>
              <a:t> </a:t>
            </a:r>
            <a:r>
              <a:rPr lang="ml-IN" dirty="0" smtClean="0"/>
              <a:t>സ്വരൂപത്തിലു൦</a:t>
            </a:r>
            <a:r>
              <a:rPr lang="en-US" dirty="0" smtClean="0"/>
              <a:t> </a:t>
            </a:r>
            <a:r>
              <a:rPr lang="ml-IN" dirty="0" smtClean="0"/>
              <a:t>മനുഷ്യനെ</a:t>
            </a:r>
            <a:r>
              <a:rPr lang="en-US" dirty="0" smtClean="0"/>
              <a:t> </a:t>
            </a:r>
            <a:r>
              <a:rPr lang="ml-IN" dirty="0" smtClean="0"/>
              <a:t>സൃഷ്ടിച്ചു.</a:t>
            </a:r>
            <a:endParaRPr lang="en-US" dirty="0" smtClean="0"/>
          </a:p>
          <a:p>
            <a:r>
              <a:rPr lang="en-US" dirty="0" smtClean="0"/>
              <a:t>genesis 1:1 – 2: 3  creation hymn </a:t>
            </a:r>
            <a:r>
              <a:rPr lang="ml-IN" dirty="0"/>
              <a:t>സൃഷ്ടിപ്പിൻ </a:t>
            </a:r>
            <a:r>
              <a:rPr lang="ml-IN" dirty="0" smtClean="0"/>
              <a:t>ഗാന൦</a:t>
            </a:r>
            <a:endParaRPr lang="en-US" dirty="0" smtClean="0"/>
          </a:p>
          <a:p>
            <a:r>
              <a:rPr lang="en-US" dirty="0" smtClean="0"/>
              <a:t>Creation means out of nothing he created. ‘</a:t>
            </a:r>
            <a:r>
              <a:rPr lang="en-US" dirty="0" err="1" smtClean="0"/>
              <a:t>creatio</a:t>
            </a:r>
            <a:r>
              <a:rPr lang="en-US" dirty="0" smtClean="0"/>
              <a:t> </a:t>
            </a:r>
            <a:r>
              <a:rPr lang="en-US" dirty="0" err="1" smtClean="0"/>
              <a:t>exnihilo</a:t>
            </a:r>
            <a:r>
              <a:rPr lang="en-US" dirty="0" smtClean="0"/>
              <a:t>’ </a:t>
            </a:r>
            <a:r>
              <a:rPr lang="ml-IN" dirty="0"/>
              <a:t>ഇല്ലാതിരുന്നതിനെ </a:t>
            </a:r>
            <a:r>
              <a:rPr lang="ml-IN" dirty="0" smtClean="0"/>
              <a:t>ഉരുവാക്കുക</a:t>
            </a:r>
            <a:endParaRPr lang="en-US" dirty="0" smtClean="0"/>
          </a:p>
          <a:p>
            <a:r>
              <a:rPr lang="en-US" dirty="0" smtClean="0"/>
              <a:t>Bara (</a:t>
            </a:r>
            <a:r>
              <a:rPr lang="en-US" dirty="0" err="1" smtClean="0"/>
              <a:t>hb</a:t>
            </a:r>
            <a:r>
              <a:rPr lang="en-US" dirty="0" smtClean="0"/>
              <a:t>) – out of nothing  </a:t>
            </a:r>
            <a:r>
              <a:rPr lang="ml-IN" dirty="0"/>
              <a:t>സൃഷ്ടിക്കുക</a:t>
            </a:r>
            <a:endParaRPr lang="en-US" dirty="0" smtClean="0"/>
          </a:p>
          <a:p>
            <a:r>
              <a:rPr lang="en-US" dirty="0" err="1" smtClean="0"/>
              <a:t>Asa</a:t>
            </a:r>
            <a:r>
              <a:rPr lang="en-US" dirty="0" smtClean="0"/>
              <a:t> (</a:t>
            </a:r>
            <a:r>
              <a:rPr lang="en-US" dirty="0" err="1" smtClean="0"/>
              <a:t>hb</a:t>
            </a:r>
            <a:r>
              <a:rPr lang="en-US" dirty="0" smtClean="0"/>
              <a:t>)   --  formed  </a:t>
            </a:r>
            <a:r>
              <a:rPr lang="ml-IN" dirty="0"/>
              <a:t>രൂപഭംഗി വരുത്തുക</a:t>
            </a:r>
            <a:endParaRPr lang="en-US" dirty="0" smtClean="0"/>
          </a:p>
          <a:p>
            <a:r>
              <a:rPr lang="en-US" dirty="0" err="1" smtClean="0"/>
              <a:t>yatsar</a:t>
            </a:r>
            <a:r>
              <a:rPr lang="en-US" dirty="0" smtClean="0"/>
              <a:t> (</a:t>
            </a:r>
            <a:r>
              <a:rPr lang="en-US" dirty="0" err="1" smtClean="0"/>
              <a:t>hb</a:t>
            </a:r>
            <a:r>
              <a:rPr lang="en-US" dirty="0" smtClean="0"/>
              <a:t>)-- made   </a:t>
            </a:r>
            <a:r>
              <a:rPr lang="ml-IN" dirty="0"/>
              <a:t>ഉണ്ടാക്കുക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59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Creation mystery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Genesis 2 : 7 </a:t>
            </a:r>
          </a:p>
          <a:p>
            <a:r>
              <a:rPr lang="en-US" dirty="0" smtClean="0"/>
              <a:t>1. god created man </a:t>
            </a:r>
            <a:r>
              <a:rPr lang="ml-IN" dirty="0" smtClean="0"/>
              <a:t>ദൈവ൦</a:t>
            </a:r>
            <a:r>
              <a:rPr lang="en-US" dirty="0" smtClean="0"/>
              <a:t> </a:t>
            </a:r>
            <a:r>
              <a:rPr lang="ml-IN" dirty="0" smtClean="0"/>
              <a:t>മനുഷ്യനെ</a:t>
            </a:r>
            <a:r>
              <a:rPr lang="en-US" dirty="0" smtClean="0"/>
              <a:t> </a:t>
            </a:r>
            <a:r>
              <a:rPr lang="ml-IN" dirty="0" smtClean="0"/>
              <a:t>സൃഷ്ടിച്ചു</a:t>
            </a:r>
            <a:endParaRPr lang="en-US" dirty="0" smtClean="0"/>
          </a:p>
          <a:p>
            <a:r>
              <a:rPr lang="en-US" dirty="0" smtClean="0"/>
              <a:t>2. from the dust of the ground </a:t>
            </a:r>
            <a:r>
              <a:rPr lang="ml-IN" dirty="0" smtClean="0"/>
              <a:t>നിലത്തിലെ</a:t>
            </a:r>
            <a:r>
              <a:rPr lang="en-US" dirty="0" smtClean="0"/>
              <a:t> </a:t>
            </a:r>
            <a:r>
              <a:rPr lang="ml-IN" dirty="0" smtClean="0"/>
              <a:t>പൊടിയിൽനിന്ന്</a:t>
            </a:r>
            <a:r>
              <a:rPr lang="en-US" dirty="0" smtClean="0"/>
              <a:t> </a:t>
            </a:r>
            <a:r>
              <a:rPr lang="ml-IN" dirty="0"/>
              <a:t>സൃഷ്ടിച്ചു</a:t>
            </a:r>
            <a:endParaRPr lang="en-US" dirty="0" smtClean="0"/>
          </a:p>
          <a:p>
            <a:r>
              <a:rPr lang="en-US" dirty="0" smtClean="0"/>
              <a:t>3. Breathed into his nostrils the breath of life </a:t>
            </a:r>
            <a:r>
              <a:rPr lang="ml-IN" dirty="0" smtClean="0"/>
              <a:t>മൂക്കിൽ</a:t>
            </a:r>
            <a:r>
              <a:rPr lang="en-US" dirty="0" smtClean="0"/>
              <a:t> </a:t>
            </a:r>
            <a:r>
              <a:rPr lang="ml-IN" dirty="0" smtClean="0"/>
              <a:t>ജീവശ്വാസം</a:t>
            </a:r>
            <a:r>
              <a:rPr lang="en-US" dirty="0" smtClean="0"/>
              <a:t> </a:t>
            </a:r>
            <a:r>
              <a:rPr lang="ml-IN" dirty="0" smtClean="0"/>
              <a:t>ഉൂതി</a:t>
            </a:r>
            <a:endParaRPr lang="en-US" dirty="0" smtClean="0"/>
          </a:p>
          <a:p>
            <a:r>
              <a:rPr lang="en-US" dirty="0" smtClean="0"/>
              <a:t>General belief : genesis first chapter is creation hymn and second chapter its explanation or narration. </a:t>
            </a:r>
            <a:r>
              <a:rPr lang="ml-IN" dirty="0" smtClean="0"/>
              <a:t>ഉല്പത്തി</a:t>
            </a:r>
            <a:r>
              <a:rPr lang="en-US" dirty="0" smtClean="0"/>
              <a:t> </a:t>
            </a:r>
            <a:r>
              <a:rPr lang="ml-IN" dirty="0" smtClean="0"/>
              <a:t>1-ാ൦</a:t>
            </a:r>
            <a:r>
              <a:rPr lang="en-US" dirty="0" smtClean="0"/>
              <a:t> </a:t>
            </a:r>
            <a:r>
              <a:rPr lang="ml-IN" dirty="0" smtClean="0"/>
              <a:t>അദ്ധ്യായത്തിന്റെ </a:t>
            </a:r>
            <a:r>
              <a:rPr lang="ml-IN" dirty="0"/>
              <a:t>തന്നെ </a:t>
            </a:r>
            <a:r>
              <a:rPr lang="ml-IN" dirty="0" smtClean="0"/>
              <a:t>വിശദീകരണമാണ്</a:t>
            </a:r>
            <a:r>
              <a:rPr lang="en-US" dirty="0" smtClean="0"/>
              <a:t> </a:t>
            </a:r>
            <a:r>
              <a:rPr lang="ml-IN" dirty="0" smtClean="0"/>
              <a:t>2-ാ൦</a:t>
            </a:r>
            <a:r>
              <a:rPr lang="en-US" dirty="0" smtClean="0"/>
              <a:t> </a:t>
            </a:r>
            <a:r>
              <a:rPr lang="ml-IN" dirty="0" smtClean="0"/>
              <a:t>അദ്ധ്യായ൦</a:t>
            </a:r>
            <a:r>
              <a:rPr lang="en-US" dirty="0" smtClean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977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Unique characteristics of human creation </a:t>
            </a:r>
            <a:br>
              <a:rPr lang="en-US" dirty="0" smtClean="0"/>
            </a:br>
            <a:r>
              <a:rPr lang="ml-IN" dirty="0"/>
              <a:t>മനുഷ്യ സൃഷ്ടിപ്പിലുള്ള സവിശേഷതകൾ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78192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1. genesis 1: 26  </a:t>
            </a:r>
            <a:r>
              <a:rPr lang="ml-IN" dirty="0" smtClean="0"/>
              <a:t>ദൈവീക</a:t>
            </a:r>
            <a:r>
              <a:rPr lang="en-US" dirty="0" smtClean="0"/>
              <a:t> </a:t>
            </a:r>
            <a:r>
              <a:rPr lang="ml-IN" dirty="0" smtClean="0"/>
              <a:t>ആലോചനയ്ക്കു</a:t>
            </a:r>
            <a:r>
              <a:rPr lang="en-US" dirty="0" smtClean="0"/>
              <a:t> </a:t>
            </a:r>
            <a:r>
              <a:rPr lang="ml-IN" dirty="0" smtClean="0"/>
              <a:t>ശേഷം</a:t>
            </a:r>
            <a:r>
              <a:rPr lang="en-US" dirty="0" smtClean="0"/>
              <a:t> after god’s council </a:t>
            </a:r>
          </a:p>
          <a:p>
            <a:r>
              <a:rPr lang="en-US" dirty="0" smtClean="0"/>
              <a:t>2. genesis 1:26,27, 2:7, Zechariah 12 : 1 forms spirit of man within him </a:t>
            </a:r>
            <a:r>
              <a:rPr lang="ml-IN" dirty="0" smtClean="0"/>
              <a:t>മനുഷ്യാത്മാവിനെ</a:t>
            </a:r>
            <a:r>
              <a:rPr lang="en-US" dirty="0" smtClean="0"/>
              <a:t> </a:t>
            </a:r>
            <a:r>
              <a:rPr lang="ml-IN" dirty="0" smtClean="0"/>
              <a:t>നല്കി</a:t>
            </a:r>
            <a:r>
              <a:rPr lang="en-US" dirty="0" smtClean="0"/>
              <a:t> </a:t>
            </a:r>
          </a:p>
          <a:p>
            <a:r>
              <a:rPr lang="en-US" dirty="0" smtClean="0"/>
              <a:t>3.</a:t>
            </a:r>
            <a:r>
              <a:rPr lang="ml-IN" dirty="0" smtClean="0"/>
              <a:t>ദൈവ൦</a:t>
            </a:r>
            <a:r>
              <a:rPr lang="en-US" dirty="0" smtClean="0"/>
              <a:t> </a:t>
            </a:r>
            <a:r>
              <a:rPr lang="ml-IN" dirty="0" smtClean="0"/>
              <a:t>തന്റെ</a:t>
            </a:r>
            <a:r>
              <a:rPr lang="en-US" dirty="0" smtClean="0"/>
              <a:t> </a:t>
            </a:r>
            <a:r>
              <a:rPr lang="ml-IN" dirty="0" smtClean="0"/>
              <a:t>സാദൃശ്യത്തിലു൦സ്വരൂപത്തിലു൦</a:t>
            </a:r>
            <a:r>
              <a:rPr lang="en-US" dirty="0" smtClean="0"/>
              <a:t> </a:t>
            </a:r>
            <a:r>
              <a:rPr lang="ml-IN" dirty="0" smtClean="0"/>
              <a:t>മനുഷ്യനെ</a:t>
            </a:r>
            <a:r>
              <a:rPr lang="en-US" dirty="0" smtClean="0"/>
              <a:t> </a:t>
            </a:r>
            <a:r>
              <a:rPr lang="ml-IN" dirty="0" smtClean="0"/>
              <a:t>സൃഷ്ടിച്ചു</a:t>
            </a:r>
            <a:r>
              <a:rPr lang="ml-IN" dirty="0"/>
              <a:t>.</a:t>
            </a:r>
            <a:endParaRPr lang="en-US" dirty="0" smtClean="0"/>
          </a:p>
          <a:p>
            <a:r>
              <a:rPr lang="en-US" dirty="0" smtClean="0"/>
              <a:t>4. dominion over all living things  </a:t>
            </a:r>
            <a:r>
              <a:rPr lang="ml-IN" dirty="0" smtClean="0"/>
              <a:t>സകലത്തേയും</a:t>
            </a:r>
            <a:r>
              <a:rPr lang="en-US" dirty="0" smtClean="0"/>
              <a:t> </a:t>
            </a:r>
            <a:r>
              <a:rPr lang="ml-IN" dirty="0" smtClean="0"/>
              <a:t>കീഴ്പ്പെടുത്തി</a:t>
            </a:r>
            <a:r>
              <a:rPr lang="en-US" dirty="0" smtClean="0"/>
              <a:t> </a:t>
            </a:r>
          </a:p>
          <a:p>
            <a:r>
              <a:rPr lang="en-US" dirty="0" smtClean="0"/>
              <a:t>5. vegetarian and </a:t>
            </a:r>
            <a:r>
              <a:rPr lang="en-US" dirty="0" err="1" smtClean="0"/>
              <a:t>frutarian</a:t>
            </a:r>
            <a:r>
              <a:rPr lang="en-US" dirty="0" smtClean="0"/>
              <a:t> </a:t>
            </a:r>
            <a:r>
              <a:rPr lang="ml-IN" dirty="0" smtClean="0"/>
              <a:t>സസ്യഭുക്കായിരുന്നു</a:t>
            </a:r>
            <a:r>
              <a:rPr lang="en-US" dirty="0" smtClean="0"/>
              <a:t>. </a:t>
            </a:r>
          </a:p>
          <a:p>
            <a:r>
              <a:rPr lang="en-US" dirty="0" smtClean="0"/>
              <a:t>6. has to obey god’s commandment 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ml-IN" dirty="0" smtClean="0"/>
              <a:t>ദൈവകല്പന</a:t>
            </a:r>
            <a:r>
              <a:rPr lang="en-US" dirty="0" smtClean="0"/>
              <a:t> </a:t>
            </a:r>
            <a:r>
              <a:rPr lang="ml-IN" dirty="0" smtClean="0"/>
              <a:t>അനുസരിക്കേണ്ടിയവനായിരുന്നു</a:t>
            </a:r>
            <a:r>
              <a:rPr lang="en-US" dirty="0" smtClean="0"/>
              <a:t>,</a:t>
            </a:r>
          </a:p>
          <a:p>
            <a:r>
              <a:rPr lang="en-US" dirty="0" smtClean="0"/>
              <a:t>7. submissive to god  </a:t>
            </a:r>
            <a:r>
              <a:rPr lang="ml-IN" dirty="0" smtClean="0"/>
              <a:t>കീഴ്പ്പെടേണ്ടവനായിരുന്നു</a:t>
            </a:r>
            <a:r>
              <a:rPr lang="en-US" dirty="0" smtClean="0"/>
              <a:t>.</a:t>
            </a:r>
          </a:p>
          <a:p>
            <a:r>
              <a:rPr lang="en-US" dirty="0" smtClean="0"/>
              <a:t>8. powerful   </a:t>
            </a:r>
            <a:r>
              <a:rPr lang="ml-IN" dirty="0"/>
              <a:t>ശക്തനായിരുന്നു</a:t>
            </a:r>
            <a:r>
              <a:rPr lang="en-US" dirty="0" smtClean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04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Image and likeness  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ml-IN" dirty="0" smtClean="0"/>
              <a:t>ദൈവ</a:t>
            </a:r>
            <a:r>
              <a:rPr lang="en-US" dirty="0" smtClean="0"/>
              <a:t> </a:t>
            </a:r>
            <a:r>
              <a:rPr lang="ml-IN" dirty="0" smtClean="0"/>
              <a:t>സ്വരൂപ-സാദൃശ്യങ്ങൾ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073245"/>
            <a:ext cx="9905998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God created man in his own image and likeness</a:t>
            </a:r>
          </a:p>
          <a:p>
            <a:r>
              <a:rPr lang="en-US" dirty="0" smtClean="0"/>
              <a:t>Terminology</a:t>
            </a:r>
          </a:p>
          <a:p>
            <a:r>
              <a:rPr lang="en-US" dirty="0" err="1" smtClean="0"/>
              <a:t>Tsalem</a:t>
            </a:r>
            <a:r>
              <a:rPr lang="en-US" dirty="0" smtClean="0"/>
              <a:t> (Hebrew) , icon (</a:t>
            </a:r>
            <a:r>
              <a:rPr lang="en-US" dirty="0" err="1" smtClean="0"/>
              <a:t>greek</a:t>
            </a:r>
            <a:r>
              <a:rPr lang="en-US" dirty="0" smtClean="0"/>
              <a:t>), </a:t>
            </a:r>
            <a:r>
              <a:rPr lang="en-US" dirty="0" err="1" smtClean="0"/>
              <a:t>emago</a:t>
            </a:r>
            <a:r>
              <a:rPr lang="en-US" dirty="0" smtClean="0"/>
              <a:t> (</a:t>
            </a:r>
            <a:r>
              <a:rPr lang="en-US" dirty="0" err="1" smtClean="0"/>
              <a:t>lattin</a:t>
            </a:r>
            <a:r>
              <a:rPr lang="en-US" dirty="0" smtClean="0"/>
              <a:t>), </a:t>
            </a:r>
            <a:r>
              <a:rPr lang="ml-IN" dirty="0" smtClean="0"/>
              <a:t>സ്വരൂപം</a:t>
            </a:r>
            <a:r>
              <a:rPr lang="en-US" dirty="0" smtClean="0"/>
              <a:t> (mal).</a:t>
            </a:r>
          </a:p>
          <a:p>
            <a:r>
              <a:rPr lang="en-US" dirty="0" err="1" smtClean="0"/>
              <a:t>Demooth</a:t>
            </a:r>
            <a:r>
              <a:rPr lang="en-US" dirty="0" smtClean="0"/>
              <a:t> (Hebrew), </a:t>
            </a:r>
            <a:r>
              <a:rPr lang="en-US" dirty="0" err="1" smtClean="0"/>
              <a:t>homoiosis</a:t>
            </a:r>
            <a:r>
              <a:rPr lang="en-US" dirty="0" smtClean="0"/>
              <a:t> ( </a:t>
            </a:r>
            <a:r>
              <a:rPr lang="en-US" dirty="0" err="1" smtClean="0"/>
              <a:t>greek</a:t>
            </a:r>
            <a:r>
              <a:rPr lang="en-US" dirty="0" smtClean="0"/>
              <a:t>). </a:t>
            </a:r>
            <a:r>
              <a:rPr lang="ml-IN" dirty="0" smtClean="0"/>
              <a:t>സാദൃശ്യം</a:t>
            </a:r>
            <a:r>
              <a:rPr lang="en-US" dirty="0" smtClean="0"/>
              <a:t> (mal),</a:t>
            </a:r>
          </a:p>
          <a:p>
            <a:r>
              <a:rPr lang="ml-IN" dirty="0" smtClean="0"/>
              <a:t>ശരീര</a:t>
            </a:r>
            <a:r>
              <a:rPr lang="en-US" dirty="0" smtClean="0"/>
              <a:t> </a:t>
            </a:r>
            <a:r>
              <a:rPr lang="ml-IN" dirty="0" smtClean="0"/>
              <a:t>രൂപമല്ല</a:t>
            </a:r>
            <a:r>
              <a:rPr lang="en-US" dirty="0" smtClean="0"/>
              <a:t>, </a:t>
            </a:r>
            <a:r>
              <a:rPr lang="ml-IN" dirty="0" smtClean="0"/>
              <a:t>നിവർന്നു</a:t>
            </a:r>
            <a:r>
              <a:rPr lang="en-US" dirty="0" smtClean="0"/>
              <a:t> </a:t>
            </a:r>
            <a:r>
              <a:rPr lang="ml-IN" dirty="0" smtClean="0"/>
              <a:t>നിൽക്കാനുള്ള</a:t>
            </a:r>
            <a:r>
              <a:rPr lang="en-US" dirty="0" smtClean="0"/>
              <a:t> </a:t>
            </a:r>
            <a:r>
              <a:rPr lang="ml-IN" dirty="0" smtClean="0"/>
              <a:t>കഴിവല്ല</a:t>
            </a:r>
            <a:r>
              <a:rPr lang="en-US" dirty="0" smtClean="0"/>
              <a:t>, </a:t>
            </a:r>
            <a:r>
              <a:rPr lang="ml-IN" dirty="0" smtClean="0"/>
              <a:t>മറിച്ച്</a:t>
            </a:r>
            <a:endParaRPr lang="en-US" dirty="0" smtClean="0"/>
          </a:p>
          <a:p>
            <a:r>
              <a:rPr lang="ml-IN" dirty="0" smtClean="0"/>
              <a:t>ദൈവത്തിന്റെ</a:t>
            </a:r>
            <a:r>
              <a:rPr lang="en-US" dirty="0" smtClean="0"/>
              <a:t> </a:t>
            </a:r>
            <a:r>
              <a:rPr lang="ml-IN" dirty="0" smtClean="0"/>
              <a:t>ആത്മപ്രകൃതിയാണ്</a:t>
            </a:r>
            <a:r>
              <a:rPr lang="en-US" dirty="0" smtClean="0"/>
              <a:t>. </a:t>
            </a:r>
          </a:p>
          <a:p>
            <a:r>
              <a:rPr lang="ml-IN" dirty="0" smtClean="0"/>
              <a:t>സ്വരൂപം</a:t>
            </a:r>
            <a:r>
              <a:rPr lang="en-US" dirty="0" smtClean="0"/>
              <a:t> 1Corinthians 11: 7, James 3: 9</a:t>
            </a:r>
          </a:p>
          <a:p>
            <a:r>
              <a:rPr lang="ml-IN" dirty="0" smtClean="0"/>
              <a:t>പ്രതിമ</a:t>
            </a:r>
            <a:r>
              <a:rPr lang="en-US" dirty="0" smtClean="0"/>
              <a:t> 2Corinthians 4: 4, Colossians 1: 15 Compare Hebrew 1: 3</a:t>
            </a:r>
          </a:p>
          <a:p>
            <a:r>
              <a:rPr lang="ml-IN" dirty="0" smtClean="0"/>
              <a:t>അനുരൂപ൦</a:t>
            </a:r>
            <a:r>
              <a:rPr lang="en-US" dirty="0" smtClean="0"/>
              <a:t> Romans 8:9, 1Cor 15:49, Ephesians 4: 22 – 24 Phil 3:21</a:t>
            </a:r>
          </a:p>
          <a:p>
            <a:r>
              <a:rPr lang="en-US" dirty="0" smtClean="0"/>
              <a:t>Colossians 2:9, John1:14, Philippians 2:6,7.  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2412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l-IN" dirty="0" smtClean="0"/>
              <a:t>ദൈവ</a:t>
            </a:r>
            <a:r>
              <a:rPr lang="en-US" dirty="0" smtClean="0"/>
              <a:t> </a:t>
            </a:r>
            <a:r>
              <a:rPr lang="ml-IN" dirty="0" smtClean="0"/>
              <a:t>സ്വരൂപ-സാദൃശ്യങ്ങൾ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ml-IN" dirty="0" smtClean="0"/>
              <a:t>വിവിധ</a:t>
            </a:r>
            <a:r>
              <a:rPr lang="en-US" dirty="0" smtClean="0"/>
              <a:t> </a:t>
            </a:r>
            <a:r>
              <a:rPr lang="ml-IN" dirty="0" smtClean="0"/>
              <a:t>വീക്ഷണങ്ങൾ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136619"/>
            <a:ext cx="9905998" cy="4019738"/>
          </a:xfrm>
        </p:spPr>
        <p:txBody>
          <a:bodyPr/>
          <a:lstStyle/>
          <a:p>
            <a:r>
              <a:rPr lang="en-US" dirty="0" smtClean="0"/>
              <a:t>Invisible                         </a:t>
            </a:r>
            <a:r>
              <a:rPr lang="ml-IN" dirty="0" smtClean="0"/>
              <a:t>അദൃശ്യമാണ്</a:t>
            </a:r>
            <a:endParaRPr lang="en-US" dirty="0" smtClean="0"/>
          </a:p>
          <a:p>
            <a:r>
              <a:rPr lang="en-US" dirty="0" smtClean="0"/>
              <a:t>Relationship with God  </a:t>
            </a:r>
            <a:r>
              <a:rPr lang="ml-IN" dirty="0" smtClean="0"/>
              <a:t>ദൈവീക</a:t>
            </a:r>
            <a:r>
              <a:rPr lang="en-US" dirty="0" smtClean="0"/>
              <a:t> </a:t>
            </a:r>
            <a:r>
              <a:rPr lang="ml-IN" dirty="0" smtClean="0"/>
              <a:t>ബന്ധ൦</a:t>
            </a:r>
            <a:endParaRPr lang="en-US" dirty="0" smtClean="0"/>
          </a:p>
          <a:p>
            <a:r>
              <a:rPr lang="en-US" dirty="0" smtClean="0"/>
              <a:t>Holy spirit                     </a:t>
            </a:r>
            <a:r>
              <a:rPr lang="ml-IN" dirty="0" smtClean="0"/>
              <a:t>പരിശുദ്ധാത്മാവു്</a:t>
            </a:r>
            <a:endParaRPr lang="en-US" dirty="0" smtClean="0"/>
          </a:p>
          <a:p>
            <a:r>
              <a:rPr lang="en-US" dirty="0" smtClean="0"/>
              <a:t>Eternity                         </a:t>
            </a:r>
            <a:r>
              <a:rPr lang="ml-IN" dirty="0" smtClean="0"/>
              <a:t>നിത്യത</a:t>
            </a:r>
            <a:endParaRPr lang="en-US" dirty="0" smtClean="0"/>
          </a:p>
          <a:p>
            <a:r>
              <a:rPr lang="en-US" dirty="0" smtClean="0"/>
              <a:t>Special Abilities           </a:t>
            </a:r>
            <a:r>
              <a:rPr lang="ml-IN" dirty="0" smtClean="0"/>
              <a:t>പ്രത്യേക</a:t>
            </a:r>
            <a:r>
              <a:rPr lang="en-US" dirty="0" smtClean="0"/>
              <a:t> </a:t>
            </a:r>
            <a:r>
              <a:rPr lang="ml-IN" dirty="0" smtClean="0"/>
              <a:t>കഴിവുകൾ</a:t>
            </a:r>
            <a:endParaRPr lang="en-US" dirty="0" smtClean="0"/>
          </a:p>
          <a:p>
            <a:r>
              <a:rPr lang="en-US" dirty="0" smtClean="0"/>
              <a:t>Moral and Ethics      </a:t>
            </a:r>
            <a:r>
              <a:rPr lang="ml-IN" dirty="0" smtClean="0"/>
              <a:t>സാന്മാർഗ്ഗീയത</a:t>
            </a:r>
            <a:endParaRPr lang="en-US" dirty="0" smtClean="0"/>
          </a:p>
          <a:p>
            <a:r>
              <a:rPr lang="en-US" dirty="0" smtClean="0"/>
              <a:t>Social nature            </a:t>
            </a:r>
            <a:r>
              <a:rPr lang="ml-IN" dirty="0" smtClean="0"/>
              <a:t>സാമൂഹ്യ</a:t>
            </a:r>
            <a:r>
              <a:rPr lang="en-US" dirty="0" smtClean="0"/>
              <a:t> </a:t>
            </a:r>
            <a:r>
              <a:rPr lang="ml-IN" dirty="0" smtClean="0"/>
              <a:t>സ്വഭാവ൦</a:t>
            </a:r>
            <a:endParaRPr lang="en-US" dirty="0"/>
          </a:p>
          <a:p>
            <a:r>
              <a:rPr lang="en-US" dirty="0" smtClean="0"/>
              <a:t>Psalm 8:4, Romans 11:33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52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Different Angles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Invisible</a:t>
            </a:r>
          </a:p>
          <a:p>
            <a:r>
              <a:rPr lang="en-US" dirty="0" smtClean="0"/>
              <a:t>Peculiarity</a:t>
            </a:r>
          </a:p>
          <a:p>
            <a:r>
              <a:rPr lang="en-US" dirty="0" smtClean="0"/>
              <a:t>Spirituality</a:t>
            </a:r>
          </a:p>
          <a:p>
            <a:pPr lvl="1"/>
            <a:r>
              <a:rPr lang="en-US" dirty="0" smtClean="0"/>
              <a:t>Relationship with God</a:t>
            </a:r>
          </a:p>
          <a:p>
            <a:pPr lvl="1"/>
            <a:r>
              <a:rPr lang="en-US" dirty="0" smtClean="0"/>
              <a:t>Holy spirit</a:t>
            </a:r>
          </a:p>
          <a:p>
            <a:pPr lvl="1"/>
            <a:r>
              <a:rPr lang="en-US" dirty="0" smtClean="0"/>
              <a:t>Eternity</a:t>
            </a:r>
          </a:p>
          <a:p>
            <a:r>
              <a:rPr lang="en-US" dirty="0" smtClean="0"/>
              <a:t>Intelligent</a:t>
            </a:r>
          </a:p>
          <a:p>
            <a:r>
              <a:rPr lang="en-US" dirty="0" smtClean="0"/>
              <a:t>Ethnics Character</a:t>
            </a:r>
          </a:p>
          <a:p>
            <a:r>
              <a:rPr lang="en-US" dirty="0" smtClean="0"/>
              <a:t>Social Character</a:t>
            </a:r>
          </a:p>
          <a:p>
            <a:r>
              <a:rPr lang="en-US" dirty="0" smtClean="0"/>
              <a:t>Psalm 8 : 4 , Romans 11 : 33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21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72716"/>
            <a:ext cx="9905998" cy="1532021"/>
          </a:xfrm>
        </p:spPr>
        <p:txBody>
          <a:bodyPr/>
          <a:lstStyle/>
          <a:p>
            <a:pPr algn="ctr"/>
            <a:r>
              <a:rPr lang="en-US" dirty="0" smtClean="0"/>
              <a:t>Biblical view  </a:t>
            </a:r>
            <a:r>
              <a:rPr lang="ml-IN" dirty="0" smtClean="0"/>
              <a:t>വേദപുസ്തക</a:t>
            </a:r>
            <a:r>
              <a:rPr lang="en-US" dirty="0" smtClean="0"/>
              <a:t> </a:t>
            </a:r>
            <a:r>
              <a:rPr lang="ml-IN" dirty="0" smtClean="0"/>
              <a:t>വീക്ഷണം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684421"/>
            <a:ext cx="9905998" cy="4932947"/>
          </a:xfrm>
        </p:spPr>
        <p:txBody>
          <a:bodyPr>
            <a:normAutofit/>
          </a:bodyPr>
          <a:lstStyle/>
          <a:p>
            <a:r>
              <a:rPr lang="en-US" dirty="0" smtClean="0"/>
              <a:t>Importance Of God’s Image</a:t>
            </a:r>
          </a:p>
          <a:p>
            <a:pPr lvl="1"/>
            <a:r>
              <a:rPr lang="en-US" dirty="0" smtClean="0"/>
              <a:t>Individual   : </a:t>
            </a:r>
            <a:r>
              <a:rPr lang="ml-IN" dirty="0"/>
              <a:t>വ്യക്തിപര൦</a:t>
            </a:r>
            <a:endParaRPr lang="en-US" dirty="0" smtClean="0"/>
          </a:p>
          <a:p>
            <a:pPr lvl="1"/>
            <a:r>
              <a:rPr lang="en-US" dirty="0" smtClean="0"/>
              <a:t>Community : </a:t>
            </a:r>
            <a:r>
              <a:rPr lang="ml-IN" dirty="0"/>
              <a:t>സാമൂഹ്യപര൦</a:t>
            </a:r>
            <a:endParaRPr lang="en-US" dirty="0" smtClean="0"/>
          </a:p>
          <a:p>
            <a:r>
              <a:rPr lang="en-US" dirty="0" smtClean="0"/>
              <a:t>Fall Of Mankind : </a:t>
            </a:r>
            <a:r>
              <a:rPr lang="ml-IN" dirty="0"/>
              <a:t>മനുഷ്യന്റെ വീഴ്ച</a:t>
            </a:r>
            <a:endParaRPr lang="en-US" dirty="0" smtClean="0"/>
          </a:p>
          <a:p>
            <a:pPr lvl="1"/>
            <a:r>
              <a:rPr lang="en-US" dirty="0" smtClean="0"/>
              <a:t>Gen 9:5,6. 5:1. Psalm 8:5. Mathew 6:26. James 3:9.</a:t>
            </a:r>
          </a:p>
          <a:p>
            <a:pPr lvl="1"/>
            <a:r>
              <a:rPr lang="en-US" dirty="0" smtClean="0"/>
              <a:t>Paul Romans 3:23,</a:t>
            </a:r>
          </a:p>
          <a:p>
            <a:pPr lvl="1"/>
            <a:r>
              <a:rPr lang="en-US" dirty="0" smtClean="0"/>
              <a:t>Spiritual Death : </a:t>
            </a:r>
            <a:r>
              <a:rPr lang="ml-IN" dirty="0"/>
              <a:t>ആത്മിക മരണ൦</a:t>
            </a:r>
            <a:endParaRPr lang="en-US" dirty="0" smtClean="0"/>
          </a:p>
          <a:p>
            <a:pPr lvl="1"/>
            <a:r>
              <a:rPr lang="en-US" dirty="0" smtClean="0"/>
              <a:t>Physical Death : </a:t>
            </a:r>
            <a:r>
              <a:rPr lang="ml-IN" dirty="0"/>
              <a:t>ശാരീരിക മരണം</a:t>
            </a:r>
            <a:endParaRPr lang="en-US" dirty="0" smtClean="0"/>
          </a:p>
          <a:p>
            <a:pPr lvl="1"/>
            <a:r>
              <a:rPr lang="en-US" dirty="0" smtClean="0"/>
              <a:t>Eternal Death   : </a:t>
            </a:r>
            <a:r>
              <a:rPr lang="ml-IN" dirty="0"/>
              <a:t>നിത്യ മരണം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9731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Human structure</a:t>
            </a:r>
            <a:br>
              <a:rPr lang="en-US" dirty="0" smtClean="0"/>
            </a:br>
            <a:r>
              <a:rPr lang="ml-IN" dirty="0" smtClean="0"/>
              <a:t>മനുഷ്യ</a:t>
            </a:r>
            <a:r>
              <a:rPr lang="en-US" dirty="0" smtClean="0"/>
              <a:t> </a:t>
            </a:r>
            <a:r>
              <a:rPr lang="ml-IN" dirty="0" smtClean="0"/>
              <a:t>ഘടന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082296"/>
            <a:ext cx="9905998" cy="4662535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Dichotomy  </a:t>
            </a:r>
            <a:r>
              <a:rPr lang="ml-IN" dirty="0" smtClean="0"/>
              <a:t>ദ്വിമാന</a:t>
            </a:r>
            <a:r>
              <a:rPr lang="en-US" dirty="0" smtClean="0"/>
              <a:t> </a:t>
            </a:r>
            <a:r>
              <a:rPr lang="ml-IN" dirty="0" smtClean="0"/>
              <a:t>വീക്ഷണം</a:t>
            </a:r>
            <a:endParaRPr lang="en-US" dirty="0" smtClean="0"/>
          </a:p>
          <a:p>
            <a:pPr lvl="1"/>
            <a:r>
              <a:rPr lang="en-US" b="1" dirty="0"/>
              <a:t>Genesis 2:7</a:t>
            </a:r>
            <a:r>
              <a:rPr lang="en-US" dirty="0"/>
              <a:t> – “The Lord God formed man of dust from the ground and breathed into his nostrils the breath of life, and man became a living soul.”</a:t>
            </a:r>
            <a:endParaRPr lang="en-US" dirty="0" smtClean="0"/>
          </a:p>
          <a:p>
            <a:r>
              <a:rPr lang="en-US" dirty="0" err="1" smtClean="0"/>
              <a:t>Trichotomy</a:t>
            </a:r>
            <a:r>
              <a:rPr lang="en-US" dirty="0" smtClean="0"/>
              <a:t>  </a:t>
            </a:r>
            <a:r>
              <a:rPr lang="ml-IN" dirty="0" smtClean="0"/>
              <a:t>ത്രിമാന</a:t>
            </a:r>
            <a:r>
              <a:rPr lang="en-US" dirty="0" smtClean="0"/>
              <a:t> </a:t>
            </a:r>
            <a:r>
              <a:rPr lang="ml-IN" dirty="0" smtClean="0"/>
              <a:t>വീക്ഷണം</a:t>
            </a:r>
            <a:endParaRPr lang="en-US" dirty="0" smtClean="0"/>
          </a:p>
          <a:p>
            <a:pPr lvl="1"/>
            <a:r>
              <a:rPr lang="en-US" b="1" dirty="0"/>
              <a:t>1 Thessalonians 5:23</a:t>
            </a:r>
            <a:r>
              <a:rPr lang="en-US" dirty="0"/>
              <a:t> – “May your whole spirit, soul, and body be kept blameless</a:t>
            </a:r>
            <a:r>
              <a:rPr lang="en-US" dirty="0" smtClean="0"/>
              <a:t>…”</a:t>
            </a:r>
          </a:p>
          <a:p>
            <a:pPr lvl="1"/>
            <a:r>
              <a:rPr lang="en-US" b="1" dirty="0"/>
              <a:t>Hebrews 4:12</a:t>
            </a:r>
            <a:r>
              <a:rPr lang="en-US" dirty="0"/>
              <a:t> – “Dividing soul and spirit…”</a:t>
            </a:r>
          </a:p>
          <a:p>
            <a:r>
              <a:rPr lang="en-US" dirty="0" smtClean="0"/>
              <a:t>1Thesselonians 5:23</a:t>
            </a:r>
          </a:p>
          <a:p>
            <a:pPr lvl="1"/>
            <a:r>
              <a:rPr lang="en-US" dirty="0" smtClean="0"/>
              <a:t>Body – SOMA      [Greek] </a:t>
            </a:r>
            <a:r>
              <a:rPr lang="ml-IN" dirty="0"/>
              <a:t>ദേഹ൦</a:t>
            </a:r>
            <a:endParaRPr lang="en-US" b="1" dirty="0" smtClean="0"/>
          </a:p>
          <a:p>
            <a:pPr lvl="1"/>
            <a:r>
              <a:rPr lang="en-US" dirty="0" smtClean="0"/>
              <a:t>Soul  –  PSUECHE {Greek} </a:t>
            </a:r>
            <a:r>
              <a:rPr lang="ml-IN" dirty="0"/>
              <a:t>ദേഹി</a:t>
            </a:r>
            <a:endParaRPr lang="en-US" dirty="0" smtClean="0"/>
          </a:p>
          <a:p>
            <a:pPr lvl="1"/>
            <a:r>
              <a:rPr lang="en-US" dirty="0" smtClean="0"/>
              <a:t>Spirit – PNEUMA  [Greek] </a:t>
            </a:r>
            <a:r>
              <a:rPr lang="ml-IN" dirty="0"/>
              <a:t>ആത്മാവ്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95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20436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Body </a:t>
            </a:r>
            <a:r>
              <a:rPr lang="ml-IN" sz="5400" b="1" dirty="0" smtClean="0"/>
              <a:t>ശരീര൦</a:t>
            </a:r>
            <a:r>
              <a:rPr lang="en-US" sz="5400" b="1" dirty="0" smtClean="0"/>
              <a:t> (</a:t>
            </a:r>
            <a:r>
              <a:rPr lang="ml-IN" sz="5400" b="1" dirty="0"/>
              <a:t>ദേഹ൦</a:t>
            </a:r>
            <a:r>
              <a:rPr lang="en-US" sz="5400" b="1" dirty="0" smtClean="0"/>
              <a:t>)</a:t>
            </a:r>
            <a:endParaRPr lang="en-IN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683946"/>
            <a:ext cx="9905998" cy="5024672"/>
          </a:xfrm>
        </p:spPr>
        <p:txBody>
          <a:bodyPr>
            <a:noAutofit/>
          </a:bodyPr>
          <a:lstStyle/>
          <a:p>
            <a:r>
              <a:rPr lang="en-US" sz="1600" b="1" dirty="0" smtClean="0"/>
              <a:t>God Created :  </a:t>
            </a:r>
            <a:r>
              <a:rPr lang="ml-IN" sz="1600" b="1" dirty="0"/>
              <a:t>ദൈവ൦ സൃഷ്ടിച്ചു</a:t>
            </a:r>
            <a:endParaRPr lang="en-US" sz="1600" b="1" dirty="0" smtClean="0"/>
          </a:p>
          <a:p>
            <a:r>
              <a:rPr lang="en-US" sz="1600" b="1" dirty="0" smtClean="0"/>
              <a:t>Genesis 2:7</a:t>
            </a:r>
          </a:p>
          <a:p>
            <a:r>
              <a:rPr lang="en-US" sz="1600" b="1" dirty="0"/>
              <a:t> </a:t>
            </a:r>
            <a:r>
              <a:rPr lang="en-US" sz="1600" b="1" dirty="0" smtClean="0"/>
              <a:t>     “     3:19</a:t>
            </a:r>
          </a:p>
          <a:p>
            <a:r>
              <a:rPr lang="en-US" sz="1600" b="1" dirty="0" smtClean="0"/>
              <a:t>Psalm 139:14</a:t>
            </a:r>
          </a:p>
          <a:p>
            <a:r>
              <a:rPr lang="en-US" sz="1600" b="1" dirty="0" smtClean="0"/>
              <a:t>1Corinthians 3:16,6:19</a:t>
            </a:r>
          </a:p>
          <a:p>
            <a:r>
              <a:rPr lang="en-US" sz="1600" b="1" dirty="0" smtClean="0"/>
              <a:t>2Corinthians 5:1</a:t>
            </a:r>
          </a:p>
          <a:p>
            <a:r>
              <a:rPr lang="en-US" sz="1600" b="1" dirty="0" smtClean="0"/>
              <a:t>Romans 12:1</a:t>
            </a:r>
          </a:p>
          <a:p>
            <a:r>
              <a:rPr lang="en-US" sz="1600" b="1" dirty="0" smtClean="0"/>
              <a:t>Hebrew 10:19</a:t>
            </a:r>
          </a:p>
          <a:p>
            <a:r>
              <a:rPr lang="en-US" sz="1600" b="1" dirty="0" smtClean="0"/>
              <a:t>John 5:26—29,</a:t>
            </a:r>
          </a:p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1600" b="1" dirty="0" smtClean="0"/>
              <a:t>    Philippians 3:20,21</a:t>
            </a:r>
          </a:p>
          <a:p>
            <a:r>
              <a:rPr lang="en-US" sz="1600" b="1" dirty="0" smtClean="0"/>
              <a:t>Two Types Of </a:t>
            </a:r>
            <a:r>
              <a:rPr lang="en-US" sz="1600" b="1" dirty="0" err="1" smtClean="0"/>
              <a:t>Resurection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 smtClean="0"/>
              <a:t>     For </a:t>
            </a:r>
            <a:r>
              <a:rPr lang="en-US" sz="1600" b="1" dirty="0"/>
              <a:t>Believers </a:t>
            </a:r>
            <a:r>
              <a:rPr lang="en-US" sz="1600" b="1" dirty="0" smtClean="0"/>
              <a:t>1Cor 15:35—52</a:t>
            </a:r>
            <a:r>
              <a:rPr lang="en-US" sz="1600" b="1" dirty="0"/>
              <a:t>, 1Thesselonians 4:16--18</a:t>
            </a:r>
          </a:p>
          <a:p>
            <a:r>
              <a:rPr lang="en-US" sz="1600" b="1" dirty="0"/>
              <a:t>For Non </a:t>
            </a:r>
            <a:r>
              <a:rPr lang="en-US" sz="1600" b="1" dirty="0" smtClean="0"/>
              <a:t>Believers Revelation 20</a:t>
            </a:r>
            <a:r>
              <a:rPr lang="en-US" sz="1600" b="1" dirty="0"/>
              <a:t>: 11--15</a:t>
            </a:r>
            <a:endParaRPr lang="en-IN" sz="1600" b="1" dirty="0"/>
          </a:p>
          <a:p>
            <a:pPr marL="0" indent="0">
              <a:buNone/>
            </a:pPr>
            <a:endParaRPr 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72279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200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 smtClean="0"/>
              <a:t>Soul </a:t>
            </a:r>
            <a:r>
              <a:rPr lang="ml-IN" sz="6600" b="1" dirty="0"/>
              <a:t>ദേഹി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60" y="1919334"/>
            <a:ext cx="9905998" cy="4390932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Heart : </a:t>
            </a:r>
            <a:r>
              <a:rPr lang="ml-IN" sz="2400" b="1" dirty="0" smtClean="0"/>
              <a:t>ഹൃദയ൦</a:t>
            </a:r>
            <a:r>
              <a:rPr lang="en-US" sz="2400" b="1" dirty="0" smtClean="0"/>
              <a:t> : </a:t>
            </a:r>
            <a:r>
              <a:rPr lang="ml-IN" sz="2400" b="1" dirty="0" smtClean="0"/>
              <a:t>ശാരീരിക</a:t>
            </a:r>
            <a:r>
              <a:rPr lang="en-US" sz="2400" b="1" dirty="0" smtClean="0"/>
              <a:t> </a:t>
            </a:r>
            <a:r>
              <a:rPr lang="ml-IN" sz="2400" b="1" dirty="0" smtClean="0"/>
              <a:t>അവയവത്തെയല്ല പരാമർശിക്കുന്നത്</a:t>
            </a:r>
            <a:r>
              <a:rPr lang="en-US" sz="2400" b="1" dirty="0" smtClean="0"/>
              <a:t>. </a:t>
            </a:r>
            <a:r>
              <a:rPr lang="ml-IN" sz="2400" b="1" dirty="0"/>
              <a:t>വികാരങ്ങളുടെ കേന്ദ്രം</a:t>
            </a:r>
            <a:endParaRPr lang="en-US" sz="2400" b="1" dirty="0" smtClean="0"/>
          </a:p>
          <a:p>
            <a:r>
              <a:rPr lang="en-US" sz="2400" b="1" dirty="0" smtClean="0"/>
              <a:t>Mind : </a:t>
            </a:r>
            <a:r>
              <a:rPr lang="ml-IN" sz="2400" b="1" dirty="0" smtClean="0"/>
              <a:t>മനസ്സ്</a:t>
            </a:r>
            <a:r>
              <a:rPr lang="en-US" sz="2400" b="1" dirty="0" smtClean="0"/>
              <a:t>: </a:t>
            </a:r>
            <a:r>
              <a:rPr lang="ml-IN" sz="2400" b="1" dirty="0"/>
              <a:t>പഞ്ചേന്ദ്രിയങ്ങളിലൂടെ മനന൦ ചെയ്യുകയും ബോധരൂപമായി ബുദ്ധിയിൽ സൂക്ഷിക്കുകയും </a:t>
            </a:r>
            <a:r>
              <a:rPr lang="ml-IN" sz="2400" b="1" dirty="0" smtClean="0"/>
              <a:t>ചെയ്യുന്നു</a:t>
            </a:r>
            <a:r>
              <a:rPr lang="en-US" sz="2400" b="1" dirty="0" smtClean="0"/>
              <a:t>.</a:t>
            </a:r>
            <a:r>
              <a:rPr lang="ml-IN" sz="2400" b="1" dirty="0"/>
              <a:t> ചിന്തകളുടെ </a:t>
            </a:r>
            <a:r>
              <a:rPr lang="ml-IN" sz="2400" b="1" dirty="0" smtClean="0"/>
              <a:t>ഇരിപ്പിടമാണ്</a:t>
            </a:r>
            <a:endParaRPr lang="en-US" sz="2400" b="1" dirty="0" smtClean="0"/>
          </a:p>
          <a:p>
            <a:r>
              <a:rPr lang="en-US" sz="2400" b="1" dirty="0" smtClean="0"/>
              <a:t>Willpower : </a:t>
            </a:r>
            <a:r>
              <a:rPr lang="ml-IN" sz="2400" b="1" dirty="0" smtClean="0"/>
              <a:t>ഇഛാശക്തി</a:t>
            </a:r>
            <a:r>
              <a:rPr lang="en-US" sz="2400" b="1" dirty="0" smtClean="0"/>
              <a:t> - </a:t>
            </a:r>
            <a:r>
              <a:rPr lang="ml-IN" sz="2400" b="1" dirty="0"/>
              <a:t>നിർണ്ണയത്തെ കുറിക്കുന്നു</a:t>
            </a:r>
            <a:endParaRPr lang="en-US" sz="2000" b="1" dirty="0" smtClean="0"/>
          </a:p>
          <a:p>
            <a:pPr lvl="1"/>
            <a:r>
              <a:rPr lang="en-US" sz="2000" b="1" dirty="0" smtClean="0"/>
              <a:t>Intellect : </a:t>
            </a:r>
            <a:r>
              <a:rPr lang="ml-IN" sz="2000" b="1" dirty="0" smtClean="0"/>
              <a:t>ബുദ്ധി</a:t>
            </a:r>
            <a:r>
              <a:rPr lang="en-US" sz="2000" b="1" dirty="0" smtClean="0"/>
              <a:t> - </a:t>
            </a:r>
            <a:r>
              <a:rPr lang="ml-IN" sz="2000" b="1" dirty="0"/>
              <a:t>അറിവിനെ കുറിക്കുന്നു</a:t>
            </a:r>
            <a:endParaRPr lang="en-US" sz="2000" b="1" dirty="0" smtClean="0"/>
          </a:p>
          <a:p>
            <a:pPr lvl="1"/>
            <a:r>
              <a:rPr lang="en-US" sz="2000" b="1" dirty="0" smtClean="0"/>
              <a:t>Understanding : </a:t>
            </a:r>
            <a:r>
              <a:rPr lang="ml-IN" sz="2000" b="1" dirty="0" smtClean="0"/>
              <a:t>ബോധ൦</a:t>
            </a:r>
            <a:r>
              <a:rPr lang="en-US" sz="2000" b="1" dirty="0" smtClean="0"/>
              <a:t> - </a:t>
            </a:r>
            <a:r>
              <a:rPr lang="ml-IN" sz="2000" b="1" dirty="0"/>
              <a:t>സ൦വേദനത്തെ കുറിക്കുന്നു</a:t>
            </a:r>
            <a:endParaRPr lang="en-US" sz="2000" b="1" dirty="0" smtClean="0"/>
          </a:p>
          <a:p>
            <a:r>
              <a:rPr lang="en-US" sz="2200" b="1" dirty="0" smtClean="0"/>
              <a:t>Conscience : </a:t>
            </a:r>
            <a:r>
              <a:rPr lang="ml-IN" sz="2200" b="1" dirty="0"/>
              <a:t>മനസ്സാക്ഷി</a:t>
            </a:r>
            <a:endParaRPr lang="en-US" sz="2200" b="1" dirty="0" smtClean="0"/>
          </a:p>
          <a:p>
            <a:pPr lvl="1"/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7160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290" y="172016"/>
            <a:ext cx="9905998" cy="8600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Conscience </a:t>
            </a:r>
            <a:r>
              <a:rPr lang="ml-IN" dirty="0"/>
              <a:t>മനസ്സാക്ഷി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348965"/>
            <a:ext cx="9905998" cy="534154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600" b="1" dirty="0" smtClean="0"/>
          </a:p>
          <a:p>
            <a:r>
              <a:rPr lang="en-US" sz="1800" b="1" dirty="0" smtClean="0"/>
              <a:t>Types of conscience : </a:t>
            </a:r>
            <a:r>
              <a:rPr lang="ml-IN" sz="1800" b="1" dirty="0" smtClean="0"/>
              <a:t>വിവിധ</a:t>
            </a:r>
            <a:r>
              <a:rPr lang="en-US" sz="1800" b="1" dirty="0" smtClean="0"/>
              <a:t> </a:t>
            </a:r>
            <a:r>
              <a:rPr lang="ml-IN" sz="1800" b="1" dirty="0" smtClean="0"/>
              <a:t>തരം</a:t>
            </a:r>
            <a:r>
              <a:rPr lang="en-US" sz="1800" b="1" dirty="0" smtClean="0"/>
              <a:t> </a:t>
            </a:r>
            <a:r>
              <a:rPr lang="ml-IN" sz="1800" b="1" dirty="0"/>
              <a:t>മനസ്സാക്ഷി</a:t>
            </a:r>
            <a:endParaRPr lang="en-US" sz="1800" b="1" dirty="0" smtClean="0"/>
          </a:p>
          <a:p>
            <a:pPr lvl="1"/>
            <a:r>
              <a:rPr lang="en-US" sz="1600" b="1" dirty="0"/>
              <a:t>Erring </a:t>
            </a:r>
            <a:r>
              <a:rPr lang="en-US" sz="1600" b="1" dirty="0" smtClean="0"/>
              <a:t>conscience :      </a:t>
            </a:r>
            <a:r>
              <a:rPr lang="ml-IN" sz="1600" b="1" dirty="0"/>
              <a:t>തെറ്റുന്ന 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Narrow </a:t>
            </a:r>
            <a:r>
              <a:rPr lang="en-US" sz="1600" b="1" dirty="0" smtClean="0"/>
              <a:t>conscience :    </a:t>
            </a:r>
            <a:r>
              <a:rPr lang="ml-IN" sz="1600" b="1" dirty="0" smtClean="0"/>
              <a:t>ഇടുങ്ങിയ</a:t>
            </a:r>
            <a:r>
              <a:rPr lang="en-US" sz="1600" b="1" dirty="0" smtClean="0"/>
              <a:t> </a:t>
            </a:r>
            <a:r>
              <a:rPr lang="ml-IN" sz="1600" b="1" dirty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Doubting </a:t>
            </a:r>
            <a:r>
              <a:rPr lang="en-US" sz="1600" b="1" dirty="0" smtClean="0"/>
              <a:t>conscience :  </a:t>
            </a:r>
            <a:r>
              <a:rPr lang="ml-IN" sz="1600" b="1" dirty="0" smtClean="0"/>
              <a:t>സ൦ശയിക്കുന്ന</a:t>
            </a:r>
            <a:r>
              <a:rPr lang="en-US" sz="1600" b="1" dirty="0" smtClean="0"/>
              <a:t> </a:t>
            </a:r>
            <a:r>
              <a:rPr lang="ml-IN" sz="1600" b="1" dirty="0"/>
              <a:t>മനസ്സാക്ഷി</a:t>
            </a:r>
            <a:r>
              <a:rPr lang="en-US" sz="1600" b="1" dirty="0" smtClean="0"/>
              <a:t> </a:t>
            </a:r>
          </a:p>
          <a:p>
            <a:pPr lvl="1"/>
            <a:r>
              <a:rPr lang="en-US" sz="1600" b="1" dirty="0"/>
              <a:t>Dead </a:t>
            </a:r>
            <a:r>
              <a:rPr lang="en-US" sz="1600" b="1" dirty="0" smtClean="0"/>
              <a:t>conscience     :     </a:t>
            </a:r>
            <a:r>
              <a:rPr lang="ml-IN" sz="1600" b="1" dirty="0" smtClean="0"/>
              <a:t>മൃത </a:t>
            </a:r>
            <a:r>
              <a:rPr lang="ml-IN" sz="1600" b="1" dirty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Social </a:t>
            </a:r>
            <a:r>
              <a:rPr lang="en-US" sz="1600" b="1" dirty="0" smtClean="0"/>
              <a:t>conscience   :    </a:t>
            </a:r>
            <a:r>
              <a:rPr lang="ml-IN" sz="1600" b="1" dirty="0" smtClean="0"/>
              <a:t>സാമൂഹ്യ</a:t>
            </a:r>
            <a:r>
              <a:rPr lang="en-US" sz="1600" b="1" dirty="0" smtClean="0"/>
              <a:t> </a:t>
            </a:r>
            <a:r>
              <a:rPr lang="ml-IN" sz="1600" b="1" dirty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Free </a:t>
            </a:r>
            <a:r>
              <a:rPr lang="en-US" sz="1600" b="1" dirty="0" smtClean="0"/>
              <a:t>conscience  :          </a:t>
            </a:r>
            <a:r>
              <a:rPr lang="ml-IN" sz="1600" b="1" dirty="0" smtClean="0"/>
              <a:t>സ്വതന്ത്ര</a:t>
            </a:r>
            <a:r>
              <a:rPr lang="en-US" sz="1600" b="1" dirty="0" smtClean="0"/>
              <a:t> </a:t>
            </a:r>
            <a:r>
              <a:rPr lang="ml-IN" sz="1600" b="1" dirty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 smtClean="0"/>
              <a:t>God </a:t>
            </a:r>
            <a:r>
              <a:rPr lang="en-US" sz="1600" b="1" dirty="0"/>
              <a:t>given </a:t>
            </a:r>
            <a:r>
              <a:rPr lang="en-US" sz="1600" b="1" dirty="0" smtClean="0"/>
              <a:t>conscience : </a:t>
            </a:r>
            <a:r>
              <a:rPr lang="ml-IN" sz="1600" b="1" dirty="0" smtClean="0"/>
              <a:t>ദൈവദാനമായ</a:t>
            </a:r>
            <a:r>
              <a:rPr lang="en-US" sz="1600" b="1" dirty="0" smtClean="0"/>
              <a:t> </a:t>
            </a:r>
            <a:r>
              <a:rPr lang="ml-IN" sz="1600" b="1" dirty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Good </a:t>
            </a:r>
            <a:r>
              <a:rPr lang="en-US" sz="1600" b="1" dirty="0" smtClean="0"/>
              <a:t>conscience      :   </a:t>
            </a:r>
            <a:r>
              <a:rPr lang="ml-IN" sz="1600" b="1" dirty="0" smtClean="0"/>
              <a:t>നല്ല</a:t>
            </a:r>
            <a:r>
              <a:rPr lang="en-US" sz="1600" b="1" dirty="0" smtClean="0"/>
              <a:t> </a:t>
            </a:r>
            <a:r>
              <a:rPr lang="ml-IN" sz="1600" b="1" dirty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Innocent </a:t>
            </a:r>
            <a:r>
              <a:rPr lang="en-US" sz="1600" b="1" dirty="0" smtClean="0"/>
              <a:t>conscience :   </a:t>
            </a:r>
            <a:r>
              <a:rPr lang="ml-IN" sz="1600" b="1" dirty="0" smtClean="0"/>
              <a:t>നിഷ്കളങ്ക</a:t>
            </a:r>
            <a:r>
              <a:rPr lang="en-US" sz="1600" b="1" dirty="0" smtClean="0"/>
              <a:t> (</a:t>
            </a:r>
            <a:r>
              <a:rPr lang="ml-IN" sz="1600" b="1" dirty="0"/>
              <a:t>കുറ്റമറ്റ</a:t>
            </a:r>
            <a:r>
              <a:rPr lang="en-US" sz="1600" b="1" dirty="0" smtClean="0"/>
              <a:t>) </a:t>
            </a:r>
            <a:r>
              <a:rPr lang="ml-IN" sz="1600" b="1" dirty="0" smtClean="0"/>
              <a:t>മനസ്സാക്ഷി</a:t>
            </a:r>
            <a:endParaRPr lang="en-US" sz="1600" b="1" dirty="0" smtClean="0"/>
          </a:p>
          <a:p>
            <a:pPr lvl="1"/>
            <a:r>
              <a:rPr lang="en-US" sz="1600" b="1" dirty="0"/>
              <a:t>Guilty </a:t>
            </a:r>
            <a:r>
              <a:rPr lang="en-US" sz="1600" b="1" dirty="0" smtClean="0"/>
              <a:t>conscience     :    </a:t>
            </a:r>
            <a:r>
              <a:rPr lang="ml-IN" sz="1600" b="1" dirty="0" smtClean="0"/>
              <a:t>തഴമ്പിച്ച</a:t>
            </a:r>
            <a:r>
              <a:rPr lang="en-US" sz="1600" b="1" dirty="0" smtClean="0"/>
              <a:t> (</a:t>
            </a:r>
            <a:r>
              <a:rPr lang="ml-IN" sz="1600" b="1" dirty="0"/>
              <a:t>കുറ്റമുള്ള</a:t>
            </a:r>
            <a:r>
              <a:rPr lang="en-US" sz="1600" b="1" dirty="0" smtClean="0"/>
              <a:t>) </a:t>
            </a:r>
            <a:r>
              <a:rPr lang="ml-IN" sz="1600" b="1" dirty="0" smtClean="0"/>
              <a:t>മനസ്സാക്ഷി</a:t>
            </a:r>
            <a:endParaRPr 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417997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91628"/>
          </a:xfrm>
        </p:spPr>
        <p:txBody>
          <a:bodyPr/>
          <a:lstStyle/>
          <a:p>
            <a:pPr algn="ctr"/>
            <a:r>
              <a:rPr lang="en-US" sz="6000" b="1" dirty="0" smtClean="0"/>
              <a:t>Spirit  </a:t>
            </a:r>
            <a:r>
              <a:rPr lang="ml-IN" sz="6000" b="1" dirty="0"/>
              <a:t>ആത്മാവ്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154725"/>
            <a:ext cx="9905998" cy="3636475"/>
          </a:xfrm>
        </p:spPr>
        <p:txBody>
          <a:bodyPr/>
          <a:lstStyle/>
          <a:p>
            <a:pPr lvl="1"/>
            <a:r>
              <a:rPr lang="en-US" dirty="0" err="1" smtClean="0"/>
              <a:t>Pneuma</a:t>
            </a:r>
            <a:r>
              <a:rPr lang="en-US" dirty="0" smtClean="0"/>
              <a:t> in Greek and </a:t>
            </a:r>
            <a:r>
              <a:rPr lang="en-US" dirty="0" err="1" smtClean="0"/>
              <a:t>Ruah</a:t>
            </a:r>
            <a:r>
              <a:rPr lang="en-US" dirty="0" smtClean="0"/>
              <a:t> in Hebrew</a:t>
            </a:r>
          </a:p>
          <a:p>
            <a:pPr lvl="1"/>
            <a:r>
              <a:rPr lang="en-US" dirty="0" smtClean="0"/>
              <a:t> </a:t>
            </a:r>
            <a:r>
              <a:rPr lang="ml-IN" dirty="0" smtClean="0"/>
              <a:t>ദൈവാത്മാവിൽ </a:t>
            </a:r>
            <a:r>
              <a:rPr lang="ml-IN" dirty="0"/>
              <a:t>നിന്ന് ജീവൻ പ്രാപിച്ച ജീവിയാണ് </a:t>
            </a:r>
            <a:r>
              <a:rPr lang="ml-IN" dirty="0" smtClean="0"/>
              <a:t>മനുഷ്യൻ</a:t>
            </a:r>
            <a:endParaRPr lang="en-US" dirty="0" smtClean="0"/>
          </a:p>
          <a:p>
            <a:pPr lvl="1"/>
            <a:r>
              <a:rPr lang="ml-IN" dirty="0"/>
              <a:t>എല്ലാറ്റിന്റെയും ഉറവിടം ദൈവത്തിന്റെ ആത്മാവു </a:t>
            </a:r>
            <a:r>
              <a:rPr lang="ml-IN" dirty="0" smtClean="0"/>
              <a:t>തന്നേ</a:t>
            </a:r>
            <a:endParaRPr lang="en-US" dirty="0" smtClean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08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37307"/>
          </a:xfrm>
        </p:spPr>
        <p:txBody>
          <a:bodyPr/>
          <a:lstStyle/>
          <a:p>
            <a:pPr algn="ctr"/>
            <a:r>
              <a:rPr lang="en-US" dirty="0" smtClean="0"/>
              <a:t>HUMAN SPIRIT </a:t>
            </a:r>
            <a:r>
              <a:rPr lang="ml-IN" dirty="0"/>
              <a:t>മനുഷ്യാത്മാവ്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947" y="2199993"/>
            <a:ext cx="9905998" cy="383565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Some </a:t>
            </a:r>
            <a:r>
              <a:rPr lang="en-US" dirty="0"/>
              <a:t>E</a:t>
            </a:r>
            <a:r>
              <a:rPr lang="en-US" dirty="0" smtClean="0"/>
              <a:t>ntient Believes  </a:t>
            </a:r>
            <a:r>
              <a:rPr lang="ml-IN" dirty="0"/>
              <a:t>ചില പുരാതന വിശ്വാസങ്ങൾ</a:t>
            </a:r>
            <a:r>
              <a:rPr lang="en-US" dirty="0" smtClean="0"/>
              <a:t> </a:t>
            </a:r>
          </a:p>
          <a:p>
            <a:r>
              <a:rPr lang="en-US" dirty="0" smtClean="0"/>
              <a:t>Vision of Hindus(India: </a:t>
            </a:r>
            <a:r>
              <a:rPr lang="ml-IN" dirty="0" smtClean="0"/>
              <a:t>നിത്യനും</a:t>
            </a:r>
            <a:r>
              <a:rPr lang="en-US" dirty="0" smtClean="0"/>
              <a:t> </a:t>
            </a:r>
            <a:r>
              <a:rPr lang="ml-IN" dirty="0" smtClean="0"/>
              <a:t>ഏകസനാതന</a:t>
            </a:r>
            <a:r>
              <a:rPr lang="en-US" dirty="0" smtClean="0"/>
              <a:t> </a:t>
            </a:r>
            <a:r>
              <a:rPr lang="ml-IN" dirty="0" smtClean="0"/>
              <a:t>സത്യവുമായ ബ്രഹ്മത്തിൽ</a:t>
            </a:r>
            <a:r>
              <a:rPr lang="en-US" dirty="0" smtClean="0"/>
              <a:t> </a:t>
            </a:r>
            <a:r>
              <a:rPr lang="ml-IN" dirty="0" smtClean="0"/>
              <a:t>നിന്ന്</a:t>
            </a:r>
            <a:r>
              <a:rPr lang="en-US" dirty="0" smtClean="0"/>
              <a:t> </a:t>
            </a:r>
            <a:r>
              <a:rPr lang="ml-IN" dirty="0" smtClean="0"/>
              <a:t>പുറപ്പെട്ടതാണ്</a:t>
            </a:r>
            <a:r>
              <a:rPr lang="en-US" dirty="0" smtClean="0"/>
              <a:t> </a:t>
            </a:r>
            <a:r>
              <a:rPr lang="ml-IN" dirty="0" smtClean="0"/>
              <a:t>മരണത്തിനു൦</a:t>
            </a:r>
            <a:r>
              <a:rPr lang="en-US" dirty="0" smtClean="0"/>
              <a:t> </a:t>
            </a:r>
            <a:r>
              <a:rPr lang="ml-IN" dirty="0" smtClean="0"/>
              <a:t>ജരാനരകൾക്കു൦ അതീതമായ</a:t>
            </a:r>
            <a:r>
              <a:rPr lang="en-US" dirty="0" smtClean="0"/>
              <a:t> </a:t>
            </a:r>
            <a:r>
              <a:rPr lang="ml-IN" dirty="0" smtClean="0"/>
              <a:t>ജീവാത്മാവ്</a:t>
            </a:r>
            <a:r>
              <a:rPr lang="en-US" dirty="0"/>
              <a:t> </a:t>
            </a:r>
            <a:r>
              <a:rPr lang="ml-IN" dirty="0"/>
              <a:t>ജന്മാന്തരങ്ങളിലൂടെ, കർമ്മപുനർജനനത്തിലൂടെ, </a:t>
            </a:r>
            <a:r>
              <a:rPr lang="ml-IN" dirty="0" smtClean="0"/>
              <a:t>അവസാനം</a:t>
            </a:r>
            <a:r>
              <a:rPr lang="en-US" dirty="0" smtClean="0"/>
              <a:t> </a:t>
            </a:r>
            <a:r>
              <a:rPr lang="ml-IN" dirty="0"/>
              <a:t>പരമാത്മാവിൽ </a:t>
            </a:r>
            <a:r>
              <a:rPr lang="ml-IN" dirty="0" smtClean="0"/>
              <a:t>ലയിക്കുന്നു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Vision of Greeks : </a:t>
            </a:r>
            <a:r>
              <a:rPr lang="ml-IN" dirty="0"/>
              <a:t>ഏകസനാതന സത്യമായ ദൈവത്തിൽ നിന്നുള്ള </a:t>
            </a:r>
            <a:r>
              <a:rPr lang="ml-IN" dirty="0" smtClean="0"/>
              <a:t>സ്ഫുലി൦ഗങ്ങളാണ്</a:t>
            </a:r>
            <a:r>
              <a:rPr lang="en-US" dirty="0" smtClean="0"/>
              <a:t> </a:t>
            </a:r>
            <a:r>
              <a:rPr lang="ml-IN" dirty="0" smtClean="0"/>
              <a:t>ആത്മാവ്</a:t>
            </a:r>
            <a:r>
              <a:rPr lang="en-US" dirty="0" smtClean="0"/>
              <a:t>. </a:t>
            </a:r>
            <a:r>
              <a:rPr lang="ml-IN" dirty="0" smtClean="0"/>
              <a:t>ശരീരം</a:t>
            </a:r>
            <a:r>
              <a:rPr lang="en-US" dirty="0" smtClean="0"/>
              <a:t> </a:t>
            </a:r>
            <a:r>
              <a:rPr lang="ml-IN" dirty="0" smtClean="0"/>
              <a:t>ആത്മാവിന്റെ</a:t>
            </a:r>
            <a:r>
              <a:rPr lang="en-US" dirty="0" smtClean="0"/>
              <a:t> </a:t>
            </a:r>
            <a:r>
              <a:rPr lang="ml-IN" dirty="0" smtClean="0"/>
              <a:t>തടവറയാണന്ന് </a:t>
            </a:r>
            <a:r>
              <a:rPr lang="ml-IN" dirty="0"/>
              <a:t>കരുതുന്നു</a:t>
            </a:r>
            <a:endParaRPr lang="en-US" dirty="0" smtClean="0"/>
          </a:p>
          <a:p>
            <a:r>
              <a:rPr lang="en-US" dirty="0" smtClean="0"/>
              <a:t>Vision of Christians : </a:t>
            </a:r>
            <a:r>
              <a:rPr lang="ml-IN" dirty="0" smtClean="0"/>
              <a:t>ഏകസത്യ</a:t>
            </a:r>
            <a:r>
              <a:rPr lang="en-US" dirty="0" smtClean="0"/>
              <a:t> </a:t>
            </a:r>
            <a:r>
              <a:rPr lang="ml-IN" dirty="0" smtClean="0"/>
              <a:t>ദൈവത്തിന്റെ</a:t>
            </a:r>
            <a:r>
              <a:rPr lang="en-US" dirty="0" smtClean="0"/>
              <a:t> </a:t>
            </a:r>
            <a:r>
              <a:rPr lang="ml-IN" dirty="0" smtClean="0"/>
              <a:t>സൃഷ്ടിയാണ്</a:t>
            </a:r>
            <a:r>
              <a:rPr lang="en-US" dirty="0" smtClean="0"/>
              <a:t> </a:t>
            </a:r>
            <a:r>
              <a:rPr lang="ml-IN" dirty="0" smtClean="0"/>
              <a:t>മനുഷ്യൻ.</a:t>
            </a:r>
            <a:r>
              <a:rPr lang="en-US" dirty="0" smtClean="0"/>
              <a:t> </a:t>
            </a:r>
            <a:r>
              <a:rPr lang="ml-IN" dirty="0" smtClean="0"/>
              <a:t>മർത്യനിൽ അമർത്ഥ്യവു൦</a:t>
            </a:r>
            <a:r>
              <a:rPr lang="en-US" dirty="0" smtClean="0"/>
              <a:t> </a:t>
            </a:r>
            <a:r>
              <a:rPr lang="ml-IN" dirty="0" smtClean="0"/>
              <a:t>അമൂർത്തവുമായ</a:t>
            </a:r>
            <a:r>
              <a:rPr lang="en-US" dirty="0" smtClean="0"/>
              <a:t> </a:t>
            </a:r>
            <a:r>
              <a:rPr lang="ml-IN" dirty="0" smtClean="0"/>
              <a:t>ഘടകം</a:t>
            </a:r>
            <a:r>
              <a:rPr lang="en-US" dirty="0" smtClean="0"/>
              <a:t> </a:t>
            </a:r>
            <a:r>
              <a:rPr lang="ml-IN" dirty="0" smtClean="0"/>
              <a:t>ഉണ്ടെന്നു൦</a:t>
            </a:r>
            <a:r>
              <a:rPr lang="en-US" dirty="0" smtClean="0"/>
              <a:t> </a:t>
            </a:r>
            <a:r>
              <a:rPr lang="ml-IN" dirty="0" smtClean="0"/>
              <a:t>അനശ്വരമായ</a:t>
            </a:r>
            <a:r>
              <a:rPr lang="en-US" dirty="0" smtClean="0"/>
              <a:t> </a:t>
            </a:r>
            <a:r>
              <a:rPr lang="ml-IN" dirty="0" smtClean="0"/>
              <a:t>ആത്മാവിന്റെ രക്ഷെക്കായി</a:t>
            </a:r>
            <a:r>
              <a:rPr lang="en-US" dirty="0" smtClean="0"/>
              <a:t> </a:t>
            </a:r>
            <a:r>
              <a:rPr lang="ml-IN" dirty="0" smtClean="0"/>
              <a:t>യേശുക്രിസ്തുവിൽ</a:t>
            </a:r>
            <a:r>
              <a:rPr lang="en-US" dirty="0" smtClean="0"/>
              <a:t> </a:t>
            </a:r>
            <a:r>
              <a:rPr lang="ml-IN" dirty="0" smtClean="0"/>
              <a:t>വിശ്വസിക്കേണം</a:t>
            </a:r>
            <a:r>
              <a:rPr lang="en-US" dirty="0" smtClean="0"/>
              <a:t> </a:t>
            </a:r>
            <a:r>
              <a:rPr lang="ml-IN" dirty="0" smtClean="0"/>
              <a:t>എന്നു</a:t>
            </a:r>
            <a:r>
              <a:rPr lang="en-US" dirty="0" smtClean="0"/>
              <a:t> </a:t>
            </a:r>
            <a:r>
              <a:rPr lang="ml-IN" dirty="0" smtClean="0"/>
              <a:t>പഠിപ്പിക്കുന്നു.</a:t>
            </a:r>
            <a:r>
              <a:rPr lang="en-US" dirty="0"/>
              <a:t> </a:t>
            </a:r>
            <a:r>
              <a:rPr lang="en-US" dirty="0" smtClean="0"/>
              <a:t> Genesis 1: 27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20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Theories Of The Origin Of The Spirit </a:t>
            </a:r>
            <a:r>
              <a:rPr lang="ml-IN" dirty="0"/>
              <a:t>ആത്മാവിന്റെ ഉല്പത്തിയെക്കുറിച്ചുള്ള    സിദ്ധാന്തങ്ങൾ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Pre-existence of the spirit : (</a:t>
            </a:r>
            <a:r>
              <a:rPr lang="ml-IN" dirty="0" smtClean="0"/>
              <a:t>പൂർവ്വാസ്ഥിത്വ</a:t>
            </a:r>
            <a:r>
              <a:rPr lang="en-US" dirty="0" smtClean="0"/>
              <a:t> </a:t>
            </a:r>
            <a:r>
              <a:rPr lang="ml-IN" dirty="0" smtClean="0"/>
              <a:t>സിദ്ധാന്തം</a:t>
            </a:r>
            <a:r>
              <a:rPr lang="en-US" dirty="0" smtClean="0"/>
              <a:t>)- </a:t>
            </a:r>
            <a:r>
              <a:rPr lang="ml-IN" dirty="0" smtClean="0"/>
              <a:t>ദൈവ൦</a:t>
            </a:r>
            <a:r>
              <a:rPr lang="en-US" dirty="0" smtClean="0"/>
              <a:t> </a:t>
            </a:r>
            <a:r>
              <a:rPr lang="ml-IN" dirty="0" smtClean="0"/>
              <a:t>ആദിയിൽ സർവ്വവും</a:t>
            </a:r>
            <a:r>
              <a:rPr lang="en-US" dirty="0" smtClean="0"/>
              <a:t> </a:t>
            </a:r>
            <a:r>
              <a:rPr lang="ml-IN" dirty="0" smtClean="0"/>
              <a:t>സൃഷ്ടിച്ചപ്പോൾ,</a:t>
            </a:r>
            <a:r>
              <a:rPr lang="en-US" dirty="0" smtClean="0"/>
              <a:t> </a:t>
            </a:r>
            <a:r>
              <a:rPr lang="ml-IN" dirty="0" smtClean="0"/>
              <a:t>ഭൂമിയിൽ</a:t>
            </a:r>
            <a:r>
              <a:rPr lang="en-US" dirty="0" smtClean="0"/>
              <a:t> </a:t>
            </a:r>
            <a:r>
              <a:rPr lang="ml-IN" dirty="0" smtClean="0"/>
              <a:t>ഉണ്ടാകുവാനുള്ള</a:t>
            </a:r>
            <a:r>
              <a:rPr lang="en-US" dirty="0" smtClean="0"/>
              <a:t> </a:t>
            </a:r>
            <a:r>
              <a:rPr lang="ml-IN" dirty="0" smtClean="0"/>
              <a:t>സകല ആത്മാക്കളെയും</a:t>
            </a:r>
            <a:r>
              <a:rPr lang="en-US" dirty="0" smtClean="0"/>
              <a:t> </a:t>
            </a:r>
            <a:r>
              <a:rPr lang="ml-IN" dirty="0" smtClean="0"/>
              <a:t>സൃഷ്ടിച്ചു</a:t>
            </a:r>
            <a:r>
              <a:rPr lang="en-US" dirty="0" smtClean="0"/>
              <a:t>.</a:t>
            </a:r>
          </a:p>
          <a:p>
            <a:r>
              <a:rPr lang="en-US" dirty="0" smtClean="0"/>
              <a:t>Creationism  : (</a:t>
            </a:r>
            <a:r>
              <a:rPr lang="ml-IN" dirty="0" smtClean="0"/>
              <a:t>സൃഷ്ടി</a:t>
            </a:r>
            <a:r>
              <a:rPr lang="en-US" dirty="0" smtClean="0"/>
              <a:t> </a:t>
            </a:r>
            <a:r>
              <a:rPr lang="ml-IN" dirty="0" smtClean="0"/>
              <a:t>സിദ്ധാന്തം</a:t>
            </a:r>
            <a:r>
              <a:rPr lang="en-US" dirty="0" smtClean="0"/>
              <a:t>) – </a:t>
            </a:r>
            <a:r>
              <a:rPr lang="ml-IN" dirty="0" smtClean="0"/>
              <a:t>ഓരോ</a:t>
            </a:r>
            <a:r>
              <a:rPr lang="en-US" dirty="0" smtClean="0"/>
              <a:t> </a:t>
            </a:r>
            <a:r>
              <a:rPr lang="ml-IN" dirty="0" smtClean="0"/>
              <a:t>വൃക്തികളിലു൦</a:t>
            </a:r>
            <a:r>
              <a:rPr lang="en-US" dirty="0" smtClean="0"/>
              <a:t> </a:t>
            </a:r>
            <a:r>
              <a:rPr lang="ml-IN" dirty="0" smtClean="0"/>
              <a:t>അവരവരുടെ</a:t>
            </a:r>
            <a:r>
              <a:rPr lang="en-US" dirty="0" smtClean="0"/>
              <a:t> </a:t>
            </a:r>
            <a:r>
              <a:rPr lang="ml-IN" dirty="0" smtClean="0"/>
              <a:t>ജനനസമയത്ത്</a:t>
            </a:r>
            <a:r>
              <a:rPr lang="en-US" dirty="0" smtClean="0"/>
              <a:t> </a:t>
            </a:r>
            <a:r>
              <a:rPr lang="ml-IN" dirty="0" smtClean="0"/>
              <a:t>ദൈവത്താൽ</a:t>
            </a:r>
            <a:r>
              <a:rPr lang="en-US" dirty="0" smtClean="0"/>
              <a:t> </a:t>
            </a:r>
            <a:r>
              <a:rPr lang="ml-IN" dirty="0" smtClean="0"/>
              <a:t>പുതുതായി</a:t>
            </a:r>
            <a:r>
              <a:rPr lang="en-US" dirty="0" smtClean="0"/>
              <a:t> </a:t>
            </a:r>
            <a:r>
              <a:rPr lang="ml-IN" dirty="0" smtClean="0"/>
              <a:t>സൃഷ്ടിക്കപ്പെട്ട</a:t>
            </a:r>
            <a:r>
              <a:rPr lang="en-US" dirty="0" smtClean="0"/>
              <a:t> </a:t>
            </a:r>
            <a:r>
              <a:rPr lang="ml-IN" dirty="0" smtClean="0"/>
              <a:t>ഒരാത്മാവ് ശരീരത്തിലേക്ക്</a:t>
            </a:r>
            <a:r>
              <a:rPr lang="en-US" dirty="0" smtClean="0"/>
              <a:t> </a:t>
            </a:r>
            <a:r>
              <a:rPr lang="ml-IN" dirty="0" smtClean="0"/>
              <a:t>പ്രവേശിക്കുന്നു</a:t>
            </a:r>
            <a:r>
              <a:rPr lang="ml-IN" dirty="0"/>
              <a:t>.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Traducianism</a:t>
            </a:r>
            <a:r>
              <a:rPr lang="en-US" dirty="0" smtClean="0"/>
              <a:t> : </a:t>
            </a:r>
            <a:r>
              <a:rPr lang="ml-IN" dirty="0" smtClean="0"/>
              <a:t>പരമ്പരാപ്രാപ്തി</a:t>
            </a:r>
            <a:r>
              <a:rPr lang="en-US" dirty="0" smtClean="0"/>
              <a:t> </a:t>
            </a:r>
            <a:r>
              <a:rPr lang="ml-IN" dirty="0" smtClean="0"/>
              <a:t>സിദ്ധാന്തം</a:t>
            </a:r>
            <a:r>
              <a:rPr lang="en-US" dirty="0" smtClean="0"/>
              <a:t> (</a:t>
            </a:r>
            <a:r>
              <a:rPr lang="ml-IN" dirty="0" smtClean="0"/>
              <a:t>ജൈവ</a:t>
            </a:r>
            <a:r>
              <a:rPr lang="en-US" dirty="0" smtClean="0"/>
              <a:t> </a:t>
            </a:r>
            <a:r>
              <a:rPr lang="ml-IN" dirty="0" smtClean="0"/>
              <a:t>സിദ്ധാന്തം</a:t>
            </a:r>
            <a:r>
              <a:rPr lang="en-US" dirty="0" smtClean="0"/>
              <a:t>)-  </a:t>
            </a:r>
            <a:r>
              <a:rPr lang="ml-IN" dirty="0" smtClean="0"/>
              <a:t>ശരീരത്തോടൊപ്പ൦</a:t>
            </a:r>
            <a:r>
              <a:rPr lang="en-US" dirty="0" smtClean="0"/>
              <a:t> </a:t>
            </a:r>
            <a:r>
              <a:rPr lang="ml-IN" dirty="0" smtClean="0"/>
              <a:t>അതേ</a:t>
            </a:r>
            <a:r>
              <a:rPr lang="en-US" dirty="0" smtClean="0"/>
              <a:t> </a:t>
            </a:r>
            <a:r>
              <a:rPr lang="ml-IN" dirty="0" smtClean="0"/>
              <a:t>പ്രകൃതി</a:t>
            </a:r>
            <a:r>
              <a:rPr lang="en-US" dirty="0" smtClean="0"/>
              <a:t> </a:t>
            </a:r>
            <a:r>
              <a:rPr lang="ml-IN" dirty="0" smtClean="0"/>
              <a:t>പ്രക്രിയയിലൂടെ</a:t>
            </a:r>
            <a:r>
              <a:rPr lang="en-US" dirty="0" smtClean="0"/>
              <a:t> </a:t>
            </a:r>
            <a:r>
              <a:rPr lang="ml-IN" dirty="0" smtClean="0"/>
              <a:t>തന്നെ</a:t>
            </a:r>
            <a:r>
              <a:rPr lang="en-US" dirty="0" smtClean="0"/>
              <a:t> </a:t>
            </a:r>
            <a:r>
              <a:rPr lang="ml-IN" dirty="0" smtClean="0"/>
              <a:t>ഒരു</a:t>
            </a:r>
            <a:r>
              <a:rPr lang="en-US" dirty="0" smtClean="0"/>
              <a:t> </a:t>
            </a:r>
            <a:r>
              <a:rPr lang="ml-IN" dirty="0" smtClean="0"/>
              <a:t>പുതിയ ആത്മാവു൦</a:t>
            </a:r>
            <a:r>
              <a:rPr lang="en-US" dirty="0" smtClean="0"/>
              <a:t> </a:t>
            </a:r>
            <a:r>
              <a:rPr lang="ml-IN" dirty="0" smtClean="0"/>
              <a:t>ഉത്ഭവിക്കുന്നു</a:t>
            </a:r>
            <a:r>
              <a:rPr lang="en-US" dirty="0" smtClean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87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Conclusion </a:t>
            </a:r>
            <a:r>
              <a:rPr lang="ml-IN" dirty="0"/>
              <a:t>ഉപസ൦ഹാര൦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l-IN" dirty="0"/>
              <a:t>പ്രകൃതി നിയമങ്ങൾ നല്കിയത് </a:t>
            </a:r>
            <a:r>
              <a:rPr lang="ml-IN" dirty="0" smtClean="0"/>
              <a:t>ദൈവമാണ്</a:t>
            </a:r>
            <a:endParaRPr lang="en-US" dirty="0" smtClean="0"/>
          </a:p>
          <a:p>
            <a:r>
              <a:rPr lang="ml-IN" dirty="0"/>
              <a:t>സൃഷ്ടിക്ക് ശേഷം സന്താനപുഷ്ടിയുള്ളവരായി പെരുകുവീൻ എന്നാണ് അരുളിച്ചെയ്തത്</a:t>
            </a:r>
            <a:r>
              <a:rPr lang="ml-IN" dirty="0" smtClean="0"/>
              <a:t>.</a:t>
            </a:r>
            <a:endParaRPr lang="en-US" dirty="0" smtClean="0"/>
          </a:p>
          <a:p>
            <a:r>
              <a:rPr lang="ml-IN" dirty="0"/>
              <a:t>ദേഹം, ദേഹി, ആത്മ സമസ്തമുള്ള ഏകത്വ ജീവിയാണ് </a:t>
            </a:r>
            <a:r>
              <a:rPr lang="ml-IN" dirty="0" smtClean="0"/>
              <a:t>മനുഷ്യൻ</a:t>
            </a:r>
            <a:r>
              <a:rPr lang="en-US" dirty="0" smtClean="0"/>
              <a:t>.</a:t>
            </a:r>
          </a:p>
          <a:p>
            <a:r>
              <a:rPr lang="en-US" dirty="0" smtClean="0"/>
              <a:t>“</a:t>
            </a:r>
            <a:r>
              <a:rPr lang="ml-IN" dirty="0" smtClean="0"/>
              <a:t>നീ </a:t>
            </a:r>
            <a:r>
              <a:rPr lang="ml-IN" dirty="0"/>
              <a:t>എന്നെ ഭയങ്കരവും അതിശയകരവുമായി സൃഷ്ടിച്ചിരിക്കയാൽ</a:t>
            </a:r>
            <a:r>
              <a:rPr lang="ml-IN" dirty="0" smtClean="0"/>
              <a:t>....</a:t>
            </a:r>
            <a:r>
              <a:rPr lang="en-US" dirty="0" smtClean="0"/>
              <a:t>” (Ps 139:13-17).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43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11274</TotalTime>
  <Words>1291</Words>
  <Application>Microsoft Office PowerPoint</Application>
  <PresentationFormat>Widescreen</PresentationFormat>
  <Paragraphs>204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Century Gothic</vt:lpstr>
      <vt:lpstr>Kartika</vt:lpstr>
      <vt:lpstr>Mangal</vt:lpstr>
      <vt:lpstr>Wingdings 3</vt:lpstr>
      <vt:lpstr>Mesh</vt:lpstr>
      <vt:lpstr>PowerPoint Presentation</vt:lpstr>
      <vt:lpstr>PowerPoint Presentation</vt:lpstr>
      <vt:lpstr>Anthropology നരവംശശാസ്ത്ര൦</vt:lpstr>
      <vt:lpstr>Introduction മുഖവുര</vt:lpstr>
      <vt:lpstr>Sceintific study zoology ജന്തുശാസ്ത്ര൦</vt:lpstr>
      <vt:lpstr>Some definitions ചില നിർവ്വചനങ്ങൾ</vt:lpstr>
      <vt:lpstr>Divisions of man   മനുഷ്യവർഗ്ഗ വിഭജന൦</vt:lpstr>
      <vt:lpstr>Names of man  മനുഷ്യന്റെ പേരുകൾ</vt:lpstr>
      <vt:lpstr>Greek words for man</vt:lpstr>
      <vt:lpstr>Different religious views  വിവിധ മത വീക്ഷണങ്ങൾ</vt:lpstr>
      <vt:lpstr>Different Christian beliefs  </vt:lpstr>
      <vt:lpstr>The creation of man  മനുഷ്യ സൃഷ്ടിപ്പ്</vt:lpstr>
      <vt:lpstr>Creation mystery</vt:lpstr>
      <vt:lpstr>Unique characteristics of human creation  മനുഷ്യ സൃഷ്ടിപ്പിലുള്ള സവിശേഷതകൾ</vt:lpstr>
      <vt:lpstr>Image and likeness    ദൈവ സ്വരൂപ-സാദൃശ്യങ്ങൾ</vt:lpstr>
      <vt:lpstr>ദൈവ സ്വരൂപ-സാദൃശ്യങ്ങൾ  വിവിധ വീക്ഷണങ്ങൾ</vt:lpstr>
      <vt:lpstr>Different Angles</vt:lpstr>
      <vt:lpstr>Biblical view  വേദപുസ്തക വീക്ഷണം</vt:lpstr>
      <vt:lpstr>Human structure മനുഷ്യ ഘടന</vt:lpstr>
      <vt:lpstr>Body ശരീര൦ (ദേഹ൦)</vt:lpstr>
      <vt:lpstr>Soul ദേഹി</vt:lpstr>
      <vt:lpstr>Conscience മനസ്സാക്ഷി </vt:lpstr>
      <vt:lpstr>Spirit  ആത്മാവ്</vt:lpstr>
      <vt:lpstr>HUMAN SPIRIT മനുഷ്യാത്മാവ്</vt:lpstr>
      <vt:lpstr>Theories Of The Origin Of The Spirit ആത്മാവിന്റെ ഉല്പത്തിയെക്കുറിച്ചുള്ള    സിദ്ധാന്തങ്ങൾ</vt:lpstr>
      <vt:lpstr>Conclusion ഉപസ൦ഹാര൦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Anthropology</dc:title>
  <dc:creator>DELL</dc:creator>
  <cp:lastModifiedBy>DELL</cp:lastModifiedBy>
  <cp:revision>139</cp:revision>
  <dcterms:created xsi:type="dcterms:W3CDTF">2025-08-20T07:22:50Z</dcterms:created>
  <dcterms:modified xsi:type="dcterms:W3CDTF">2026-02-23T09:54:34Z</dcterms:modified>
</cp:coreProperties>
</file>