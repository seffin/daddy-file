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7" r:id="rId2"/>
    <p:sldId id="258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6130-1667-4FAA-B20B-732D66CC0D7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39F61-60DB-4380-8E9D-E9820CC44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8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4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68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7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44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3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90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4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86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7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7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175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8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718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80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33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6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30B35B9-0305-4288-91AB-3770E4181A5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2B6F2-3B93-4B3E-AB88-F7495006A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85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Systematic Theology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8321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Bibliology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Hamartiology</a:t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79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000" dirty="0" smtClean="0"/>
              <a:t>Hamartiology</a:t>
            </a:r>
            <a:r>
              <a:rPr lang="en-US" sz="8000" dirty="0" smtClean="0"/>
              <a:t/>
            </a:r>
            <a:br>
              <a:rPr lang="en-US" sz="8000" dirty="0" smtClean="0"/>
            </a:br>
            <a:r>
              <a:rPr lang="ml-IN" dirty="0" smtClean="0"/>
              <a:t>പാപശാസ്ത൦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62067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HAMARTIOLOGY     </a:t>
            </a:r>
            <a:r>
              <a:rPr lang="ml-IN" dirty="0" smtClean="0"/>
              <a:t>പാപശാസ്ത൦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905817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</a:t>
            </a:r>
            <a:r>
              <a:rPr lang="ml-IN" dirty="0"/>
              <a:t>മുഖവുര</a:t>
            </a:r>
            <a:endParaRPr lang="en-US" dirty="0" smtClean="0"/>
          </a:p>
          <a:p>
            <a:r>
              <a:rPr lang="en-US" dirty="0" smtClean="0"/>
              <a:t>Terminology </a:t>
            </a:r>
            <a:r>
              <a:rPr lang="ml-IN" dirty="0" smtClean="0"/>
              <a:t>മൂലപദങ്ങൾ</a:t>
            </a:r>
            <a:endParaRPr lang="en-US" dirty="0" smtClean="0"/>
          </a:p>
          <a:p>
            <a:r>
              <a:rPr lang="en-US" dirty="0" smtClean="0"/>
              <a:t>Hebrew 1. </a:t>
            </a:r>
            <a:r>
              <a:rPr lang="en-US" dirty="0" err="1" smtClean="0"/>
              <a:t>Hattat</a:t>
            </a:r>
            <a:r>
              <a:rPr lang="en-US" dirty="0" smtClean="0"/>
              <a:t> – missing it mark </a:t>
            </a:r>
            <a:r>
              <a:rPr lang="ml-IN" dirty="0"/>
              <a:t>ലക്ഷ്യം </a:t>
            </a:r>
            <a:r>
              <a:rPr lang="ml-IN" dirty="0" smtClean="0"/>
              <a:t>തെറ്റുക</a:t>
            </a:r>
            <a:endParaRPr lang="en-US" dirty="0" smtClean="0"/>
          </a:p>
          <a:p>
            <a:r>
              <a:rPr lang="en-US" dirty="0" smtClean="0"/>
              <a:t>2. </a:t>
            </a:r>
            <a:r>
              <a:rPr lang="en-US" dirty="0" err="1" smtClean="0"/>
              <a:t>Pesha</a:t>
            </a:r>
            <a:r>
              <a:rPr lang="en-US" dirty="0" smtClean="0"/>
              <a:t>  : </a:t>
            </a:r>
            <a:r>
              <a:rPr lang="ml-IN" dirty="0" smtClean="0"/>
              <a:t>മത്സരം</a:t>
            </a:r>
            <a:r>
              <a:rPr lang="en-US" dirty="0" smtClean="0"/>
              <a:t> (</a:t>
            </a:r>
            <a:r>
              <a:rPr lang="ml-IN" dirty="0"/>
              <a:t>അധികാരത്തോട് മറുത്തു നിൽക്കുക</a:t>
            </a:r>
            <a:r>
              <a:rPr lang="en-US" dirty="0" smtClean="0"/>
              <a:t>)</a:t>
            </a:r>
          </a:p>
          <a:p>
            <a:r>
              <a:rPr lang="en-US" dirty="0" smtClean="0"/>
              <a:t> 3. </a:t>
            </a:r>
            <a:r>
              <a:rPr lang="en-US" dirty="0" err="1" smtClean="0"/>
              <a:t>Resha</a:t>
            </a:r>
            <a:r>
              <a:rPr lang="en-US" dirty="0" smtClean="0"/>
              <a:t>  : </a:t>
            </a:r>
            <a:r>
              <a:rPr lang="ml-IN" dirty="0"/>
              <a:t>ദുഷ്ടത, </a:t>
            </a:r>
            <a:r>
              <a:rPr lang="ml-IN" dirty="0" smtClean="0"/>
              <a:t>ദ്രോഹം</a:t>
            </a:r>
            <a:endParaRPr lang="en-US" dirty="0" smtClean="0"/>
          </a:p>
          <a:p>
            <a:r>
              <a:rPr lang="en-US" dirty="0" smtClean="0"/>
              <a:t>4. Chet : </a:t>
            </a:r>
            <a:r>
              <a:rPr lang="ml-IN" dirty="0"/>
              <a:t>തെറ്റ്, </a:t>
            </a:r>
            <a:r>
              <a:rPr lang="ml-IN" dirty="0" smtClean="0"/>
              <a:t>തോൽവി</a:t>
            </a:r>
            <a:endParaRPr lang="en-US" dirty="0" smtClean="0"/>
          </a:p>
          <a:p>
            <a:r>
              <a:rPr lang="en-US" dirty="0" smtClean="0"/>
              <a:t>Greek 1. Hamartia – miss the goal </a:t>
            </a:r>
            <a:r>
              <a:rPr lang="ml-IN" dirty="0"/>
              <a:t>ലക്ഷ്യം </a:t>
            </a:r>
            <a:r>
              <a:rPr lang="ml-IN" dirty="0" smtClean="0"/>
              <a:t>തെറ്റുക</a:t>
            </a:r>
            <a:r>
              <a:rPr lang="en-US" dirty="0" smtClean="0"/>
              <a:t> 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Parabasis</a:t>
            </a:r>
            <a:r>
              <a:rPr lang="en-US" dirty="0" smtClean="0"/>
              <a:t> </a:t>
            </a:r>
            <a:r>
              <a:rPr lang="ml-IN" dirty="0" smtClean="0"/>
              <a:t>ലംഘനം</a:t>
            </a:r>
            <a:r>
              <a:rPr lang="en-US" dirty="0" smtClean="0"/>
              <a:t>  3. </a:t>
            </a:r>
            <a:r>
              <a:rPr lang="en-US" dirty="0" err="1" smtClean="0"/>
              <a:t>Paraptoma</a:t>
            </a:r>
            <a:r>
              <a:rPr lang="en-US" dirty="0" smtClean="0"/>
              <a:t> </a:t>
            </a:r>
            <a:r>
              <a:rPr lang="ml-IN" dirty="0" smtClean="0"/>
              <a:t>അതിക്രമം</a:t>
            </a:r>
            <a:r>
              <a:rPr lang="en-US" dirty="0" smtClean="0"/>
              <a:t> 4. </a:t>
            </a:r>
            <a:r>
              <a:rPr lang="en-US" dirty="0" err="1" smtClean="0"/>
              <a:t>Ponerea</a:t>
            </a:r>
            <a:r>
              <a:rPr lang="en-US" dirty="0" smtClean="0"/>
              <a:t> </a:t>
            </a:r>
            <a:r>
              <a:rPr lang="ml-IN" dirty="0"/>
              <a:t>ദുഷ്ടത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53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/>
              <a:t>ചില നിർവ്വചനങ്ങൾ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ml-IN" dirty="0"/>
              <a:t>സഹ ജീവികൾക്ക് ദോഷ൦ വരുത്തുന്നത് </a:t>
            </a:r>
            <a:r>
              <a:rPr lang="ml-IN" dirty="0" smtClean="0"/>
              <a:t>പാപ൦</a:t>
            </a:r>
            <a:endParaRPr lang="en-US" dirty="0" smtClean="0"/>
          </a:p>
          <a:p>
            <a:r>
              <a:rPr lang="ml-IN" dirty="0"/>
              <a:t>മർദ്ദനവും ചൂഷണവു൦ </a:t>
            </a:r>
            <a:r>
              <a:rPr lang="ml-IN" dirty="0" smtClean="0"/>
              <a:t>പാപം</a:t>
            </a:r>
            <a:endParaRPr lang="en-US" dirty="0" smtClean="0"/>
          </a:p>
          <a:p>
            <a:r>
              <a:rPr lang="en-US" dirty="0" smtClean="0"/>
              <a:t>Violation of the Law is sin </a:t>
            </a:r>
            <a:r>
              <a:rPr lang="ml-IN" dirty="0"/>
              <a:t>നിയമ ല൦ഘനമാണ് </a:t>
            </a:r>
            <a:r>
              <a:rPr lang="ml-IN" dirty="0" smtClean="0"/>
              <a:t>പാപ൦</a:t>
            </a:r>
            <a:endParaRPr lang="en-US" dirty="0" smtClean="0"/>
          </a:p>
          <a:p>
            <a:r>
              <a:rPr lang="en-US" dirty="0" smtClean="0"/>
              <a:t>Greeks : Sin of omission and sin of commission  </a:t>
            </a:r>
            <a:r>
              <a:rPr lang="ml-IN" dirty="0"/>
              <a:t>ചെയ്യാൻ പാടില്ലാത്തത് ചെയ്യുന്നതും ചെയ്യേണ്ടത് ചെയ്യാതിരിക്കുന്നതു൦ </a:t>
            </a:r>
            <a:r>
              <a:rPr lang="ml-IN" dirty="0" smtClean="0"/>
              <a:t>പാപമാണ്</a:t>
            </a:r>
            <a:r>
              <a:rPr lang="en-US" dirty="0" smtClean="0"/>
              <a:t>.</a:t>
            </a:r>
          </a:p>
          <a:p>
            <a:r>
              <a:rPr lang="en-US" dirty="0" smtClean="0"/>
              <a:t>Hindu : </a:t>
            </a:r>
            <a:r>
              <a:rPr lang="ml-IN" dirty="0"/>
              <a:t>വരുണദേവനെതിരെ ചെയ്യുന്ന അതിക്രമമാണ് </a:t>
            </a:r>
            <a:r>
              <a:rPr lang="ml-IN" dirty="0" smtClean="0"/>
              <a:t>പാപം</a:t>
            </a:r>
            <a:endParaRPr lang="en-US" dirty="0" smtClean="0"/>
          </a:p>
          <a:p>
            <a:r>
              <a:rPr lang="en-US" dirty="0" smtClean="0"/>
              <a:t>Islam : </a:t>
            </a:r>
            <a:r>
              <a:rPr lang="ml-IN" dirty="0"/>
              <a:t>പാപത്തെ ചെറിയ </a:t>
            </a:r>
            <a:r>
              <a:rPr lang="ml-IN" dirty="0" smtClean="0"/>
              <a:t>പാപമെന്നു൦</a:t>
            </a:r>
            <a:r>
              <a:rPr lang="en-US" dirty="0" smtClean="0"/>
              <a:t>(</a:t>
            </a:r>
            <a:r>
              <a:rPr lang="en-US" dirty="0" err="1" smtClean="0"/>
              <a:t>Sagira</a:t>
            </a:r>
            <a:r>
              <a:rPr lang="en-US" dirty="0" smtClean="0"/>
              <a:t>)</a:t>
            </a:r>
            <a:r>
              <a:rPr lang="ml-IN" dirty="0" smtClean="0"/>
              <a:t> </a:t>
            </a:r>
            <a:r>
              <a:rPr lang="ml-IN" dirty="0"/>
              <a:t>വലിയ </a:t>
            </a:r>
            <a:r>
              <a:rPr lang="ml-IN" dirty="0" smtClean="0"/>
              <a:t>പാപമെന്നു൦</a:t>
            </a:r>
            <a:r>
              <a:rPr lang="en-US" dirty="0" smtClean="0"/>
              <a:t>(</a:t>
            </a:r>
            <a:r>
              <a:rPr lang="en-US" dirty="0" err="1" smtClean="0"/>
              <a:t>Kabira</a:t>
            </a:r>
            <a:r>
              <a:rPr lang="en-US" dirty="0" smtClean="0"/>
              <a:t>)</a:t>
            </a:r>
            <a:r>
              <a:rPr lang="ml-IN" dirty="0" smtClean="0"/>
              <a:t> </a:t>
            </a:r>
            <a:r>
              <a:rPr lang="ml-IN" dirty="0"/>
              <a:t>പറയുന്നു. പാപത്തിന് പരിഹാരം അനുതാപം </a:t>
            </a:r>
            <a:r>
              <a:rPr lang="ml-IN" dirty="0" smtClean="0"/>
              <a:t>മതി</a:t>
            </a:r>
            <a:r>
              <a:rPr lang="en-US" dirty="0" smtClean="0"/>
              <a:t>.</a:t>
            </a:r>
          </a:p>
          <a:p>
            <a:r>
              <a:rPr lang="en-US" dirty="0" smtClean="0"/>
              <a:t>Roman : </a:t>
            </a:r>
            <a:r>
              <a:rPr lang="ml-IN" dirty="0"/>
              <a:t>എല്ലാ പാപങ്ങളും ഒരുപോലെ മാത്ര൦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414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 smtClean="0"/>
              <a:t>പാപത്തിന്റെ</a:t>
            </a:r>
            <a:r>
              <a:rPr lang="en-US" dirty="0" smtClean="0"/>
              <a:t> </a:t>
            </a:r>
            <a:r>
              <a:rPr lang="ml-IN" dirty="0" smtClean="0"/>
              <a:t>താത്വിക</a:t>
            </a:r>
            <a:r>
              <a:rPr lang="en-US" dirty="0" smtClean="0"/>
              <a:t> </a:t>
            </a:r>
            <a:r>
              <a:rPr lang="ml-IN" dirty="0" smtClean="0"/>
              <a:t>വീക്ഷണ൦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God commanded to man Genesis 2: 15 – 17</a:t>
            </a:r>
          </a:p>
          <a:p>
            <a:r>
              <a:rPr lang="en-US" dirty="0" smtClean="0"/>
              <a:t>Decalogue and Laws</a:t>
            </a:r>
          </a:p>
          <a:p>
            <a:r>
              <a:rPr lang="en-US" dirty="0" smtClean="0"/>
              <a:t>1. Ceremonial Laws             </a:t>
            </a:r>
            <a:r>
              <a:rPr lang="ml-IN" dirty="0" smtClean="0"/>
              <a:t>ആചരണ നിയമങ്ങൾ</a:t>
            </a:r>
            <a:endParaRPr lang="en-US" dirty="0" smtClean="0"/>
          </a:p>
          <a:p>
            <a:r>
              <a:rPr lang="en-US" dirty="0" smtClean="0"/>
              <a:t>2. Constitutional Laws          </a:t>
            </a:r>
            <a:r>
              <a:rPr lang="ml-IN" dirty="0" smtClean="0"/>
              <a:t>ഭരണഘടനാ നിയമങ്ങൾ</a:t>
            </a:r>
            <a:endParaRPr lang="en-US" dirty="0" smtClean="0"/>
          </a:p>
          <a:p>
            <a:r>
              <a:rPr lang="en-US" dirty="0" smtClean="0"/>
              <a:t>3. Criminal Laws                    </a:t>
            </a:r>
            <a:r>
              <a:rPr lang="ml-IN" dirty="0" smtClean="0"/>
              <a:t>ശിക്ഷാ നിയമങ്ങൾ</a:t>
            </a:r>
            <a:endParaRPr lang="en-US" dirty="0" smtClean="0"/>
          </a:p>
          <a:p>
            <a:r>
              <a:rPr lang="en-US" dirty="0" smtClean="0"/>
              <a:t>4. Humane Laws                    </a:t>
            </a:r>
            <a:r>
              <a:rPr lang="ml-IN" dirty="0" smtClean="0"/>
              <a:t>കാരുണ്യ</a:t>
            </a:r>
            <a:r>
              <a:rPr lang="en-US" dirty="0" smtClean="0"/>
              <a:t> </a:t>
            </a:r>
            <a:r>
              <a:rPr lang="ml-IN" dirty="0" smtClean="0"/>
              <a:t>നിയമങ്ങൾ</a:t>
            </a:r>
            <a:endParaRPr lang="en-US" dirty="0" smtClean="0"/>
          </a:p>
          <a:p>
            <a:r>
              <a:rPr lang="en-US" dirty="0" smtClean="0"/>
              <a:t>5, Personal and Family Laws </a:t>
            </a:r>
            <a:r>
              <a:rPr lang="ml-IN" dirty="0"/>
              <a:t>വ്യക്തിപരവും </a:t>
            </a:r>
            <a:r>
              <a:rPr lang="ml-IN" dirty="0" smtClean="0"/>
              <a:t>കുടു൦ബപരവു൦</a:t>
            </a:r>
            <a:endParaRPr lang="en-US" dirty="0" smtClean="0"/>
          </a:p>
          <a:p>
            <a:r>
              <a:rPr lang="en-US" dirty="0" smtClean="0"/>
              <a:t>6. Property Laws                     </a:t>
            </a:r>
            <a:r>
              <a:rPr lang="ml-IN" dirty="0" smtClean="0"/>
              <a:t>സ്വത്തു നിയമങ്ങൾ</a:t>
            </a:r>
            <a:endParaRPr lang="en-US" dirty="0" smtClean="0"/>
          </a:p>
          <a:p>
            <a:r>
              <a:rPr lang="en-US" dirty="0" smtClean="0"/>
              <a:t>7. Obligational Laws              </a:t>
            </a:r>
            <a:r>
              <a:rPr lang="ml-IN" dirty="0" smtClean="0"/>
              <a:t>കടപ്പാട് </a:t>
            </a:r>
            <a:r>
              <a:rPr lang="ml-IN" dirty="0"/>
              <a:t>നിയമങ്ങൾ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79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Origin of Sin </a:t>
            </a:r>
            <a:r>
              <a:rPr lang="ml-IN" dirty="0"/>
              <a:t>പാപത്തിന്റെ ഉത്ഭവ൦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God is not the author </a:t>
            </a:r>
            <a:r>
              <a:rPr lang="en-US" dirty="0" err="1" smtClean="0"/>
              <a:t>ofsin</a:t>
            </a:r>
            <a:r>
              <a:rPr lang="en-US" dirty="0" smtClean="0"/>
              <a:t> </a:t>
            </a:r>
            <a:r>
              <a:rPr lang="ml-IN" dirty="0" smtClean="0"/>
              <a:t>ദൈവമല്ല</a:t>
            </a:r>
            <a:r>
              <a:rPr lang="en-US" dirty="0" smtClean="0"/>
              <a:t> </a:t>
            </a:r>
            <a:r>
              <a:rPr lang="ml-IN" dirty="0" smtClean="0"/>
              <a:t>പാപത്തിന്റെ</a:t>
            </a:r>
            <a:r>
              <a:rPr lang="en-US" dirty="0" smtClean="0"/>
              <a:t> </a:t>
            </a:r>
            <a:r>
              <a:rPr lang="ml-IN" dirty="0" smtClean="0"/>
              <a:t>സൃഷ്ടിതാവ്</a:t>
            </a:r>
            <a:endParaRPr lang="en-US" dirty="0" smtClean="0"/>
          </a:p>
          <a:p>
            <a:r>
              <a:rPr lang="en-US" dirty="0" smtClean="0"/>
              <a:t>Job 34:10, Isaiah 6:3, Psalm 92:15. 1John 3:8, John 8: 44</a:t>
            </a:r>
          </a:p>
          <a:p>
            <a:r>
              <a:rPr lang="en-US" dirty="0" smtClean="0"/>
              <a:t>Sin in Angelic Hosts </a:t>
            </a:r>
            <a:r>
              <a:rPr lang="ml-IN" dirty="0"/>
              <a:t>പാപം </a:t>
            </a:r>
            <a:r>
              <a:rPr lang="ml-IN" dirty="0" smtClean="0"/>
              <a:t>ദൂതന്മാരിൽ</a:t>
            </a:r>
            <a:endParaRPr lang="en-US" dirty="0" smtClean="0"/>
          </a:p>
          <a:p>
            <a:r>
              <a:rPr lang="en-US" dirty="0" smtClean="0"/>
              <a:t>Sin among Mankind </a:t>
            </a:r>
            <a:r>
              <a:rPr lang="ml-IN" dirty="0"/>
              <a:t>പാപ൦ മനുഷ്യ </a:t>
            </a:r>
            <a:r>
              <a:rPr lang="ml-IN" dirty="0" smtClean="0"/>
              <a:t>വർഗ്ഗത്തിൽ</a:t>
            </a:r>
            <a:endParaRPr lang="en-US" dirty="0" smtClean="0"/>
          </a:p>
          <a:p>
            <a:r>
              <a:rPr lang="en-US" dirty="0" smtClean="0"/>
              <a:t>Nature of Sin </a:t>
            </a:r>
            <a:r>
              <a:rPr lang="ml-IN" dirty="0"/>
              <a:t>പാപത്തിന്റെ </a:t>
            </a:r>
            <a:r>
              <a:rPr lang="ml-IN" dirty="0" smtClean="0"/>
              <a:t>സ്വഭാവം</a:t>
            </a:r>
            <a:r>
              <a:rPr lang="en-US" dirty="0" smtClean="0"/>
              <a:t> </a:t>
            </a:r>
          </a:p>
          <a:p>
            <a:r>
              <a:rPr lang="ml-IN" dirty="0" smtClean="0"/>
              <a:t>തിൻമ</a:t>
            </a:r>
            <a:r>
              <a:rPr lang="en-US" dirty="0" smtClean="0"/>
              <a:t>, </a:t>
            </a:r>
            <a:r>
              <a:rPr lang="ml-IN" dirty="0" smtClean="0"/>
              <a:t>ല൦ഘന൦</a:t>
            </a:r>
            <a:r>
              <a:rPr lang="en-US" dirty="0" smtClean="0"/>
              <a:t>, </a:t>
            </a:r>
            <a:r>
              <a:rPr lang="ml-IN" dirty="0" smtClean="0"/>
              <a:t>തെറ്റ്</a:t>
            </a:r>
            <a:r>
              <a:rPr lang="en-US" dirty="0" smtClean="0"/>
              <a:t>, </a:t>
            </a:r>
            <a:r>
              <a:rPr lang="ml-IN" dirty="0" smtClean="0"/>
              <a:t>സ്വാർത്ഥത</a:t>
            </a:r>
            <a:endParaRPr lang="en-US" dirty="0" smtClean="0"/>
          </a:p>
          <a:p>
            <a:r>
              <a:rPr lang="en-US" dirty="0" smtClean="0"/>
              <a:t>Two things happened due to Sin </a:t>
            </a:r>
            <a:r>
              <a:rPr lang="ml-IN" dirty="0" smtClean="0"/>
              <a:t>പാപത്താൽ</a:t>
            </a:r>
            <a:r>
              <a:rPr lang="en-US" dirty="0"/>
              <a:t> </a:t>
            </a:r>
            <a:r>
              <a:rPr lang="ml-IN" dirty="0" smtClean="0"/>
              <a:t>വന്ന</a:t>
            </a:r>
            <a:r>
              <a:rPr lang="en-US" dirty="0" smtClean="0"/>
              <a:t> </a:t>
            </a:r>
            <a:r>
              <a:rPr lang="ml-IN" dirty="0" smtClean="0"/>
              <a:t>രണ്ടു </a:t>
            </a:r>
            <a:r>
              <a:rPr lang="ml-IN" dirty="0"/>
              <a:t>കാര്യങ്ങൾ</a:t>
            </a:r>
            <a:endParaRPr lang="en-US" dirty="0" smtClean="0"/>
          </a:p>
          <a:p>
            <a:r>
              <a:rPr lang="en-US" dirty="0" smtClean="0"/>
              <a:t>1. Total inability  : </a:t>
            </a:r>
            <a:r>
              <a:rPr lang="ml-IN" dirty="0"/>
              <a:t>സമ്പൂർണ്ണ </a:t>
            </a:r>
            <a:r>
              <a:rPr lang="ml-IN" dirty="0" smtClean="0"/>
              <a:t>കഴിവില്ലായ്മ</a:t>
            </a:r>
            <a:endParaRPr lang="en-US" dirty="0" smtClean="0"/>
          </a:p>
          <a:p>
            <a:r>
              <a:rPr lang="en-US" dirty="0" smtClean="0"/>
              <a:t>2. Total depravity : </a:t>
            </a:r>
            <a:r>
              <a:rPr lang="ml-IN" dirty="0"/>
              <a:t>സമ്പൂർണ്ണ അധഃപതന൦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16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Universality of Sin  </a:t>
            </a:r>
            <a:r>
              <a:rPr lang="ml-IN" dirty="0" smtClean="0"/>
              <a:t>പാപത്തിന്റെ </a:t>
            </a:r>
            <a:r>
              <a:rPr lang="ml-IN" dirty="0"/>
              <a:t>സാർവ്വദേശീയത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dirty="0" smtClean="0"/>
              <a:t>പാപ൦</a:t>
            </a:r>
            <a:r>
              <a:rPr lang="en-US" dirty="0" smtClean="0"/>
              <a:t> </a:t>
            </a:r>
            <a:r>
              <a:rPr lang="ml-IN" dirty="0" smtClean="0"/>
              <a:t>സകലരിലു൦</a:t>
            </a:r>
            <a:r>
              <a:rPr lang="en-US" dirty="0" smtClean="0"/>
              <a:t> </a:t>
            </a:r>
            <a:r>
              <a:rPr lang="ml-IN" dirty="0" smtClean="0"/>
              <a:t>പരന്നു</a:t>
            </a:r>
            <a:r>
              <a:rPr lang="en-US" dirty="0" smtClean="0"/>
              <a:t> 1King 8:46, Romans 3: 23, 5: 12. </a:t>
            </a:r>
          </a:p>
          <a:p>
            <a:r>
              <a:rPr lang="ml-IN" dirty="0" smtClean="0"/>
              <a:t>പരിണിത</a:t>
            </a:r>
            <a:r>
              <a:rPr lang="en-US" dirty="0" smtClean="0"/>
              <a:t> </a:t>
            </a:r>
            <a:r>
              <a:rPr lang="ml-IN" dirty="0" smtClean="0"/>
              <a:t>ഫലങ്ങൾ</a:t>
            </a:r>
            <a:r>
              <a:rPr lang="en-US" dirty="0" smtClean="0"/>
              <a:t> </a:t>
            </a:r>
          </a:p>
          <a:p>
            <a:r>
              <a:rPr lang="en-US" dirty="0" smtClean="0"/>
              <a:t>1. </a:t>
            </a:r>
            <a:r>
              <a:rPr lang="ml-IN" dirty="0" smtClean="0"/>
              <a:t>കൂട്ടായ്മ</a:t>
            </a:r>
            <a:r>
              <a:rPr lang="en-US" dirty="0" smtClean="0"/>
              <a:t> </a:t>
            </a:r>
            <a:r>
              <a:rPr lang="ml-IN" dirty="0" smtClean="0"/>
              <a:t>നഷ്ടപ്പെട്ടു</a:t>
            </a:r>
            <a:r>
              <a:rPr lang="en-US" dirty="0" smtClean="0"/>
              <a:t> </a:t>
            </a:r>
          </a:p>
          <a:p>
            <a:r>
              <a:rPr lang="en-US" dirty="0" smtClean="0"/>
              <a:t>2. </a:t>
            </a:r>
            <a:r>
              <a:rPr lang="ml-IN" dirty="0"/>
              <a:t>നിഷ്കളങ്കത </a:t>
            </a:r>
            <a:r>
              <a:rPr lang="ml-IN" dirty="0" smtClean="0"/>
              <a:t>നഷ്ടപ്പെട്ടു</a:t>
            </a:r>
            <a:r>
              <a:rPr lang="en-US" dirty="0" smtClean="0"/>
              <a:t> </a:t>
            </a:r>
          </a:p>
          <a:p>
            <a:r>
              <a:rPr lang="en-US" dirty="0" smtClean="0"/>
              <a:t>3. </a:t>
            </a:r>
            <a:r>
              <a:rPr lang="ml-IN" dirty="0" smtClean="0"/>
              <a:t>മരണ൦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ml-IN" dirty="0"/>
              <a:t>ജീവിത </a:t>
            </a:r>
            <a:r>
              <a:rPr lang="ml-IN" dirty="0" smtClean="0"/>
              <a:t>യാതനകൾ</a:t>
            </a:r>
            <a:endParaRPr lang="en-US" dirty="0" smtClean="0"/>
          </a:p>
          <a:p>
            <a:r>
              <a:rPr lang="en-US" dirty="0" smtClean="0"/>
              <a:t>5. </a:t>
            </a:r>
            <a:r>
              <a:rPr lang="ml-IN" dirty="0" smtClean="0"/>
              <a:t>ശിക്ഷ</a:t>
            </a:r>
            <a:endParaRPr lang="en-US" dirty="0" smtClean="0"/>
          </a:p>
          <a:p>
            <a:r>
              <a:rPr lang="en-US" dirty="0" smtClean="0"/>
              <a:t>6. </a:t>
            </a:r>
            <a:r>
              <a:rPr lang="ml-IN" dirty="0" smtClean="0"/>
              <a:t>മാലിന്യം</a:t>
            </a:r>
            <a:endParaRPr lang="en-US" dirty="0" smtClean="0"/>
          </a:p>
          <a:p>
            <a:r>
              <a:rPr lang="en-US" dirty="0" smtClean="0"/>
              <a:t>7. </a:t>
            </a:r>
            <a:r>
              <a:rPr lang="ml-IN" dirty="0"/>
              <a:t>തെറ്റ്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06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Remission of Sin </a:t>
            </a:r>
            <a:r>
              <a:rPr lang="ml-IN" dirty="0"/>
              <a:t>പാപത്തിന്റെ മോചന൦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1. </a:t>
            </a:r>
            <a:r>
              <a:rPr lang="ml-IN" u="sng" dirty="0" smtClean="0"/>
              <a:t>മാനസാന്തരപ്പെടുക</a:t>
            </a:r>
            <a:endParaRPr lang="en-US" u="sng" dirty="0" smtClean="0"/>
          </a:p>
          <a:p>
            <a:r>
              <a:rPr lang="en-US" u="sng" dirty="0" smtClean="0"/>
              <a:t>2. </a:t>
            </a:r>
            <a:r>
              <a:rPr lang="ml-IN" u="sng" dirty="0" smtClean="0"/>
              <a:t>ഏറ്റുപറയുക</a:t>
            </a:r>
            <a:endParaRPr lang="en-US" u="sng" dirty="0" smtClean="0"/>
          </a:p>
          <a:p>
            <a:r>
              <a:rPr lang="en-US" u="sng" dirty="0" smtClean="0"/>
              <a:t>3. </a:t>
            </a:r>
            <a:r>
              <a:rPr lang="ml-IN" u="sng" dirty="0" smtClean="0"/>
              <a:t>പാപങ്ങളെ ഉപേക്ഷിക്കുക</a:t>
            </a:r>
            <a:endParaRPr lang="en-US" u="sng" dirty="0" smtClean="0"/>
          </a:p>
          <a:p>
            <a:r>
              <a:rPr lang="en-US" u="sng" dirty="0" smtClean="0"/>
              <a:t>4. </a:t>
            </a:r>
            <a:r>
              <a:rPr lang="ml-IN" u="sng" dirty="0" smtClean="0"/>
              <a:t>പാപത്തെക്കുറിച്ചു ദുഃഖിക്കുക</a:t>
            </a:r>
            <a:endParaRPr lang="en-US" u="sng" dirty="0" smtClean="0"/>
          </a:p>
          <a:p>
            <a:r>
              <a:rPr lang="en-US" u="sng" dirty="0" smtClean="0"/>
              <a:t>5. </a:t>
            </a:r>
            <a:r>
              <a:rPr lang="ml-IN" u="sng" dirty="0" smtClean="0"/>
              <a:t>ദൈവമുഖ൦ അന്വേഷിക്കുക</a:t>
            </a:r>
            <a:endParaRPr lang="en-US" u="sng" dirty="0" smtClean="0"/>
          </a:p>
          <a:p>
            <a:r>
              <a:rPr lang="en-US" u="sng" dirty="0" smtClean="0"/>
              <a:t>6. </a:t>
            </a:r>
            <a:r>
              <a:rPr lang="ml-IN" u="sng" dirty="0" smtClean="0"/>
              <a:t>ഇനിമേലാൽ പാപ൦ ചെയ്യാതിരിക്കുക</a:t>
            </a:r>
            <a:endParaRPr lang="en-US" u="sng" dirty="0" smtClean="0"/>
          </a:p>
          <a:p>
            <a:r>
              <a:rPr lang="en-US" u="sng" dirty="0" smtClean="0"/>
              <a:t>7. </a:t>
            </a:r>
            <a:r>
              <a:rPr lang="ml-IN" u="sng" dirty="0"/>
              <a:t>പാപത്തോട് </a:t>
            </a:r>
            <a:r>
              <a:rPr lang="ml-IN" u="sng" dirty="0" smtClean="0"/>
              <a:t>പോരാടണ൦</a:t>
            </a:r>
            <a:endParaRPr lang="en-US" u="sng" dirty="0" smtClean="0"/>
          </a:p>
          <a:p>
            <a:pPr marL="0" indent="0">
              <a:buNone/>
            </a:pPr>
            <a:r>
              <a:rPr lang="en-US" u="sng" dirty="0" smtClean="0"/>
              <a:t>        </a:t>
            </a:r>
            <a:r>
              <a:rPr lang="ml-IN" u="sng" dirty="0" smtClean="0"/>
              <a:t>കയീൻ </a:t>
            </a:r>
            <a:r>
              <a:rPr lang="ml-IN" u="sng" dirty="0"/>
              <a:t>തോറ്റു, യോസഫ് ജയിച്ചു. ദാവീദ് തോറ്റു, </a:t>
            </a:r>
            <a:r>
              <a:rPr lang="en-US" u="sng" dirty="0" smtClean="0"/>
              <a:t>             </a:t>
            </a:r>
            <a:r>
              <a:rPr lang="ml-IN" u="sng" dirty="0" smtClean="0"/>
              <a:t>ദാനിയേൽ </a:t>
            </a:r>
            <a:r>
              <a:rPr lang="ml-IN" u="sng" dirty="0"/>
              <a:t>ജയിച്ചു</a:t>
            </a:r>
            <a:r>
              <a:rPr lang="ml-IN" u="sng" dirty="0" smtClean="0"/>
              <a:t>.</a:t>
            </a:r>
            <a:r>
              <a:rPr lang="en-US" u="sng" dirty="0" smtClean="0"/>
              <a:t> </a:t>
            </a:r>
            <a:r>
              <a:rPr lang="ml-IN" u="sng" dirty="0"/>
              <a:t>നമ്മൾ വിജയിക്കണ൦. </a:t>
            </a:r>
            <a:endParaRPr lang="en-US" u="sng" dirty="0" smtClean="0"/>
          </a:p>
          <a:p>
            <a:r>
              <a:rPr lang="en-US" u="sng" dirty="0" smtClean="0"/>
              <a:t>Unforgivable Sin </a:t>
            </a:r>
            <a:r>
              <a:rPr lang="ml-IN" u="sng" dirty="0"/>
              <a:t>ക്ഷമിക്കപ്പെടാത്ത </a:t>
            </a:r>
            <a:r>
              <a:rPr lang="ml-IN" u="sng" dirty="0" smtClean="0"/>
              <a:t>പാപ൦</a:t>
            </a:r>
            <a:endParaRPr lang="en-US" u="sng" dirty="0" smtClean="0"/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52999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IMPUTATION THEORY </a:t>
            </a:r>
            <a:r>
              <a:rPr lang="ml-IN" dirty="0"/>
              <a:t>പാപാരോപണ സിദ്ധാന്തം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025757"/>
            <a:ext cx="8946541" cy="383183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Pelegian</a:t>
            </a:r>
            <a:r>
              <a:rPr lang="en-US" sz="2400" dirty="0" smtClean="0"/>
              <a:t> theory    </a:t>
            </a:r>
            <a:r>
              <a:rPr lang="ml-IN" sz="2400" dirty="0"/>
              <a:t>പെലേഗിയൻ </a:t>
            </a:r>
            <a:r>
              <a:rPr lang="ml-IN" sz="2400" dirty="0" smtClean="0"/>
              <a:t>സിദ്ധാന്തം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Armenian Theory   </a:t>
            </a:r>
            <a:r>
              <a:rPr lang="ml-IN" sz="2400" dirty="0"/>
              <a:t>അർമ്മേനിയൻ </a:t>
            </a:r>
            <a:r>
              <a:rPr lang="ml-IN" sz="2400" dirty="0" smtClean="0"/>
              <a:t>സിദ്ധാന്തം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Federal Theory       </a:t>
            </a:r>
            <a:r>
              <a:rPr lang="ml-IN" sz="2400" dirty="0"/>
              <a:t>ഫെഡറൽ </a:t>
            </a:r>
            <a:r>
              <a:rPr lang="ml-IN" sz="2400" dirty="0" smtClean="0"/>
              <a:t>സിദ്ധാന്തം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Mediate Imputation </a:t>
            </a:r>
            <a:r>
              <a:rPr lang="ml-IN" sz="2400" dirty="0"/>
              <a:t>ക്രമേണ കണക്കിടൽ </a:t>
            </a:r>
            <a:r>
              <a:rPr lang="ml-IN" sz="2400" dirty="0" smtClean="0"/>
              <a:t>സിദ്ധാന്തം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New School Theory  </a:t>
            </a:r>
            <a:r>
              <a:rPr lang="ml-IN" sz="2400" dirty="0"/>
              <a:t>പുതിയ പഠിപ്പിക്കൽ </a:t>
            </a:r>
            <a:r>
              <a:rPr lang="ml-IN" sz="2400" dirty="0" smtClean="0"/>
              <a:t>സിദ്ധാന്തം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Augustinian Theory  </a:t>
            </a:r>
            <a:r>
              <a:rPr lang="ml-IN" sz="2400" dirty="0"/>
              <a:t>അഗസ്റ്റീനിയൻ സിദ്ധാന്തം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342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596</TotalTime>
  <Words>427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Kartika</vt:lpstr>
      <vt:lpstr>Mangal</vt:lpstr>
      <vt:lpstr>Wingdings 3</vt:lpstr>
      <vt:lpstr>Ion</vt:lpstr>
      <vt:lpstr>PowerPoint Presentation</vt:lpstr>
      <vt:lpstr>PowerPoint Presentation</vt:lpstr>
      <vt:lpstr>Hamartiology പാപശാസ്ത൦</vt:lpstr>
      <vt:lpstr>HAMARTIOLOGY     പാപശാസ്ത൦ </vt:lpstr>
      <vt:lpstr>ചില നിർവ്വചനങ്ങൾ</vt:lpstr>
      <vt:lpstr>പാപത്തിന്റെ താത്വിക വീക്ഷണ൦</vt:lpstr>
      <vt:lpstr>Origin of Sin പാപത്തിന്റെ ഉത്ഭവ൦</vt:lpstr>
      <vt:lpstr>Universality of Sin  പാപത്തിന്റെ സാർവ്വദേശീയത</vt:lpstr>
      <vt:lpstr>Remission of Sin പാപത്തിന്റെ മോചന൦</vt:lpstr>
      <vt:lpstr>IMPUTATION THEORY പാപാരോപണ സിദ്ധാന്തം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32</cp:revision>
  <dcterms:created xsi:type="dcterms:W3CDTF">2026-02-23T09:49:35Z</dcterms:created>
  <dcterms:modified xsi:type="dcterms:W3CDTF">2026-02-25T08:19:27Z</dcterms:modified>
</cp:coreProperties>
</file>