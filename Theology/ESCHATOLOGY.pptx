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6" r:id="rId9"/>
    <p:sldId id="264" r:id="rId10"/>
    <p:sldId id="265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3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3/25/2026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 smtClean="0"/>
              <a:t>SYSTEMATIC THEOLOGY</a:t>
            </a:r>
            <a:endParaRPr lang="en-IN" sz="6000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₹₹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3014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157576" y="2076628"/>
            <a:ext cx="3901676" cy="45022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IN" sz="2400" dirty="0" smtClean="0"/>
              <a:t>1 . Bibliology </a:t>
            </a:r>
            <a:br>
              <a:rPr lang="en-IN" sz="2400" dirty="0" smtClean="0"/>
            </a:br>
            <a:r>
              <a:rPr lang="en-IN" sz="2400" dirty="0" smtClean="0"/>
              <a:t>2 . Theology Proper</a:t>
            </a:r>
            <a:br>
              <a:rPr lang="en-IN" sz="2400" dirty="0" smtClean="0"/>
            </a:br>
            <a:r>
              <a:rPr lang="en-IN" sz="2400" dirty="0" smtClean="0"/>
              <a:t>3 . Christology</a:t>
            </a:r>
            <a:br>
              <a:rPr lang="en-IN" sz="2400" dirty="0" smtClean="0"/>
            </a:br>
            <a:r>
              <a:rPr lang="en-IN" sz="2400" dirty="0" smtClean="0"/>
              <a:t>4 . Pneumatology</a:t>
            </a:r>
            <a:br>
              <a:rPr lang="en-IN" sz="2400" dirty="0" smtClean="0"/>
            </a:br>
            <a:r>
              <a:rPr lang="en-IN" sz="2400" dirty="0" smtClean="0"/>
              <a:t>5 . Angelology</a:t>
            </a:r>
            <a:br>
              <a:rPr lang="en-IN" sz="2400" dirty="0" smtClean="0"/>
            </a:br>
            <a:r>
              <a:rPr lang="en-IN" sz="2400" dirty="0" smtClean="0"/>
              <a:t>6 . Anthropology</a:t>
            </a:r>
            <a:br>
              <a:rPr lang="en-IN" sz="2400" dirty="0" smtClean="0"/>
            </a:br>
            <a:r>
              <a:rPr lang="en-IN" sz="2400" dirty="0" smtClean="0"/>
              <a:t>7 . Hamartiology</a:t>
            </a:r>
            <a:br>
              <a:rPr lang="en-IN" sz="2400" dirty="0" smtClean="0"/>
            </a:br>
            <a:r>
              <a:rPr lang="en-IN" sz="2400" dirty="0" smtClean="0"/>
              <a:t>8 . Soteriology</a:t>
            </a:r>
            <a:br>
              <a:rPr lang="en-IN" sz="2400" dirty="0" smtClean="0"/>
            </a:br>
            <a:r>
              <a:rPr lang="en-IN" sz="2400" dirty="0" smtClean="0"/>
              <a:t>9 . Ecclesiology</a:t>
            </a:r>
            <a:br>
              <a:rPr lang="en-IN" sz="2400" dirty="0" smtClean="0"/>
            </a:br>
            <a:r>
              <a:rPr lang="en-IN" sz="2400" dirty="0" smtClean="0"/>
              <a:t>10. Eschatology</a:t>
            </a:r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166130" y="2042313"/>
            <a:ext cx="9011622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വേദപുസ്തക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ദൈവത്തെക്കുറിച്ചുള്ള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ക്രിസ്തുവിനെക്കുറിച്ചുള്ള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ml-IN" sz="2400" b="1" dirty="0" smtClean="0"/>
              <a:t>പരിശുദ്ധാത്മാവിനെക്കുറിച്ചുള്ള</a:t>
            </a: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ദൂതന്മാരെക്കുറിച്ചുള്ള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മനുഷ്യനെക്കുറിച്ചുള്ള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പാപത്തെക്കുറിച്ചുള്ള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രക്ഷയെക്കുറിച്ചുള്ള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സഭയെക്കുറിച്ചുള്ള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അവസാനകാല സംഭവങ്ങളെക്കുറിച്ചുള്ള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10503" y="588027"/>
            <a:ext cx="1033666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4400" b="1" u="sng" dirty="0" smtClean="0"/>
              <a:t>Divisions Of Systematic Theology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6853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smtClean="0"/>
              <a:t>ESCHATOLOGY</a:t>
            </a:r>
            <a:endParaRPr lang="en-IN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5231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264987"/>
          </a:xfrm>
        </p:spPr>
        <p:txBody>
          <a:bodyPr/>
          <a:lstStyle/>
          <a:p>
            <a:pPr algn="ctr"/>
            <a:r>
              <a:rPr lang="en-US" dirty="0" smtClean="0"/>
              <a:t>ESCHATOLOGY     </a:t>
            </a:r>
            <a:br>
              <a:rPr lang="en-US" dirty="0" smtClean="0"/>
            </a:br>
            <a:r>
              <a:rPr lang="ml-IN" dirty="0" smtClean="0"/>
              <a:t>ഭാവികാല </a:t>
            </a:r>
            <a:r>
              <a:rPr lang="ml-IN" dirty="0"/>
              <a:t>ശാസ്ത്ര൦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871530"/>
            <a:ext cx="8946541" cy="4640366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Terminology</a:t>
            </a:r>
          </a:p>
          <a:p>
            <a:r>
              <a:rPr lang="en-US" dirty="0" err="1" smtClean="0"/>
              <a:t>Eschatos</a:t>
            </a:r>
            <a:r>
              <a:rPr lang="en-US" dirty="0" smtClean="0"/>
              <a:t> + Logos</a:t>
            </a:r>
          </a:p>
          <a:p>
            <a:r>
              <a:rPr lang="en-US" dirty="0" smtClean="0"/>
              <a:t>Meaning  : Study of the last things, the things to be happened   </a:t>
            </a:r>
            <a:r>
              <a:rPr lang="ml-IN" dirty="0"/>
              <a:t>ഇനി ലോകത്തിന് സ൦ഭവിക്കുവാൻ പോകുന്നത്</a:t>
            </a:r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1PETER 4 : 7 </a:t>
            </a:r>
          </a:p>
          <a:p>
            <a:r>
              <a:rPr lang="en-US" dirty="0" smtClean="0"/>
              <a:t>End of the all things  </a:t>
            </a:r>
            <a:r>
              <a:rPr lang="ml-IN" dirty="0"/>
              <a:t>എല്ലാറ്റിന്റെയും അവസാനം വന്നിരിക്കുന്നു</a:t>
            </a:r>
            <a:endParaRPr lang="en-US" dirty="0" smtClean="0"/>
          </a:p>
          <a:p>
            <a:r>
              <a:rPr lang="en-US" dirty="0" smtClean="0"/>
              <a:t> HEBREW 13 : 7  </a:t>
            </a:r>
          </a:p>
          <a:p>
            <a:r>
              <a:rPr lang="en-US" dirty="0" smtClean="0"/>
              <a:t>The  End of the Conversation    </a:t>
            </a:r>
            <a:r>
              <a:rPr lang="ml-IN" dirty="0"/>
              <a:t>ജീവാവസാന൦</a:t>
            </a:r>
            <a:r>
              <a:rPr lang="en-US" dirty="0" smtClean="0"/>
              <a:t>     - Individual eschatology </a:t>
            </a:r>
            <a:r>
              <a:rPr lang="ml-IN" dirty="0"/>
              <a:t>വ്യക്തി അന്ത്യ൦</a:t>
            </a:r>
            <a:r>
              <a:rPr lang="en-US" dirty="0" smtClean="0"/>
              <a:t>                            </a:t>
            </a:r>
          </a:p>
          <a:p>
            <a:r>
              <a:rPr lang="en-US" dirty="0" smtClean="0"/>
              <a:t>1CORINTHIANS 10 : 11 </a:t>
            </a:r>
          </a:p>
          <a:p>
            <a:r>
              <a:rPr lang="en-US" dirty="0" smtClean="0"/>
              <a:t> The end of the World     </a:t>
            </a:r>
            <a:r>
              <a:rPr lang="ml-IN" dirty="0"/>
              <a:t>ലോകാവസാന൦</a:t>
            </a:r>
            <a:r>
              <a:rPr lang="en-US" dirty="0" smtClean="0"/>
              <a:t>   - General eschatology  </a:t>
            </a:r>
            <a:r>
              <a:rPr lang="ml-IN" dirty="0"/>
              <a:t>പൊതു അന്ത്യ൦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8236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INDIVIDUAL ESCHATOLOGY  </a:t>
            </a:r>
            <a:r>
              <a:rPr lang="ml-IN" dirty="0"/>
              <a:t>വ്യക്തി അന്ത്യ൦</a:t>
            </a:r>
            <a:r>
              <a:rPr lang="en-US" dirty="0" smtClean="0"/>
              <a:t>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DEATH  </a:t>
            </a:r>
            <a:r>
              <a:rPr lang="ml-IN" dirty="0" smtClean="0"/>
              <a:t>മരണ൦</a:t>
            </a:r>
            <a:r>
              <a:rPr lang="en-US" dirty="0" smtClean="0"/>
              <a:t> </a:t>
            </a:r>
            <a:r>
              <a:rPr lang="ml-IN" dirty="0"/>
              <a:t>മൂന്ന് വിധ൦</a:t>
            </a:r>
            <a:endParaRPr lang="en-US" dirty="0" smtClean="0"/>
          </a:p>
          <a:p>
            <a:r>
              <a:rPr lang="en-US" dirty="0" smtClean="0"/>
              <a:t>Spiritual death </a:t>
            </a:r>
            <a:r>
              <a:rPr lang="ml-IN" dirty="0"/>
              <a:t>ആത്മീയ മരണ൦</a:t>
            </a:r>
            <a:endParaRPr lang="en-US" dirty="0" smtClean="0"/>
          </a:p>
          <a:p>
            <a:r>
              <a:rPr lang="en-US" dirty="0" smtClean="0"/>
              <a:t>Physical death  </a:t>
            </a:r>
            <a:r>
              <a:rPr lang="ml-IN" dirty="0"/>
              <a:t>ശാരീരിക മരണ൦</a:t>
            </a:r>
            <a:endParaRPr lang="en-US" dirty="0" smtClean="0"/>
          </a:p>
          <a:p>
            <a:r>
              <a:rPr lang="en-US" dirty="0" smtClean="0"/>
              <a:t>Eternal death  </a:t>
            </a:r>
            <a:r>
              <a:rPr lang="ml-IN" dirty="0"/>
              <a:t>നിത്യ മരണ൦</a:t>
            </a:r>
            <a:endParaRPr lang="en-US" dirty="0" smtClean="0"/>
          </a:p>
          <a:p>
            <a:r>
              <a:rPr lang="en-US" dirty="0" smtClean="0"/>
              <a:t>THEORIES (Encyclopedia Britannica)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Transmigration 	</a:t>
            </a:r>
            <a:r>
              <a:rPr lang="ml-IN" dirty="0"/>
              <a:t>പുനർജനന൦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Soul Sleep     </a:t>
            </a:r>
            <a:r>
              <a:rPr lang="ml-IN" dirty="0"/>
              <a:t>ദേഹി ഉറക്കം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Annihilation   </a:t>
            </a:r>
            <a:r>
              <a:rPr lang="ml-IN" dirty="0"/>
              <a:t>മരണത്തിനപ്പുറ൦ ഒന്നുമില്ല</a:t>
            </a: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Intermediate Place  </a:t>
            </a:r>
            <a:r>
              <a:rPr lang="ml-IN" dirty="0"/>
              <a:t>ഇടയ്ക്കുള്ള സ്ഥല൦</a:t>
            </a:r>
            <a:endParaRPr lang="en-US" dirty="0" smtClean="0"/>
          </a:p>
          <a:p>
            <a:pPr lvl="1"/>
            <a:r>
              <a:rPr lang="en-US" dirty="0" err="1" smtClean="0"/>
              <a:t>Limbus</a:t>
            </a:r>
            <a:r>
              <a:rPr lang="en-US" dirty="0" smtClean="0"/>
              <a:t> </a:t>
            </a:r>
            <a:r>
              <a:rPr lang="en-US" dirty="0" err="1" smtClean="0"/>
              <a:t>Infantum</a:t>
            </a:r>
            <a:endParaRPr lang="en-US" dirty="0" smtClean="0"/>
          </a:p>
          <a:p>
            <a:pPr lvl="1"/>
            <a:r>
              <a:rPr lang="en-US" dirty="0" err="1" smtClean="0"/>
              <a:t>Limbus</a:t>
            </a:r>
            <a:r>
              <a:rPr lang="en-US" dirty="0" smtClean="0"/>
              <a:t> </a:t>
            </a:r>
            <a:r>
              <a:rPr lang="en-US" dirty="0" err="1" smtClean="0"/>
              <a:t>Patrum</a:t>
            </a:r>
            <a:endParaRPr lang="en-US" dirty="0" smtClean="0"/>
          </a:p>
          <a:p>
            <a:pPr lvl="1"/>
            <a:r>
              <a:rPr lang="en-US" dirty="0" smtClean="0"/>
              <a:t>Purgatory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223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130" y="606543"/>
            <a:ext cx="9404723" cy="820605"/>
          </a:xfrm>
        </p:spPr>
        <p:txBody>
          <a:bodyPr/>
          <a:lstStyle/>
          <a:p>
            <a:r>
              <a:rPr lang="en-US" sz="3200" dirty="0" smtClean="0"/>
              <a:t>5.  </a:t>
            </a:r>
            <a:r>
              <a:rPr lang="en-US" sz="2400" dirty="0" smtClean="0"/>
              <a:t>Intermediate State(</a:t>
            </a:r>
            <a:r>
              <a:rPr lang="ml-IN" sz="2400" dirty="0" smtClean="0"/>
              <a:t>ഇടവേള</a:t>
            </a:r>
            <a:r>
              <a:rPr lang="en-US" sz="2400" dirty="0" smtClean="0"/>
              <a:t>-</a:t>
            </a:r>
            <a:r>
              <a:rPr lang="ml-IN" sz="2400" dirty="0" smtClean="0"/>
              <a:t>അവസ്ഥ</a:t>
            </a:r>
            <a:r>
              <a:rPr lang="en-US" sz="2400" dirty="0" smtClean="0"/>
              <a:t>)  Biblical Concepts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4945" y="1679500"/>
            <a:ext cx="8946541" cy="4195481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Genesis 37 : 35, 42 : 38, 44 : 29,31</a:t>
            </a:r>
          </a:p>
          <a:p>
            <a:r>
              <a:rPr lang="en-US" dirty="0" smtClean="0"/>
              <a:t> Job14 : 13, 17 : 13 Upper </a:t>
            </a:r>
            <a:r>
              <a:rPr lang="en-US" dirty="0" err="1" smtClean="0"/>
              <a:t>Sheol</a:t>
            </a:r>
            <a:endParaRPr lang="en-US" dirty="0" smtClean="0"/>
          </a:p>
          <a:p>
            <a:r>
              <a:rPr lang="en-US" dirty="0" smtClean="0"/>
              <a:t>Psalm 9 : 7     Lowest </a:t>
            </a:r>
            <a:r>
              <a:rPr lang="en-US" dirty="0" err="1" smtClean="0"/>
              <a:t>Sheol</a:t>
            </a:r>
            <a:endParaRPr lang="en-US" dirty="0" smtClean="0"/>
          </a:p>
          <a:p>
            <a:r>
              <a:rPr lang="en-US" dirty="0" smtClean="0"/>
              <a:t>Psalm 86 : 13</a:t>
            </a:r>
          </a:p>
          <a:p>
            <a:r>
              <a:rPr lang="en-US" dirty="0" smtClean="0"/>
              <a:t>Luke 16 : 19 – 23 Compare  Job 28 : 5</a:t>
            </a:r>
          </a:p>
          <a:p>
            <a:r>
              <a:rPr lang="en-US" dirty="0" smtClean="0"/>
              <a:t>Luke 23 : 43</a:t>
            </a:r>
          </a:p>
          <a:p>
            <a:r>
              <a:rPr lang="en-US" dirty="0" smtClean="0"/>
              <a:t>2Peter 2:4 Jude 6 (TARTARUS)Middle </a:t>
            </a:r>
            <a:r>
              <a:rPr lang="en-US" dirty="0" err="1" smtClean="0"/>
              <a:t>Sheol</a:t>
            </a:r>
            <a:endParaRPr lang="en-US" dirty="0" smtClean="0"/>
          </a:p>
          <a:p>
            <a:r>
              <a:rPr lang="en-US" dirty="0" smtClean="0"/>
              <a:t>Transfer of Paradise </a:t>
            </a:r>
          </a:p>
          <a:p>
            <a:r>
              <a:rPr lang="en-US" dirty="0" smtClean="0"/>
              <a:t>Mathew </a:t>
            </a:r>
            <a:r>
              <a:rPr lang="en-US" dirty="0"/>
              <a:t>27: 50 – </a:t>
            </a:r>
            <a:r>
              <a:rPr lang="en-US" dirty="0" smtClean="0"/>
              <a:t>53, John 20 : 11 – 17</a:t>
            </a:r>
          </a:p>
          <a:p>
            <a:r>
              <a:rPr lang="en-US" dirty="0"/>
              <a:t> </a:t>
            </a:r>
            <a:r>
              <a:rPr lang="en-US" dirty="0" smtClean="0"/>
              <a:t>Connected with Psalm 68 : 18, </a:t>
            </a:r>
          </a:p>
          <a:p>
            <a:r>
              <a:rPr lang="en-US" dirty="0" err="1" smtClean="0"/>
              <a:t>Ephessians</a:t>
            </a:r>
            <a:r>
              <a:rPr lang="en-US" dirty="0" smtClean="0"/>
              <a:t> 4 : 8 – 10</a:t>
            </a:r>
          </a:p>
          <a:p>
            <a:r>
              <a:rPr lang="en-US" dirty="0" smtClean="0"/>
              <a:t>2Corinthians 12 : 1 – 3     Heavenly Paradise</a:t>
            </a:r>
          </a:p>
          <a:p>
            <a:endParaRPr lang="en-IN" dirty="0"/>
          </a:p>
        </p:txBody>
      </p:sp>
      <p:pic>
        <p:nvPicPr>
          <p:cNvPr id="5" name="Content Placeholder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820" y="1427148"/>
            <a:ext cx="6150179" cy="4708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63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066663" cy="6858000"/>
          </a:xfrm>
        </p:spPr>
      </p:pic>
    </p:spTree>
    <p:extLst>
      <p:ext uri="{BB962C8B-B14F-4D97-AF65-F5344CB8AC3E}">
        <p14:creationId xmlns:p14="http://schemas.microsoft.com/office/powerpoint/2010/main" val="119241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128254"/>
          </a:xfrm>
        </p:spPr>
        <p:txBody>
          <a:bodyPr/>
          <a:lstStyle/>
          <a:p>
            <a:pPr algn="ctr"/>
            <a:r>
              <a:rPr lang="en-US" dirty="0" smtClean="0"/>
              <a:t>N T CONCEPT</a:t>
            </a:r>
            <a:endParaRPr lang="en-IN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213" y="2064544"/>
            <a:ext cx="9340553" cy="4171950"/>
          </a:xfrm>
        </p:spPr>
      </p:pic>
    </p:spTree>
    <p:extLst>
      <p:ext uri="{BB962C8B-B14F-4D97-AF65-F5344CB8AC3E}">
        <p14:creationId xmlns:p14="http://schemas.microsoft.com/office/powerpoint/2010/main" val="3242432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31701"/>
          </a:xfrm>
        </p:spPr>
        <p:txBody>
          <a:bodyPr/>
          <a:lstStyle/>
          <a:p>
            <a:pPr algn="ctr"/>
            <a:r>
              <a:rPr lang="en-US" b="1" dirty="0" smtClean="0"/>
              <a:t>GENERAL ESCHATOLOGY	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2" y="1649338"/>
            <a:ext cx="9403742" cy="4599061"/>
          </a:xfrm>
        </p:spPr>
        <p:txBody>
          <a:bodyPr>
            <a:normAutofit fontScale="850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1800" b="1" dirty="0" smtClean="0"/>
              <a:t>Secret coming of Jesus Christ </a:t>
            </a:r>
            <a:r>
              <a:rPr lang="ml-IN" sz="1800" b="1" dirty="0" smtClean="0"/>
              <a:t>യേശുക്രിസ്തുവിന്റെ രഹസ്യവരവ്</a:t>
            </a:r>
            <a:r>
              <a:rPr lang="en-US" sz="1800" b="1" dirty="0" smtClean="0"/>
              <a:t> 1Thessalonians 4 : 16-18, 1Corinthians 15 : 50 - 52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 smtClean="0"/>
              <a:t>Rapture Of the Church </a:t>
            </a:r>
            <a:r>
              <a:rPr lang="ml-IN" b="1" dirty="0"/>
              <a:t>സഭയുടെ </a:t>
            </a:r>
            <a:r>
              <a:rPr lang="ml-IN" b="1" dirty="0" smtClean="0"/>
              <a:t>ഉത്പ്രാപണ൦</a:t>
            </a:r>
            <a:r>
              <a:rPr lang="en-US" b="1" dirty="0" smtClean="0"/>
              <a:t> (same as above)                            Pre-tribulation rapture, Mid, Post, Partial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 smtClean="0"/>
              <a:t>Great Tribulation </a:t>
            </a:r>
            <a:r>
              <a:rPr lang="ml-IN" b="1" dirty="0" smtClean="0"/>
              <a:t>മഹാകഷ്ടകാല൦</a:t>
            </a:r>
            <a:r>
              <a:rPr lang="en-US" b="1" dirty="0" smtClean="0"/>
              <a:t> Revelation 6: 1 – 18: 24, Mathew 24: 21,22 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 smtClean="0"/>
              <a:t>Humanity Divided </a:t>
            </a:r>
            <a:r>
              <a:rPr lang="ml-IN" b="1" dirty="0"/>
              <a:t>മനുഷ്യവർഗ്ഗ൦ വിഭജിക്കപ്പെടുന്നു</a:t>
            </a:r>
            <a:endParaRPr lang="en-US" b="1" dirty="0" smtClean="0"/>
          </a:p>
          <a:p>
            <a:pPr marL="457200" indent="-457200">
              <a:buFont typeface="+mj-lt"/>
              <a:buAutoNum type="arabicPeriod"/>
            </a:pPr>
            <a:r>
              <a:rPr lang="en-US" b="1" dirty="0" smtClean="0"/>
              <a:t>End of False Religion </a:t>
            </a:r>
            <a:r>
              <a:rPr lang="ml-IN" b="1" dirty="0"/>
              <a:t>വ്യാജ മതങ്ങളുടെ </a:t>
            </a:r>
            <a:r>
              <a:rPr lang="ml-IN" b="1" dirty="0" smtClean="0"/>
              <a:t>അന്ത്യ൦</a:t>
            </a:r>
            <a:r>
              <a:rPr lang="en-US" b="1" dirty="0" smtClean="0"/>
              <a:t> Rev 17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 smtClean="0"/>
              <a:t>End of World Trade </a:t>
            </a:r>
            <a:r>
              <a:rPr lang="ml-IN" b="1" dirty="0"/>
              <a:t>വാണിജ്യ മേഖലകളുടെ </a:t>
            </a:r>
            <a:r>
              <a:rPr lang="ml-IN" b="1" dirty="0" smtClean="0"/>
              <a:t>അന്ത്യ൦</a:t>
            </a:r>
            <a:r>
              <a:rPr lang="en-US" b="1" dirty="0" smtClean="0"/>
              <a:t> Rev 18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Judgment Seat of Christ </a:t>
            </a:r>
            <a:r>
              <a:rPr lang="ml-IN" b="1" dirty="0"/>
              <a:t>ക്രിസ്തുവിന്റെ </a:t>
            </a:r>
            <a:r>
              <a:rPr lang="ml-IN" b="1" dirty="0" smtClean="0"/>
              <a:t>ന്യായാസന൦</a:t>
            </a:r>
            <a:r>
              <a:rPr lang="en-US" b="1" dirty="0" smtClean="0"/>
              <a:t> 2Corinthians 5: 10</a:t>
            </a:r>
            <a:endParaRPr lang="en-US" b="1" dirty="0"/>
          </a:p>
          <a:p>
            <a:pPr marL="457200" indent="-457200">
              <a:buFont typeface="+mj-lt"/>
              <a:buAutoNum type="arabicPeriod"/>
            </a:pPr>
            <a:r>
              <a:rPr lang="en-US" b="1" dirty="0" smtClean="0"/>
              <a:t>Crowning of the Lamb </a:t>
            </a:r>
            <a:r>
              <a:rPr lang="ml-IN" b="1" dirty="0"/>
              <a:t>കുഞ്ഞാടിന്റെ കിരീടധാരണം</a:t>
            </a:r>
            <a:r>
              <a:rPr lang="en-US" b="1" dirty="0" smtClean="0"/>
              <a:t> Rev 19: 6                                  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Wedding of the Lamb</a:t>
            </a:r>
            <a:r>
              <a:rPr lang="en-US" b="1" dirty="0" smtClean="0"/>
              <a:t>  </a:t>
            </a:r>
            <a:r>
              <a:rPr lang="ml-IN" b="1" dirty="0" smtClean="0"/>
              <a:t>കുഞ്ഞാടിന്റെ കല്യാണം</a:t>
            </a:r>
            <a:r>
              <a:rPr lang="en-US" b="1" dirty="0" smtClean="0"/>
              <a:t> Rev 19: 7</a:t>
            </a:r>
            <a:endParaRPr lang="en-US" b="1" dirty="0"/>
          </a:p>
          <a:p>
            <a:pPr marL="457200" indent="-457200">
              <a:buFont typeface="+mj-lt"/>
              <a:buAutoNum type="arabicPeriod"/>
            </a:pPr>
            <a:r>
              <a:rPr lang="en-US" b="1" dirty="0" smtClean="0"/>
              <a:t>Armageddon War </a:t>
            </a:r>
            <a:r>
              <a:rPr lang="ml-IN" b="1" dirty="0"/>
              <a:t>അർമ്മഗദോൻ </a:t>
            </a:r>
            <a:r>
              <a:rPr lang="ml-IN" b="1" dirty="0" smtClean="0"/>
              <a:t>യുദ്ധം</a:t>
            </a:r>
            <a:r>
              <a:rPr lang="en-US" b="1" dirty="0" smtClean="0"/>
              <a:t> Rev 19: 17 - 21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 smtClean="0"/>
              <a:t>Glorious Appearance of Christ </a:t>
            </a:r>
            <a:r>
              <a:rPr lang="ml-IN" b="1" dirty="0"/>
              <a:t>യേശുക്രിസ്തുവിന്റെ </a:t>
            </a:r>
            <a:r>
              <a:rPr lang="ml-IN" b="1" dirty="0" smtClean="0"/>
              <a:t>മഹത്വപ്രത്യക്ഷത</a:t>
            </a:r>
            <a:r>
              <a:rPr lang="en-US" b="1" dirty="0" smtClean="0"/>
              <a:t> Revelation 19: 11 – 16 , Acts of the Apostle 1: 11.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682101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0044" y="555477"/>
            <a:ext cx="8946541" cy="5376728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 startAt="12"/>
            </a:pPr>
            <a:r>
              <a:rPr lang="en-US" b="1" dirty="0"/>
              <a:t>Satanic </a:t>
            </a:r>
            <a:r>
              <a:rPr lang="en-US" b="1" dirty="0" smtClean="0"/>
              <a:t>Trinity  </a:t>
            </a:r>
            <a:r>
              <a:rPr lang="ml-IN" b="1" dirty="0" smtClean="0"/>
              <a:t>സാത്താന്യ</a:t>
            </a:r>
            <a:r>
              <a:rPr lang="en-US" b="1" dirty="0" smtClean="0"/>
              <a:t> </a:t>
            </a:r>
            <a:r>
              <a:rPr lang="ml-IN" b="1" dirty="0" smtClean="0"/>
              <a:t>ത്രിത്വം</a:t>
            </a:r>
            <a:r>
              <a:rPr lang="en-US" b="1" dirty="0" smtClean="0"/>
              <a:t> Revelation 19 : 20, 20:1,2,10</a:t>
            </a:r>
          </a:p>
          <a:p>
            <a:pPr marL="457200" indent="-457200">
              <a:buFont typeface="+mj-lt"/>
              <a:buAutoNum type="arabicPeriod" startAt="12"/>
            </a:pPr>
            <a:r>
              <a:rPr lang="en-US" b="1" dirty="0" smtClean="0"/>
              <a:t>Theocratic Kingdom (Millennium) </a:t>
            </a:r>
            <a:r>
              <a:rPr lang="ml-IN" b="1" dirty="0" smtClean="0"/>
              <a:t>ദൈവാധിപത്യ</a:t>
            </a:r>
            <a:r>
              <a:rPr lang="en-US" b="1" dirty="0" smtClean="0"/>
              <a:t> </a:t>
            </a:r>
            <a:r>
              <a:rPr lang="ml-IN" b="1" dirty="0" smtClean="0"/>
              <a:t>ഭരണ൦</a:t>
            </a:r>
            <a:r>
              <a:rPr lang="en-US" b="1" dirty="0" smtClean="0"/>
              <a:t> Rev 20:3-7 Pre-Millennial, Post-Millennial, </a:t>
            </a:r>
            <a:r>
              <a:rPr lang="en-US" b="1" dirty="0" err="1" smtClean="0"/>
              <a:t>Amillennial</a:t>
            </a:r>
            <a:endParaRPr lang="en-US" b="1" dirty="0" smtClean="0"/>
          </a:p>
          <a:p>
            <a:pPr marL="457200" indent="-457200">
              <a:buFont typeface="+mj-lt"/>
              <a:buAutoNum type="arabicPeriod" startAt="12"/>
            </a:pPr>
            <a:r>
              <a:rPr lang="en-US" b="1" dirty="0"/>
              <a:t>Throne of </a:t>
            </a:r>
            <a:r>
              <a:rPr lang="en-US" b="1" dirty="0" smtClean="0"/>
              <a:t>Glory  </a:t>
            </a:r>
            <a:r>
              <a:rPr lang="ml-IN" b="1" dirty="0"/>
              <a:t>തേജസ്സിന്റെ </a:t>
            </a:r>
            <a:r>
              <a:rPr lang="ml-IN" b="1" dirty="0" smtClean="0"/>
              <a:t>സിംഹാസന൦</a:t>
            </a:r>
            <a:r>
              <a:rPr lang="en-US" b="1" dirty="0" smtClean="0"/>
              <a:t> Rev 20: 4</a:t>
            </a:r>
          </a:p>
          <a:p>
            <a:pPr marL="457200" indent="-457200">
              <a:buFont typeface="+mj-lt"/>
              <a:buAutoNum type="arabicPeriod" startAt="12"/>
            </a:pPr>
            <a:r>
              <a:rPr lang="en-US" b="1" dirty="0" smtClean="0"/>
              <a:t>Gog- </a:t>
            </a:r>
            <a:r>
              <a:rPr lang="en-US" b="1" dirty="0" err="1"/>
              <a:t>M</a:t>
            </a:r>
            <a:r>
              <a:rPr lang="en-US" b="1" dirty="0" err="1" smtClean="0"/>
              <a:t>agog</a:t>
            </a:r>
            <a:r>
              <a:rPr lang="en-US" b="1" dirty="0" smtClean="0"/>
              <a:t> War  </a:t>
            </a:r>
            <a:r>
              <a:rPr lang="ml-IN" b="1" dirty="0"/>
              <a:t>ഗോഗ് - മാഗോഗ് </a:t>
            </a:r>
            <a:r>
              <a:rPr lang="ml-IN" b="1" dirty="0" smtClean="0"/>
              <a:t>യുദ്ധ൦</a:t>
            </a:r>
            <a:r>
              <a:rPr lang="en-US" b="1" dirty="0" smtClean="0"/>
              <a:t> Rev 20: 8-9</a:t>
            </a:r>
          </a:p>
          <a:p>
            <a:pPr marL="457200" indent="-457200">
              <a:buFont typeface="+mj-lt"/>
              <a:buAutoNum type="arabicPeriod" startAt="12"/>
            </a:pPr>
            <a:r>
              <a:rPr lang="en-US" b="1" dirty="0" smtClean="0"/>
              <a:t>Fire on Earth  </a:t>
            </a:r>
            <a:r>
              <a:rPr lang="ml-IN" b="1" dirty="0"/>
              <a:t>ഭൂമിയിൽ </a:t>
            </a:r>
            <a:r>
              <a:rPr lang="ml-IN" b="1" dirty="0" smtClean="0"/>
              <a:t>തീയ്യ്</a:t>
            </a:r>
            <a:r>
              <a:rPr lang="en-US" b="1" dirty="0" smtClean="0"/>
              <a:t>  Rev 20 : 9</a:t>
            </a:r>
          </a:p>
          <a:p>
            <a:pPr marL="457200" indent="-457200">
              <a:buFont typeface="+mj-lt"/>
              <a:buAutoNum type="arabicPeriod" startAt="12"/>
            </a:pPr>
            <a:r>
              <a:rPr lang="en-US" b="1" dirty="0" smtClean="0"/>
              <a:t>End of Satan  </a:t>
            </a:r>
            <a:r>
              <a:rPr lang="ml-IN" b="1" dirty="0"/>
              <a:t>സാത്താന്റെ </a:t>
            </a:r>
            <a:r>
              <a:rPr lang="ml-IN" b="1" dirty="0" smtClean="0"/>
              <a:t>അന്ത്യ൦</a:t>
            </a:r>
            <a:r>
              <a:rPr lang="en-US" b="1" dirty="0" smtClean="0"/>
              <a:t> Rev 20 : 10</a:t>
            </a:r>
          </a:p>
          <a:p>
            <a:pPr marL="457200" indent="-457200">
              <a:buFont typeface="+mj-lt"/>
              <a:buAutoNum type="arabicPeriod" startAt="12"/>
            </a:pPr>
            <a:r>
              <a:rPr lang="en-US" b="1" dirty="0" smtClean="0"/>
              <a:t>White throne Judgment  </a:t>
            </a:r>
            <a:r>
              <a:rPr lang="ml-IN" b="1" dirty="0"/>
              <a:t>വെള്ളസി൦ഹാസന </a:t>
            </a:r>
            <a:r>
              <a:rPr lang="ml-IN" b="1" dirty="0" smtClean="0"/>
              <a:t>വിധി</a:t>
            </a:r>
            <a:r>
              <a:rPr lang="en-US" b="1" dirty="0" smtClean="0"/>
              <a:t>Rev 20 : 11-15</a:t>
            </a:r>
          </a:p>
          <a:p>
            <a:pPr marL="457200" indent="-457200">
              <a:buFont typeface="+mj-lt"/>
              <a:buAutoNum type="arabicPeriod" startAt="12"/>
            </a:pPr>
            <a:r>
              <a:rPr lang="en-US" b="1" dirty="0" smtClean="0"/>
              <a:t>Lake of Fire  </a:t>
            </a:r>
            <a:r>
              <a:rPr lang="ml-IN" b="1" dirty="0" smtClean="0"/>
              <a:t>തീപ്പൊയ്ക</a:t>
            </a:r>
            <a:r>
              <a:rPr lang="en-US" b="1" dirty="0" smtClean="0"/>
              <a:t> Rev 20 : 14,15</a:t>
            </a:r>
          </a:p>
          <a:p>
            <a:pPr marL="457200" indent="-457200">
              <a:buFont typeface="+mj-lt"/>
              <a:buAutoNum type="arabicPeriod" startAt="12"/>
            </a:pPr>
            <a:r>
              <a:rPr lang="en-US" b="1" dirty="0" smtClean="0"/>
              <a:t>New Heaven  </a:t>
            </a:r>
            <a:r>
              <a:rPr lang="ml-IN" b="1" dirty="0"/>
              <a:t>പുതിയ </a:t>
            </a:r>
            <a:r>
              <a:rPr lang="ml-IN" b="1" dirty="0" smtClean="0"/>
              <a:t>ആകാശ൦</a:t>
            </a:r>
            <a:r>
              <a:rPr lang="en-US" b="1" dirty="0" smtClean="0"/>
              <a:t> Rev 21 : 1</a:t>
            </a:r>
          </a:p>
          <a:p>
            <a:pPr marL="457200" indent="-457200">
              <a:buFont typeface="+mj-lt"/>
              <a:buAutoNum type="arabicPeriod" startAt="12"/>
            </a:pPr>
            <a:r>
              <a:rPr lang="en-US" b="1" dirty="0" smtClean="0"/>
              <a:t>New Earth  </a:t>
            </a:r>
            <a:r>
              <a:rPr lang="ml-IN" b="1" dirty="0"/>
              <a:t>പുതിയ </a:t>
            </a:r>
            <a:r>
              <a:rPr lang="ml-IN" b="1" dirty="0" smtClean="0"/>
              <a:t>ഭൂമി</a:t>
            </a:r>
            <a:r>
              <a:rPr lang="en-US" b="1" dirty="0" smtClean="0"/>
              <a:t>  Rev 21 : 1</a:t>
            </a:r>
          </a:p>
          <a:p>
            <a:pPr marL="457200" indent="-457200">
              <a:buFont typeface="+mj-lt"/>
              <a:buAutoNum type="arabicPeriod" startAt="12"/>
            </a:pPr>
            <a:r>
              <a:rPr lang="en-US" b="1" dirty="0" smtClean="0"/>
              <a:t>New Jerusalem  </a:t>
            </a:r>
            <a:r>
              <a:rPr lang="ml-IN" b="1" dirty="0"/>
              <a:t>പുതിയ </a:t>
            </a:r>
            <a:r>
              <a:rPr lang="ml-IN" b="1" dirty="0" smtClean="0"/>
              <a:t>യെരൂശലേം</a:t>
            </a:r>
            <a:r>
              <a:rPr lang="en-US" b="1" dirty="0" smtClean="0"/>
              <a:t> Rev 21 : 2</a:t>
            </a:r>
          </a:p>
          <a:p>
            <a:pPr marL="457200" indent="-457200">
              <a:buFont typeface="+mj-lt"/>
              <a:buAutoNum type="arabicPeriod" startAt="12"/>
            </a:pPr>
            <a:r>
              <a:rPr lang="en-US" b="1" dirty="0" smtClean="0"/>
              <a:t>ETERNITY  </a:t>
            </a:r>
            <a:r>
              <a:rPr lang="ml-IN" b="1" dirty="0" smtClean="0"/>
              <a:t>നിത്യത</a:t>
            </a:r>
            <a:r>
              <a:rPr lang="en-US" b="1" dirty="0" smtClean="0"/>
              <a:t> Rev 21 : 3 – 22: 1-21</a:t>
            </a:r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b="1" dirty="0" smtClean="0"/>
              <a:t>                THE END   </a:t>
            </a:r>
          </a:p>
          <a:p>
            <a:pPr marL="457200" indent="-457200">
              <a:buFont typeface="+mj-lt"/>
              <a:buAutoNum type="arabicPeriod" startAt="12"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130584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>
          <a:xfrm>
            <a:off x="157576" y="2076628"/>
            <a:ext cx="3901676" cy="45022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en-IN" sz="2400" dirty="0" smtClean="0"/>
              <a:t>1 . Bibliology </a:t>
            </a:r>
            <a:br>
              <a:rPr lang="en-IN" sz="2400" dirty="0" smtClean="0"/>
            </a:br>
            <a:r>
              <a:rPr lang="en-IN" sz="2400" dirty="0" smtClean="0"/>
              <a:t>2 . Theology Proper</a:t>
            </a:r>
            <a:br>
              <a:rPr lang="en-IN" sz="2400" dirty="0" smtClean="0"/>
            </a:br>
            <a:r>
              <a:rPr lang="en-IN" sz="2400" dirty="0" smtClean="0"/>
              <a:t>3 . Christology</a:t>
            </a:r>
            <a:br>
              <a:rPr lang="en-IN" sz="2400" dirty="0" smtClean="0"/>
            </a:br>
            <a:r>
              <a:rPr lang="en-IN" sz="2400" dirty="0" smtClean="0"/>
              <a:t>4 . Pneumatology</a:t>
            </a:r>
            <a:br>
              <a:rPr lang="en-IN" sz="2400" dirty="0" smtClean="0"/>
            </a:br>
            <a:r>
              <a:rPr lang="en-IN" sz="2400" dirty="0" smtClean="0"/>
              <a:t>5 . Angelology</a:t>
            </a:r>
            <a:br>
              <a:rPr lang="en-IN" sz="2400" dirty="0" smtClean="0"/>
            </a:br>
            <a:r>
              <a:rPr lang="en-IN" sz="2400" dirty="0" smtClean="0"/>
              <a:t>6 . Anthropology</a:t>
            </a:r>
            <a:br>
              <a:rPr lang="en-IN" sz="2400" dirty="0" smtClean="0"/>
            </a:br>
            <a:r>
              <a:rPr lang="en-IN" sz="2400" dirty="0" smtClean="0"/>
              <a:t>7 . Hamartiology</a:t>
            </a:r>
            <a:br>
              <a:rPr lang="en-IN" sz="2400" dirty="0" smtClean="0"/>
            </a:br>
            <a:r>
              <a:rPr lang="en-IN" sz="2400" dirty="0" smtClean="0"/>
              <a:t>8 . Soteriology</a:t>
            </a:r>
            <a:br>
              <a:rPr lang="en-IN" sz="2400" dirty="0" smtClean="0"/>
            </a:br>
            <a:r>
              <a:rPr lang="en-IN" sz="2400" dirty="0" smtClean="0"/>
              <a:t>9 . Ecclesiology</a:t>
            </a:r>
            <a:br>
              <a:rPr lang="en-IN" sz="2400" dirty="0" smtClean="0"/>
            </a:br>
            <a:r>
              <a:rPr lang="en-IN" sz="2400" dirty="0" smtClean="0"/>
              <a:t>10. Eschatology</a:t>
            </a:r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166130" y="2042313"/>
            <a:ext cx="9011622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വേദപുസ്തക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ദൈവത്തെക്കുറിച്ചുള്ള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ക്രിസ്തുവിനെക്കുറിച്ചുള്ള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ml-IN" sz="2400" b="1" dirty="0" smtClean="0"/>
              <a:t>പരിശുദ്ധാത്മാവിനെക്കുറിച്ചുള്ള</a:t>
            </a: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ദൂതന്മാരെക്കുറിച്ചുള്ള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മനുഷ്യനെക്കുറിച്ചുള്ള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പാപത്തെക്കുറിച്ചുള്ള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രക്ഷയെക്കുറിച്ചുള്ള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സഭയെക്കുറിച്ചുള്ള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ml-I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Mangal"/>
              </a:rPr>
              <a:t>അവസാനകാല സംഭവങ്ങളെക്കുറിച്ചുള്ള പഠനം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10503" y="588027"/>
            <a:ext cx="1033666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4400" b="1" u="sng" dirty="0" smtClean="0"/>
              <a:t>Divisions Of Systematic Theology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2298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620</TotalTime>
  <Words>512</Words>
  <Application>Microsoft Office PowerPoint</Application>
  <PresentationFormat>Widescreen</PresentationFormat>
  <Paragraphs>89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Century Gothic</vt:lpstr>
      <vt:lpstr>Kartika</vt:lpstr>
      <vt:lpstr>Mangal</vt:lpstr>
      <vt:lpstr>Wingdings 3</vt:lpstr>
      <vt:lpstr>Ion</vt:lpstr>
      <vt:lpstr>SYSTEMATIC THEOLOGY</vt:lpstr>
      <vt:lpstr>PowerPoint Presentation</vt:lpstr>
      <vt:lpstr>ESCHATOLOGY</vt:lpstr>
      <vt:lpstr>ESCHATOLOGY      ഭാവികാല ശാസ്ത്ര൦</vt:lpstr>
      <vt:lpstr>INDIVIDUAL ESCHATOLOGY  വ്യക്തി അന്ത്യ൦ </vt:lpstr>
      <vt:lpstr>5.  Intermediate State(ഇടവേള-അവസ്ഥ)  Biblical Concepts  </vt:lpstr>
      <vt:lpstr>PowerPoint Presentation</vt:lpstr>
      <vt:lpstr>N T CONCEPT</vt:lpstr>
      <vt:lpstr>GENERAL ESCHATOLOGY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SYSTEMATIC THEOLOGY</dc:title>
  <dc:creator>DELL</dc:creator>
  <cp:lastModifiedBy>DELL</cp:lastModifiedBy>
  <cp:revision>31</cp:revision>
  <dcterms:created xsi:type="dcterms:W3CDTF">2026-03-11T16:43:57Z</dcterms:created>
  <dcterms:modified xsi:type="dcterms:W3CDTF">2026-03-25T16:32:05Z</dcterms:modified>
</cp:coreProperties>
</file>