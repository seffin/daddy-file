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62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CB7BBE-48A6-4748-9C7E-F034EDC3B1A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8C9D2-AD0F-452E-89CB-4446E3E35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500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739F61-60DB-4380-8E9D-E9820CC4426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969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78038" y="786213"/>
            <a:ext cx="11615158" cy="297820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8800" b="1" u="sng" dirty="0" smtClean="0"/>
              <a:t>Systematic Theology</a:t>
            </a:r>
            <a:endParaRPr lang="en-IN" sz="8800" dirty="0"/>
          </a:p>
        </p:txBody>
      </p:sp>
    </p:spTree>
    <p:extLst>
      <p:ext uri="{BB962C8B-B14F-4D97-AF65-F5344CB8AC3E}">
        <p14:creationId xmlns:p14="http://schemas.microsoft.com/office/powerpoint/2010/main" val="936423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157576" y="2076628"/>
            <a:ext cx="3901676" cy="45022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IN" sz="2400" dirty="0" smtClean="0"/>
              <a:t>1 . Bibliology </a:t>
            </a:r>
            <a:br>
              <a:rPr lang="en-IN" sz="2400" dirty="0" smtClean="0"/>
            </a:br>
            <a:r>
              <a:rPr lang="en-IN" sz="2400" dirty="0" smtClean="0"/>
              <a:t>2 . Theology Proper</a:t>
            </a:r>
            <a:br>
              <a:rPr lang="en-IN" sz="2400" dirty="0" smtClean="0"/>
            </a:br>
            <a:r>
              <a:rPr lang="en-IN" sz="2400" dirty="0" smtClean="0"/>
              <a:t>3 . Christology</a:t>
            </a:r>
            <a:br>
              <a:rPr lang="en-IN" sz="2400" dirty="0" smtClean="0"/>
            </a:br>
            <a:r>
              <a:rPr lang="en-IN" sz="2400" dirty="0" smtClean="0"/>
              <a:t>4 . Pneumatology</a:t>
            </a:r>
            <a:br>
              <a:rPr lang="en-IN" sz="2400" dirty="0" smtClean="0"/>
            </a:br>
            <a:r>
              <a:rPr lang="en-IN" sz="2400" dirty="0" smtClean="0"/>
              <a:t>5 . Angelology</a:t>
            </a:r>
            <a:br>
              <a:rPr lang="en-IN" sz="2400" dirty="0" smtClean="0"/>
            </a:br>
            <a:r>
              <a:rPr lang="en-IN" sz="2400" dirty="0" smtClean="0"/>
              <a:t>6 . Anthropology</a:t>
            </a:r>
            <a:br>
              <a:rPr lang="en-IN" sz="2400" dirty="0" smtClean="0"/>
            </a:br>
            <a:r>
              <a:rPr lang="en-IN" sz="2400" dirty="0" smtClean="0"/>
              <a:t>7 . Hamartiology</a:t>
            </a:r>
            <a:br>
              <a:rPr lang="en-IN" sz="2400" dirty="0" smtClean="0"/>
            </a:br>
            <a:r>
              <a:rPr lang="en-IN" sz="2400" dirty="0" smtClean="0"/>
              <a:t>8 . Soteriology</a:t>
            </a:r>
            <a:br>
              <a:rPr lang="en-IN" sz="2400" dirty="0" smtClean="0"/>
            </a:br>
            <a:r>
              <a:rPr lang="en-IN" sz="2400" dirty="0" smtClean="0"/>
              <a:t>9 . Ecclesiology</a:t>
            </a:r>
            <a:br>
              <a:rPr lang="en-IN" sz="2400" dirty="0" smtClean="0"/>
            </a:br>
            <a:r>
              <a:rPr lang="en-IN" sz="2400" dirty="0" smtClean="0"/>
              <a:t>10. Eschatology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166130" y="2042313"/>
            <a:ext cx="901162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വേദപുസ്തക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ദൈവത്തെക്കുറിച്ചുള്ള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ക്രിസ്തുവിനെക്കുറിച്ചുള്ള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ml-IN" sz="2400" b="1" dirty="0" smtClean="0"/>
              <a:t>പരിശുദ്ധാത്മാവിനെക്കുറിച്ചുള്ള</a:t>
            </a: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ദൂതന്മാരെക്കുറിച്ചുള്ള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മനുഷ്യനെക്കുറിച്ചുള്ള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പാപത്തെക്കുറിച്ചുള്ള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രക്ഷയെക്കുറിച്ചുള്ള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സഭയെക്കുറിച്ചുള്ള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അവസാനകാല സംഭവങ്ങളെക്കുറിച്ചുള്ള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10503" y="588027"/>
            <a:ext cx="1033666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4400" b="1" u="sng" dirty="0" smtClean="0"/>
              <a:t>Divisions Of Systematic Theology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5636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SOTERIOLOGY </a:t>
            </a:r>
            <a:r>
              <a:rPr lang="ml-IN" dirty="0"/>
              <a:t>രക്ഷാശാസ്ത്ര൦</a:t>
            </a:r>
            <a:endParaRPr lang="en-IN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4850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Terminology </a:t>
            </a:r>
            <a:r>
              <a:rPr lang="ml-IN" dirty="0"/>
              <a:t>മൂലപദങ്ങൾ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530036"/>
            <a:ext cx="8946541" cy="5169528"/>
          </a:xfrm>
        </p:spPr>
        <p:txBody>
          <a:bodyPr>
            <a:normAutofit/>
          </a:bodyPr>
          <a:lstStyle/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HEBREW</a:t>
            </a:r>
          </a:p>
          <a:p>
            <a:pPr lvl="1"/>
            <a:r>
              <a:rPr lang="en-US" dirty="0" smtClean="0"/>
              <a:t>YASA (YESHA) Meaning </a:t>
            </a:r>
            <a:r>
              <a:rPr lang="ml-IN" dirty="0" smtClean="0"/>
              <a:t>സുരക്ഷിതത്വം</a:t>
            </a:r>
            <a:endParaRPr lang="en-US" dirty="0" smtClean="0"/>
          </a:p>
          <a:p>
            <a:pPr lvl="1"/>
            <a:r>
              <a:rPr lang="en-US" dirty="0" smtClean="0"/>
              <a:t>YESUA          </a:t>
            </a:r>
            <a:r>
              <a:rPr lang="ml-IN" dirty="0" smtClean="0"/>
              <a:t>രക്ഷകൻ</a:t>
            </a:r>
            <a:endParaRPr lang="en-US" dirty="0" smtClean="0"/>
          </a:p>
          <a:p>
            <a:pPr lvl="1"/>
            <a:r>
              <a:rPr lang="en-US" dirty="0" smtClean="0"/>
              <a:t>TESUA           </a:t>
            </a:r>
            <a:r>
              <a:rPr lang="ml-IN" dirty="0" smtClean="0"/>
              <a:t>സൈന്യസഹായ൦</a:t>
            </a:r>
            <a:endParaRPr lang="en-US" dirty="0" smtClean="0"/>
          </a:p>
          <a:p>
            <a:pPr lvl="1"/>
            <a:r>
              <a:rPr lang="en-US" dirty="0" smtClean="0"/>
              <a:t>MOSHAOTH </a:t>
            </a:r>
            <a:r>
              <a:rPr lang="ml-IN" dirty="0" smtClean="0"/>
              <a:t>വിടുതൽ</a:t>
            </a:r>
            <a:endParaRPr lang="en-US" dirty="0" smtClean="0"/>
          </a:p>
          <a:p>
            <a:pPr lvl="1"/>
            <a:r>
              <a:rPr lang="en-US" dirty="0" smtClean="0"/>
              <a:t>NASAL          </a:t>
            </a:r>
            <a:r>
              <a:rPr lang="ml-IN" dirty="0" smtClean="0"/>
              <a:t>വലിച്ചെടുക്കുക</a:t>
            </a:r>
            <a:endParaRPr lang="en-US" dirty="0" smtClean="0"/>
          </a:p>
          <a:p>
            <a:r>
              <a:rPr lang="en-US" dirty="0" smtClean="0"/>
              <a:t>GREEK</a:t>
            </a:r>
          </a:p>
          <a:p>
            <a:pPr lvl="1"/>
            <a:r>
              <a:rPr lang="en-US" dirty="0" smtClean="0"/>
              <a:t>SOZO       </a:t>
            </a:r>
            <a:r>
              <a:rPr lang="ml-IN" dirty="0" smtClean="0"/>
              <a:t>സുരക്ഷിതത്വം</a:t>
            </a:r>
            <a:endParaRPr lang="en-US" dirty="0" smtClean="0"/>
          </a:p>
          <a:p>
            <a:pPr lvl="1"/>
            <a:r>
              <a:rPr lang="en-US" dirty="0" smtClean="0"/>
              <a:t>SOTERIA   </a:t>
            </a:r>
            <a:r>
              <a:rPr lang="ml-IN" dirty="0" smtClean="0"/>
              <a:t>രക്ഷ</a:t>
            </a:r>
            <a:endParaRPr lang="en-US" dirty="0" smtClean="0"/>
          </a:p>
          <a:p>
            <a:pPr lvl="1"/>
            <a:r>
              <a:rPr lang="en-US" dirty="0" smtClean="0"/>
              <a:t>SOTER       </a:t>
            </a:r>
            <a:r>
              <a:rPr lang="ml-IN" dirty="0" smtClean="0"/>
              <a:t>രക്ഷകൻ</a:t>
            </a:r>
            <a:endParaRPr lang="en-US" dirty="0" smtClean="0"/>
          </a:p>
          <a:p>
            <a:r>
              <a:rPr lang="en-US" dirty="0" smtClean="0"/>
              <a:t>SOTERIA + LOGOS = SOTERIOLOGY </a:t>
            </a:r>
            <a:r>
              <a:rPr lang="ml-IN" dirty="0"/>
              <a:t>രക്ഷാശാസ്ത്ര൦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9830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SALVATION THEOLOGY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2365" y="2052918"/>
            <a:ext cx="8946541" cy="4195481"/>
          </a:xfrm>
        </p:spPr>
        <p:txBody>
          <a:bodyPr>
            <a:normAutofit/>
          </a:bodyPr>
          <a:lstStyle/>
          <a:p>
            <a:r>
              <a:rPr lang="en-US" dirty="0" smtClean="0"/>
              <a:t>GREEK </a:t>
            </a:r>
          </a:p>
          <a:p>
            <a:r>
              <a:rPr lang="en-US" dirty="0" smtClean="0"/>
              <a:t>JEWS </a:t>
            </a:r>
          </a:p>
          <a:p>
            <a:r>
              <a:rPr lang="en-US" dirty="0" smtClean="0"/>
              <a:t>CHRISTIAN</a:t>
            </a:r>
            <a:endParaRPr lang="en-US" dirty="0"/>
          </a:p>
          <a:p>
            <a:r>
              <a:rPr lang="en-IN" dirty="0" smtClean="0"/>
              <a:t> OLD TESTAMENT</a:t>
            </a:r>
          </a:p>
          <a:p>
            <a:r>
              <a:rPr lang="en-IN" dirty="0" smtClean="0"/>
              <a:t> </a:t>
            </a:r>
            <a:r>
              <a:rPr lang="en-US" dirty="0" smtClean="0"/>
              <a:t>NEW TESTAMENT</a:t>
            </a:r>
          </a:p>
          <a:p>
            <a:r>
              <a:rPr lang="en-US" dirty="0" smtClean="0"/>
              <a:t>SALVATION     </a:t>
            </a:r>
          </a:p>
          <a:p>
            <a:pPr lvl="1"/>
            <a:r>
              <a:rPr lang="en-US" dirty="0" smtClean="0"/>
              <a:t> PAST (ROMANS 8:24,)               </a:t>
            </a:r>
            <a:r>
              <a:rPr lang="ml-IN" dirty="0"/>
              <a:t>രക്ഷിക്കപ്പെട്ടിരിക്കുന്നു</a:t>
            </a:r>
            <a:endParaRPr lang="en-US" dirty="0" smtClean="0"/>
          </a:p>
          <a:p>
            <a:pPr lvl="1"/>
            <a:r>
              <a:rPr lang="en-US" dirty="0" smtClean="0"/>
              <a:t>PRESENT (1CORINTHIANS 15: 2  </a:t>
            </a:r>
            <a:r>
              <a:rPr lang="ml-IN" dirty="0"/>
              <a:t>രക്ഷിക്കപ്പെടുന്നു</a:t>
            </a:r>
            <a:endParaRPr lang="en-US" dirty="0" smtClean="0"/>
          </a:p>
          <a:p>
            <a:pPr lvl="1"/>
            <a:r>
              <a:rPr lang="en-US" dirty="0" smtClean="0"/>
              <a:t>FUTURE (ROMANS 5:9)                </a:t>
            </a:r>
            <a:r>
              <a:rPr lang="ml-IN" dirty="0" smtClean="0"/>
              <a:t>രക്ഷിക്കപ്പെടു൦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88411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ORDER OF SALVATION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 OF SALVATION (ORDO-SALUTIS {LATTIN})</a:t>
            </a:r>
          </a:p>
          <a:p>
            <a:pPr algn="just"/>
            <a:r>
              <a:rPr lang="en-US" dirty="0" smtClean="0"/>
              <a:t>ELECTION             </a:t>
            </a:r>
            <a:r>
              <a:rPr lang="ml-IN" dirty="0"/>
              <a:t>തെരെഞ്ഞെടുപ്പ്</a:t>
            </a:r>
            <a:endParaRPr lang="en-US" dirty="0"/>
          </a:p>
          <a:p>
            <a:pPr algn="just"/>
            <a:r>
              <a:rPr lang="en-US" dirty="0"/>
              <a:t>CONVERSION       </a:t>
            </a:r>
            <a:r>
              <a:rPr lang="ml-IN" dirty="0"/>
              <a:t>മാനസാന്തര൦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REGENERATION    </a:t>
            </a:r>
            <a:r>
              <a:rPr lang="ml-IN" dirty="0"/>
              <a:t>വീണ്ടു൦ജനന൦</a:t>
            </a:r>
            <a:endParaRPr lang="en-US" dirty="0"/>
          </a:p>
          <a:p>
            <a:pPr algn="just"/>
            <a:r>
              <a:rPr lang="en-US" dirty="0"/>
              <a:t>JUSTIFICATION       </a:t>
            </a:r>
            <a:r>
              <a:rPr lang="ml-IN" dirty="0"/>
              <a:t>നീതീകരണ൦</a:t>
            </a:r>
            <a:endParaRPr lang="en-US" dirty="0"/>
          </a:p>
          <a:p>
            <a:pPr algn="just"/>
            <a:r>
              <a:rPr lang="en-US" dirty="0"/>
              <a:t>SANCTIFICATION   </a:t>
            </a:r>
            <a:r>
              <a:rPr lang="ml-IN" dirty="0"/>
              <a:t>വിശുദ്ധീകരണ൦</a:t>
            </a:r>
            <a:endParaRPr lang="en-US" dirty="0"/>
          </a:p>
          <a:p>
            <a:pPr algn="just"/>
            <a:r>
              <a:rPr lang="en-US" dirty="0"/>
              <a:t>GLORIFICATION     </a:t>
            </a:r>
            <a:r>
              <a:rPr lang="ml-IN" dirty="0"/>
              <a:t>മഹത്വീകരണ൦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6027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94968"/>
          </a:xfrm>
        </p:spPr>
        <p:txBody>
          <a:bodyPr/>
          <a:lstStyle/>
          <a:p>
            <a:pPr algn="ctr"/>
            <a:r>
              <a:rPr lang="en-US" dirty="0" smtClean="0"/>
              <a:t>ELECTION </a:t>
            </a:r>
            <a:r>
              <a:rPr lang="ml-IN" dirty="0" smtClean="0"/>
              <a:t>തെരെഞ്ഞെടുപ്പ്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350236"/>
            <a:ext cx="8946541" cy="538384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Introduction </a:t>
            </a:r>
            <a:r>
              <a:rPr lang="en-US" dirty="0" smtClean="0"/>
              <a:t>   </a:t>
            </a:r>
            <a:r>
              <a:rPr lang="ml-IN" dirty="0" smtClean="0"/>
              <a:t>മുഖവുര</a:t>
            </a:r>
            <a:r>
              <a:rPr lang="en-US" dirty="0" smtClean="0"/>
              <a:t> ‘</a:t>
            </a:r>
            <a:r>
              <a:rPr lang="en-US" dirty="0" err="1" smtClean="0"/>
              <a:t>Exelexato</a:t>
            </a:r>
            <a:r>
              <a:rPr lang="en-US" dirty="0" smtClean="0"/>
              <a:t>’ = (</a:t>
            </a:r>
            <a:r>
              <a:rPr lang="ml-IN" dirty="0"/>
              <a:t>തെരെഞ്ഞെടുത്തു</a:t>
            </a:r>
            <a:r>
              <a:rPr lang="en-US" dirty="0" smtClean="0"/>
              <a:t>)</a:t>
            </a:r>
          </a:p>
          <a:p>
            <a:r>
              <a:rPr lang="en-US" dirty="0" smtClean="0"/>
              <a:t>God’s call       </a:t>
            </a:r>
            <a:r>
              <a:rPr lang="ml-IN" dirty="0" smtClean="0"/>
              <a:t>ദൈവ</a:t>
            </a:r>
            <a:r>
              <a:rPr lang="en-US" dirty="0" smtClean="0"/>
              <a:t> </a:t>
            </a:r>
            <a:r>
              <a:rPr lang="ml-IN" dirty="0" smtClean="0"/>
              <a:t>വിളി</a:t>
            </a:r>
            <a:endParaRPr lang="en-US" dirty="0" smtClean="0"/>
          </a:p>
          <a:p>
            <a:pPr lvl="2"/>
            <a:r>
              <a:rPr lang="en-US" dirty="0" smtClean="0"/>
              <a:t>General calling     </a:t>
            </a:r>
            <a:r>
              <a:rPr lang="ml-IN" dirty="0" smtClean="0"/>
              <a:t>സാർവത്രിക </a:t>
            </a:r>
            <a:r>
              <a:rPr lang="ml-IN" dirty="0"/>
              <a:t>വിളി </a:t>
            </a:r>
            <a:r>
              <a:rPr lang="en-US" dirty="0" smtClean="0"/>
              <a:t>Mathew 2</a:t>
            </a:r>
            <a:r>
              <a:rPr lang="ml-IN" dirty="0" smtClean="0"/>
              <a:t>2</a:t>
            </a:r>
            <a:r>
              <a:rPr lang="en-US" dirty="0" smtClean="0"/>
              <a:t>: </a:t>
            </a:r>
            <a:r>
              <a:rPr lang="ml-IN" dirty="0"/>
              <a:t>1</a:t>
            </a:r>
            <a:r>
              <a:rPr lang="en-US" dirty="0" smtClean="0"/>
              <a:t>4</a:t>
            </a:r>
          </a:p>
          <a:p>
            <a:pPr lvl="2"/>
            <a:r>
              <a:rPr lang="en-US" dirty="0" smtClean="0"/>
              <a:t>Effectual calling    </a:t>
            </a:r>
            <a:r>
              <a:rPr lang="ml-IN" dirty="0" smtClean="0"/>
              <a:t>ഫലവത്തായ </a:t>
            </a:r>
            <a:r>
              <a:rPr lang="ml-IN" dirty="0"/>
              <a:t>വിളി </a:t>
            </a:r>
            <a:r>
              <a:rPr lang="en-IN" dirty="0" smtClean="0"/>
              <a:t>Romans 8: 30 1Cor1: 9</a:t>
            </a:r>
          </a:p>
          <a:p>
            <a:r>
              <a:rPr lang="en-IN" dirty="0" smtClean="0"/>
              <a:t>Predestination </a:t>
            </a:r>
            <a:r>
              <a:rPr lang="en-US" dirty="0" smtClean="0"/>
              <a:t>    </a:t>
            </a:r>
            <a:r>
              <a:rPr lang="en-IN" dirty="0" smtClean="0"/>
              <a:t> </a:t>
            </a:r>
            <a:r>
              <a:rPr lang="ml-IN" dirty="0" smtClean="0"/>
              <a:t>മുൻനിയമനം</a:t>
            </a:r>
            <a:endParaRPr lang="en-US" dirty="0" smtClean="0"/>
          </a:p>
          <a:p>
            <a:r>
              <a:rPr lang="en-US" dirty="0" smtClean="0"/>
              <a:t>Different Views    </a:t>
            </a:r>
            <a:r>
              <a:rPr lang="ml-IN" dirty="0" smtClean="0"/>
              <a:t>വിവിധ ചിന്താഗതികൾ</a:t>
            </a:r>
          </a:p>
          <a:p>
            <a:pPr lvl="2"/>
            <a:r>
              <a:rPr lang="ml-IN" dirty="0" smtClean="0"/>
              <a:t>അർമേനിയൻ</a:t>
            </a:r>
            <a:r>
              <a:rPr lang="en-US" dirty="0" smtClean="0"/>
              <a:t> </a:t>
            </a:r>
            <a:r>
              <a:rPr lang="en-US" dirty="0" err="1" smtClean="0"/>
              <a:t>Armenianism</a:t>
            </a:r>
            <a:endParaRPr lang="ml-IN" dirty="0" smtClean="0"/>
          </a:p>
          <a:p>
            <a:pPr lvl="2"/>
            <a:r>
              <a:rPr lang="ml-IN" dirty="0" smtClean="0"/>
              <a:t>ബാർത്തിയൻ</a:t>
            </a:r>
            <a:r>
              <a:rPr lang="en-US" dirty="0" smtClean="0"/>
              <a:t>  </a:t>
            </a:r>
            <a:r>
              <a:rPr lang="en-US" dirty="0" err="1" smtClean="0"/>
              <a:t>Barthianism</a:t>
            </a:r>
            <a:endParaRPr lang="ml-IN" dirty="0" smtClean="0"/>
          </a:p>
          <a:p>
            <a:pPr lvl="2"/>
            <a:r>
              <a:rPr lang="ml-IN" dirty="0" smtClean="0"/>
              <a:t>കാൽവിനിക</a:t>
            </a:r>
            <a:r>
              <a:rPr lang="en-US" dirty="0" smtClean="0"/>
              <a:t>    Calvinism  -- ‘TULIP’ </a:t>
            </a:r>
          </a:p>
          <a:p>
            <a:pPr lvl="3"/>
            <a:r>
              <a:rPr lang="en-US" dirty="0" smtClean="0"/>
              <a:t>Total depravity </a:t>
            </a:r>
            <a:r>
              <a:rPr lang="ml-IN" dirty="0" smtClean="0"/>
              <a:t>സമ്പൂർണ്ണ അധഃപതനം</a:t>
            </a:r>
            <a:endParaRPr lang="en-US" dirty="0" smtClean="0"/>
          </a:p>
          <a:p>
            <a:pPr lvl="3"/>
            <a:r>
              <a:rPr lang="en-US" dirty="0" smtClean="0"/>
              <a:t>Unconditional Predestination</a:t>
            </a:r>
            <a:r>
              <a:rPr lang="ml-IN" dirty="0" smtClean="0"/>
              <a:t> നിരുപാധികമായ മുൻനിയമനം</a:t>
            </a:r>
            <a:endParaRPr lang="en-US" dirty="0" smtClean="0"/>
          </a:p>
          <a:p>
            <a:pPr lvl="3"/>
            <a:r>
              <a:rPr lang="en-US" dirty="0" smtClean="0"/>
              <a:t>Limited Atonement</a:t>
            </a:r>
            <a:r>
              <a:rPr lang="ml-IN" dirty="0" smtClean="0"/>
              <a:t> പരിമിതമായ പ്രായഛിത്തം</a:t>
            </a:r>
            <a:endParaRPr lang="en-US" dirty="0" smtClean="0"/>
          </a:p>
          <a:p>
            <a:pPr lvl="3"/>
            <a:r>
              <a:rPr lang="en-US" dirty="0" smtClean="0"/>
              <a:t>Irresistible Grace</a:t>
            </a:r>
            <a:r>
              <a:rPr lang="ml-IN" dirty="0" smtClean="0"/>
              <a:t> അപ്രതിരോധ്യമായ കൃപ</a:t>
            </a:r>
            <a:endParaRPr lang="en-US" dirty="0" smtClean="0"/>
          </a:p>
          <a:p>
            <a:pPr lvl="3"/>
            <a:r>
              <a:rPr lang="en-US" dirty="0" smtClean="0"/>
              <a:t>Perseverance</a:t>
            </a:r>
            <a:r>
              <a:rPr lang="ml-IN" dirty="0" smtClean="0"/>
              <a:t>  രക്ഷയുടെ ഭദ്രത</a:t>
            </a:r>
          </a:p>
          <a:p>
            <a:r>
              <a:rPr lang="en-US" dirty="0" smtClean="0"/>
              <a:t>Jesus Christ and Apostles Mat 22: 14, </a:t>
            </a:r>
            <a:r>
              <a:rPr lang="en-US" dirty="0" err="1" smtClean="0"/>
              <a:t>Eph</a:t>
            </a:r>
            <a:r>
              <a:rPr lang="en-US" dirty="0"/>
              <a:t> </a:t>
            </a:r>
            <a:r>
              <a:rPr lang="en-US" dirty="0" smtClean="0"/>
              <a:t>1: 4</a:t>
            </a:r>
            <a:endParaRPr lang="ml-IN" dirty="0" smtClean="0"/>
          </a:p>
          <a:p>
            <a:pPr lvl="2"/>
            <a:endParaRPr lang="en-US" dirty="0" smtClean="0"/>
          </a:p>
          <a:p>
            <a:pPr lvl="1"/>
            <a:endParaRPr lang="en-US" dirty="0"/>
          </a:p>
          <a:p>
            <a:pPr lvl="1"/>
            <a:endParaRPr lang="en-IN" dirty="0" smtClean="0"/>
          </a:p>
          <a:p>
            <a:pPr lvl="2"/>
            <a:endParaRPr lang="ml-IN" dirty="0" smtClean="0"/>
          </a:p>
          <a:p>
            <a:pPr lvl="1"/>
            <a:endParaRPr lang="ml-IN" dirty="0"/>
          </a:p>
          <a:p>
            <a:pPr lvl="2"/>
            <a:endParaRPr lang="en-US" dirty="0" smtClean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210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136800"/>
          </a:xfrm>
        </p:spPr>
        <p:txBody>
          <a:bodyPr/>
          <a:lstStyle/>
          <a:p>
            <a:pPr algn="ctr"/>
            <a:r>
              <a:rPr lang="en-US" dirty="0" smtClean="0"/>
              <a:t>REPENTANCE (CONVERSION) </a:t>
            </a:r>
            <a:r>
              <a:rPr lang="ml-IN" dirty="0"/>
              <a:t>മാനസാന്തര൦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1770907"/>
            <a:ext cx="8946541" cy="4646985"/>
          </a:xfrm>
        </p:spPr>
        <p:txBody>
          <a:bodyPr>
            <a:normAutofit/>
          </a:bodyPr>
          <a:lstStyle/>
          <a:p>
            <a:r>
              <a:rPr lang="en-US" dirty="0" smtClean="0"/>
              <a:t>Introduction </a:t>
            </a:r>
            <a:r>
              <a:rPr lang="ml-IN" dirty="0" smtClean="0"/>
              <a:t>മുഖവുര</a:t>
            </a:r>
            <a:r>
              <a:rPr lang="en-US" dirty="0" smtClean="0"/>
              <a:t>  </a:t>
            </a:r>
          </a:p>
          <a:p>
            <a:r>
              <a:rPr lang="ml-IN" dirty="0" smtClean="0"/>
              <a:t>പദങ്ങൾ</a:t>
            </a:r>
            <a:r>
              <a:rPr lang="en-US" dirty="0" smtClean="0"/>
              <a:t> Terminology : ‘SHUV’ (HB) </a:t>
            </a:r>
            <a:r>
              <a:rPr lang="ml-IN" dirty="0"/>
              <a:t>ദൈവത്തിങ്കലേക്ക് </a:t>
            </a:r>
            <a:r>
              <a:rPr lang="ml-IN" dirty="0" smtClean="0"/>
              <a:t>തിരിയുക</a:t>
            </a:r>
            <a:endParaRPr lang="en-US" dirty="0" smtClean="0"/>
          </a:p>
          <a:p>
            <a:r>
              <a:rPr lang="en-US" dirty="0" smtClean="0"/>
              <a:t>‘STREPHO’ (GK) = </a:t>
            </a:r>
            <a:r>
              <a:rPr lang="ml-IN" dirty="0" smtClean="0"/>
              <a:t>തിരിയുക</a:t>
            </a:r>
            <a:r>
              <a:rPr lang="en-US" dirty="0" smtClean="0"/>
              <a:t> ‘EPISTREPHO’= </a:t>
            </a:r>
            <a:r>
              <a:rPr lang="ml-IN" dirty="0" smtClean="0"/>
              <a:t>മാനസാന്തര൦</a:t>
            </a:r>
            <a:endParaRPr lang="en-US" dirty="0" smtClean="0"/>
          </a:p>
          <a:p>
            <a:r>
              <a:rPr lang="en-US" dirty="0" smtClean="0"/>
              <a:t>METANOIA (GK)</a:t>
            </a:r>
            <a:r>
              <a:rPr lang="en-IN" dirty="0" smtClean="0"/>
              <a:t> = Met + </a:t>
            </a:r>
            <a:r>
              <a:rPr lang="en-IN" dirty="0" err="1" smtClean="0"/>
              <a:t>Anoia</a:t>
            </a:r>
            <a:r>
              <a:rPr lang="en-IN" dirty="0" smtClean="0"/>
              <a:t> = after the madness</a:t>
            </a:r>
          </a:p>
          <a:p>
            <a:pPr lvl="1"/>
            <a:r>
              <a:rPr lang="en-US" dirty="0" smtClean="0"/>
              <a:t>Meta + </a:t>
            </a:r>
            <a:r>
              <a:rPr lang="en-US" dirty="0" err="1" smtClean="0"/>
              <a:t>Noia</a:t>
            </a:r>
            <a:r>
              <a:rPr lang="en-US" dirty="0" smtClean="0"/>
              <a:t> = after getting the knowledge</a:t>
            </a:r>
          </a:p>
          <a:p>
            <a:r>
              <a:rPr lang="en-US" dirty="0" smtClean="0"/>
              <a:t>Types of Repentance</a:t>
            </a:r>
          </a:p>
          <a:p>
            <a:pPr lvl="1"/>
            <a:r>
              <a:rPr lang="ml-IN" dirty="0"/>
              <a:t>ദേശീയ </a:t>
            </a:r>
            <a:r>
              <a:rPr lang="ml-IN" dirty="0" smtClean="0"/>
              <a:t>മാനസാന്തര൦</a:t>
            </a:r>
            <a:endParaRPr lang="en-US" dirty="0" smtClean="0"/>
          </a:p>
          <a:p>
            <a:pPr lvl="1"/>
            <a:r>
              <a:rPr lang="ml-IN" dirty="0" smtClean="0"/>
              <a:t>താൽക്കാലിക</a:t>
            </a:r>
            <a:r>
              <a:rPr lang="en-US" dirty="0" smtClean="0"/>
              <a:t> </a:t>
            </a:r>
            <a:r>
              <a:rPr lang="ml-IN" dirty="0"/>
              <a:t>മാനസാന്തര൦</a:t>
            </a:r>
            <a:endParaRPr lang="en-US" dirty="0" smtClean="0"/>
          </a:p>
          <a:p>
            <a:pPr lvl="1"/>
            <a:r>
              <a:rPr lang="ml-IN" dirty="0" smtClean="0"/>
              <a:t>രണ്ടാ൦</a:t>
            </a:r>
            <a:r>
              <a:rPr lang="en-US" dirty="0" smtClean="0"/>
              <a:t> </a:t>
            </a:r>
            <a:r>
              <a:rPr lang="ml-IN" dirty="0" smtClean="0"/>
              <a:t>മാനസാന്തര൦</a:t>
            </a:r>
            <a:endParaRPr lang="en-US" dirty="0" smtClean="0"/>
          </a:p>
          <a:p>
            <a:r>
              <a:rPr lang="en-US" dirty="0" smtClean="0"/>
              <a:t>Nature Of Conversion : Acts 9: 1-19, 2Cor 5: 17, Rom 5:8, John 16:7-9</a:t>
            </a:r>
          </a:p>
          <a:p>
            <a:r>
              <a:rPr lang="en-US" dirty="0" smtClean="0"/>
              <a:t>Conditions : 1. </a:t>
            </a:r>
            <a:r>
              <a:rPr lang="ml-IN" dirty="0" smtClean="0"/>
              <a:t>അനുതാപ൦</a:t>
            </a:r>
            <a:r>
              <a:rPr lang="en-US" dirty="0" smtClean="0"/>
              <a:t> 2. </a:t>
            </a:r>
            <a:r>
              <a:rPr lang="ml-IN" dirty="0"/>
              <a:t>വിശ്വാസ൦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15602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94968"/>
          </a:xfrm>
        </p:spPr>
        <p:txBody>
          <a:bodyPr/>
          <a:lstStyle/>
          <a:p>
            <a:pPr algn="ctr"/>
            <a:r>
              <a:rPr lang="en-US" dirty="0" smtClean="0"/>
              <a:t>REGENERATION </a:t>
            </a:r>
            <a:r>
              <a:rPr lang="ml-IN" dirty="0"/>
              <a:t>വീണ്ടു൦ജനന൦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529698"/>
            <a:ext cx="8946541" cy="4718702"/>
          </a:xfrm>
        </p:spPr>
        <p:txBody>
          <a:bodyPr/>
          <a:lstStyle/>
          <a:p>
            <a:r>
              <a:rPr lang="en-US" dirty="0" smtClean="0"/>
              <a:t>Introduction</a:t>
            </a:r>
            <a:r>
              <a:rPr lang="en-IN" dirty="0" smtClean="0"/>
              <a:t> : Rom 1- 3, </a:t>
            </a:r>
            <a:r>
              <a:rPr lang="en-IN" dirty="0" err="1" smtClean="0"/>
              <a:t>Eph</a:t>
            </a:r>
            <a:r>
              <a:rPr lang="en-IN" dirty="0" smtClean="0"/>
              <a:t> 2: 2- 3.</a:t>
            </a:r>
          </a:p>
          <a:p>
            <a:r>
              <a:rPr lang="en-US" dirty="0" smtClean="0"/>
              <a:t>Terminology  in </a:t>
            </a:r>
            <a:r>
              <a:rPr lang="en-US" dirty="0"/>
              <a:t>G</a:t>
            </a:r>
            <a:r>
              <a:rPr lang="en-US" dirty="0" smtClean="0"/>
              <a:t>reek </a:t>
            </a:r>
          </a:p>
          <a:p>
            <a:pPr lvl="1"/>
            <a:r>
              <a:rPr lang="en-US" dirty="0" err="1" smtClean="0"/>
              <a:t>Gennavo</a:t>
            </a:r>
            <a:r>
              <a:rPr lang="en-US" dirty="0" smtClean="0"/>
              <a:t>       </a:t>
            </a:r>
            <a:r>
              <a:rPr lang="ml-IN" dirty="0"/>
              <a:t>പ്രസവിക്കുക / ഉൽപ്പാദിപ്പിക്കുക</a:t>
            </a:r>
            <a:endParaRPr lang="en-US" dirty="0" smtClean="0"/>
          </a:p>
          <a:p>
            <a:pPr lvl="1"/>
            <a:r>
              <a:rPr lang="en-US" dirty="0" err="1" smtClean="0"/>
              <a:t>Anagennavo</a:t>
            </a:r>
            <a:r>
              <a:rPr lang="en-US" dirty="0" smtClean="0"/>
              <a:t>  </a:t>
            </a:r>
            <a:r>
              <a:rPr lang="en-US" dirty="0"/>
              <a:t> </a:t>
            </a:r>
            <a:r>
              <a:rPr lang="ml-IN" dirty="0" smtClean="0"/>
              <a:t>വീണ്ടും </a:t>
            </a:r>
            <a:r>
              <a:rPr lang="ml-IN" dirty="0"/>
              <a:t>ജനിക്കുക</a:t>
            </a:r>
            <a:endParaRPr lang="en-US" dirty="0" smtClean="0"/>
          </a:p>
          <a:p>
            <a:pPr lvl="1"/>
            <a:r>
              <a:rPr lang="en-US" dirty="0" err="1" smtClean="0"/>
              <a:t>Paleenganasia</a:t>
            </a:r>
            <a:r>
              <a:rPr lang="en-US" dirty="0" smtClean="0"/>
              <a:t> = </a:t>
            </a:r>
            <a:r>
              <a:rPr lang="en-US" dirty="0" err="1" smtClean="0"/>
              <a:t>Paleen</a:t>
            </a:r>
            <a:r>
              <a:rPr lang="en-US" dirty="0" smtClean="0"/>
              <a:t>(</a:t>
            </a:r>
            <a:r>
              <a:rPr lang="ml-IN" dirty="0" smtClean="0"/>
              <a:t>വീണ്ടും</a:t>
            </a:r>
            <a:r>
              <a:rPr lang="en-US" dirty="0" smtClean="0"/>
              <a:t>) + </a:t>
            </a:r>
            <a:r>
              <a:rPr lang="en-US" dirty="0" err="1" smtClean="0"/>
              <a:t>Genesia</a:t>
            </a:r>
            <a:r>
              <a:rPr lang="en-US" dirty="0" smtClean="0"/>
              <a:t>(</a:t>
            </a:r>
            <a:r>
              <a:rPr lang="ml-IN" dirty="0"/>
              <a:t>ജനന൦</a:t>
            </a:r>
            <a:r>
              <a:rPr lang="en-US" dirty="0" smtClean="0"/>
              <a:t>)- </a:t>
            </a:r>
            <a:r>
              <a:rPr lang="ml-IN" dirty="0" smtClean="0"/>
              <a:t>പുനർജനന൦</a:t>
            </a:r>
            <a:endParaRPr lang="en-US" dirty="0" smtClean="0"/>
          </a:p>
          <a:p>
            <a:r>
              <a:rPr lang="en-US" dirty="0" smtClean="0"/>
              <a:t>Definition : “</a:t>
            </a:r>
            <a:r>
              <a:rPr lang="ml-IN" dirty="0" smtClean="0"/>
              <a:t>ദൈവ൦</a:t>
            </a:r>
            <a:r>
              <a:rPr lang="en-US" dirty="0" smtClean="0"/>
              <a:t> </a:t>
            </a:r>
            <a:r>
              <a:rPr lang="ml-IN" dirty="0" smtClean="0"/>
              <a:t>തന്റെ</a:t>
            </a:r>
            <a:r>
              <a:rPr lang="en-US" dirty="0" smtClean="0"/>
              <a:t> </a:t>
            </a:r>
            <a:r>
              <a:rPr lang="ml-IN" dirty="0" smtClean="0"/>
              <a:t>ആത്മാവിനാൽ</a:t>
            </a:r>
            <a:r>
              <a:rPr lang="en-US" dirty="0" smtClean="0"/>
              <a:t> </a:t>
            </a:r>
            <a:r>
              <a:rPr lang="ml-IN" dirty="0" smtClean="0"/>
              <a:t>ഒരു</a:t>
            </a:r>
            <a:r>
              <a:rPr lang="en-US" dirty="0" smtClean="0"/>
              <a:t> </a:t>
            </a:r>
            <a:r>
              <a:rPr lang="ml-IN" dirty="0" smtClean="0"/>
              <a:t>വിശ്വാസിയെ പാപത്തിൽനിന്ന്</a:t>
            </a:r>
            <a:r>
              <a:rPr lang="en-US" dirty="0" smtClean="0"/>
              <a:t> </a:t>
            </a:r>
            <a:r>
              <a:rPr lang="ml-IN" dirty="0" smtClean="0"/>
              <a:t>ശുദ്ധീകരിച്ച്</a:t>
            </a:r>
            <a:r>
              <a:rPr lang="en-US" dirty="0" smtClean="0"/>
              <a:t> </a:t>
            </a:r>
            <a:r>
              <a:rPr lang="ml-IN" dirty="0" smtClean="0"/>
              <a:t>ദൈവഭവനത്തിലേക്ക് ആത്മികമായി</a:t>
            </a:r>
            <a:r>
              <a:rPr lang="en-US" dirty="0" smtClean="0"/>
              <a:t> </a:t>
            </a:r>
            <a:r>
              <a:rPr lang="ml-IN" dirty="0" smtClean="0"/>
              <a:t>ജനിപ്പിക്കുന്ന</a:t>
            </a:r>
            <a:r>
              <a:rPr lang="en-US" dirty="0" smtClean="0"/>
              <a:t> </a:t>
            </a:r>
            <a:r>
              <a:rPr lang="ml-IN" dirty="0" smtClean="0"/>
              <a:t>പ്രക്രിയയാണ്</a:t>
            </a:r>
            <a:r>
              <a:rPr lang="en-US" dirty="0" smtClean="0"/>
              <a:t>” (Evangelical Dictionary of Theology)</a:t>
            </a:r>
          </a:p>
          <a:p>
            <a:r>
              <a:rPr lang="en-US" dirty="0" smtClean="0"/>
              <a:t>Necessity : 1. Total depravity 2. Sin Rom 1: 18-32, 7: 18- 20, </a:t>
            </a:r>
            <a:r>
              <a:rPr lang="en-US" dirty="0" err="1" smtClean="0"/>
              <a:t>Eph</a:t>
            </a:r>
            <a:r>
              <a:rPr lang="en-US" dirty="0" smtClean="0"/>
              <a:t> 2: 1</a:t>
            </a:r>
          </a:p>
          <a:p>
            <a:r>
              <a:rPr lang="en-US" dirty="0" smtClean="0"/>
              <a:t>N.T. Doctrine : Mat 7: 17, 15: 13, John 1: 12,13 3:3, </a:t>
            </a:r>
          </a:p>
          <a:p>
            <a:r>
              <a:rPr lang="en-US" dirty="0" smtClean="0"/>
              <a:t>Consequence : Ephesians 4: 17-32. </a:t>
            </a:r>
          </a:p>
        </p:txBody>
      </p:sp>
    </p:spTree>
    <p:extLst>
      <p:ext uri="{BB962C8B-B14F-4D97-AF65-F5344CB8AC3E}">
        <p14:creationId xmlns:p14="http://schemas.microsoft.com/office/powerpoint/2010/main" val="1068300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65884"/>
          </a:xfrm>
        </p:spPr>
        <p:txBody>
          <a:bodyPr/>
          <a:lstStyle/>
          <a:p>
            <a:pPr algn="ctr"/>
            <a:r>
              <a:rPr lang="en-US" dirty="0" smtClean="0"/>
              <a:t>JUSTIFICATION  </a:t>
            </a:r>
            <a:r>
              <a:rPr lang="ml-IN" dirty="0"/>
              <a:t>നീതീകരണ൦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418602"/>
            <a:ext cx="8946541" cy="482979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Introduction :  2Cor 5:21, </a:t>
            </a:r>
          </a:p>
          <a:p>
            <a:r>
              <a:rPr lang="en-US" dirty="0" smtClean="0"/>
              <a:t>Terminology : ‘</a:t>
            </a:r>
            <a:r>
              <a:rPr lang="en-US" dirty="0" err="1" smtClean="0"/>
              <a:t>Tsadaq</a:t>
            </a:r>
            <a:r>
              <a:rPr lang="en-US" dirty="0" smtClean="0"/>
              <a:t>’(</a:t>
            </a:r>
            <a:r>
              <a:rPr lang="en-US" dirty="0" err="1" smtClean="0"/>
              <a:t>Hb</a:t>
            </a:r>
            <a:r>
              <a:rPr lang="en-US" dirty="0" smtClean="0"/>
              <a:t>) = </a:t>
            </a:r>
            <a:r>
              <a:rPr lang="ml-IN" dirty="0" smtClean="0"/>
              <a:t>നീതീകരിക്കുക</a:t>
            </a:r>
            <a:endParaRPr lang="en-US" dirty="0" smtClean="0"/>
          </a:p>
          <a:p>
            <a:pPr lvl="1"/>
            <a:r>
              <a:rPr lang="en-US" dirty="0" smtClean="0"/>
              <a:t>‘</a:t>
            </a:r>
            <a:r>
              <a:rPr lang="en-US" dirty="0" err="1" smtClean="0"/>
              <a:t>Dikaioo</a:t>
            </a:r>
            <a:r>
              <a:rPr lang="en-US" dirty="0" smtClean="0"/>
              <a:t>’ (</a:t>
            </a:r>
            <a:r>
              <a:rPr lang="en-US" dirty="0" err="1" smtClean="0"/>
              <a:t>Gk</a:t>
            </a:r>
            <a:r>
              <a:rPr lang="en-US" dirty="0" smtClean="0"/>
              <a:t>) = </a:t>
            </a:r>
            <a:r>
              <a:rPr lang="ml-IN" dirty="0" smtClean="0"/>
              <a:t>നീതീകരിക്കുക</a:t>
            </a:r>
            <a:r>
              <a:rPr lang="en-US" dirty="0" smtClean="0"/>
              <a:t> Luke 18: 14, Rom 8:33, 4:5, </a:t>
            </a:r>
          </a:p>
          <a:p>
            <a:r>
              <a:rPr lang="en-US" dirty="0" smtClean="0"/>
              <a:t>Definition : </a:t>
            </a:r>
            <a:r>
              <a:rPr lang="ml-IN" dirty="0" smtClean="0"/>
              <a:t>വീണ്ടുംജനന൦</a:t>
            </a:r>
            <a:r>
              <a:rPr lang="en-US" dirty="0" smtClean="0"/>
              <a:t> </a:t>
            </a:r>
            <a:r>
              <a:rPr lang="ml-IN" dirty="0" smtClean="0"/>
              <a:t>അല്ല</a:t>
            </a:r>
            <a:r>
              <a:rPr lang="en-US" dirty="0" smtClean="0"/>
              <a:t>, </a:t>
            </a:r>
            <a:r>
              <a:rPr lang="ml-IN" dirty="0" smtClean="0"/>
              <a:t>വിശുദ്ധീകരണ൦</a:t>
            </a:r>
            <a:r>
              <a:rPr lang="en-US" dirty="0" smtClean="0"/>
              <a:t> </a:t>
            </a:r>
            <a:r>
              <a:rPr lang="ml-IN" dirty="0" smtClean="0"/>
              <a:t>അല്ല</a:t>
            </a:r>
            <a:r>
              <a:rPr lang="en-US" dirty="0" smtClean="0"/>
              <a:t>, </a:t>
            </a:r>
            <a:r>
              <a:rPr lang="ml-IN" dirty="0" smtClean="0"/>
              <a:t>പാപക്ഷമ</a:t>
            </a:r>
            <a:r>
              <a:rPr lang="en-US" dirty="0" smtClean="0"/>
              <a:t> </a:t>
            </a:r>
            <a:r>
              <a:rPr lang="ml-IN" dirty="0" smtClean="0"/>
              <a:t>അല്ല</a:t>
            </a:r>
            <a:r>
              <a:rPr lang="en-US" dirty="0" smtClean="0"/>
              <a:t>,  </a:t>
            </a:r>
          </a:p>
          <a:p>
            <a:r>
              <a:rPr lang="en-US" dirty="0" smtClean="0"/>
              <a:t>West minister shorter catechism “</a:t>
            </a:r>
            <a:r>
              <a:rPr lang="ml-IN" dirty="0"/>
              <a:t>ക്രിസ്തുവിന്റെ നീതി നമ്മുടെമേൽ കണക്കിടുകയു൦ വിശ്വാസത്താൽമാത്ര൦  അത് സ്വീകരിക്കുകയും ചെയ്യുന്നതു മുഖാന്തരം ദൈവ൦ നമ്മുടെ സകല പാപങ്ങളും ക്ഷമിക്കുകയും തന്റെ ദൃഷ്ടിയിൽ നീതിമാൻമാരായി സ്വീകരിക്കുകയു൦ ചെയ്യുന്ന ദൈവത്തിന്റെ സൌജന്യ കൃപയുടെ പ്രവർത്തിയാണ് </a:t>
            </a:r>
            <a:r>
              <a:rPr lang="ml-IN" dirty="0" smtClean="0"/>
              <a:t>നീതീകരണം</a:t>
            </a:r>
            <a:r>
              <a:rPr lang="en-US" dirty="0" smtClean="0"/>
              <a:t>.”</a:t>
            </a:r>
          </a:p>
          <a:p>
            <a:r>
              <a:rPr lang="en-US" dirty="0" smtClean="0"/>
              <a:t>N T : Rom 3: 21-28</a:t>
            </a:r>
          </a:p>
          <a:p>
            <a:r>
              <a:rPr lang="en-US" dirty="0" smtClean="0"/>
              <a:t>Consequences : Romans 5 : 1- 10.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5429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29151"/>
          </a:xfrm>
        </p:spPr>
        <p:txBody>
          <a:bodyPr/>
          <a:lstStyle/>
          <a:p>
            <a:pPr algn="ctr"/>
            <a:r>
              <a:rPr lang="en-US" dirty="0" smtClean="0"/>
              <a:t>SANCTIFICATION </a:t>
            </a:r>
            <a:r>
              <a:rPr lang="ml-IN" dirty="0"/>
              <a:t>വിശുദ്ധീകരണ൦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460" y="2563738"/>
            <a:ext cx="8946541" cy="4590515"/>
          </a:xfrm>
        </p:spPr>
        <p:txBody>
          <a:bodyPr/>
          <a:lstStyle/>
          <a:p>
            <a:r>
              <a:rPr lang="en-US" dirty="0" smtClean="0"/>
              <a:t>Introduction </a:t>
            </a:r>
          </a:p>
          <a:p>
            <a:r>
              <a:rPr lang="en-US" dirty="0" smtClean="0"/>
              <a:t>Terminology :‘</a:t>
            </a:r>
            <a:r>
              <a:rPr lang="en-US" dirty="0" err="1" smtClean="0"/>
              <a:t>Qadosh</a:t>
            </a:r>
            <a:r>
              <a:rPr lang="en-US" dirty="0" smtClean="0"/>
              <a:t>’ </a:t>
            </a:r>
            <a:r>
              <a:rPr lang="ml-IN" dirty="0" smtClean="0"/>
              <a:t>ഖാദോഷ്</a:t>
            </a:r>
            <a:r>
              <a:rPr lang="en-US" dirty="0" smtClean="0"/>
              <a:t> (</a:t>
            </a:r>
            <a:r>
              <a:rPr lang="en-US" dirty="0" err="1" smtClean="0"/>
              <a:t>Hb</a:t>
            </a:r>
            <a:r>
              <a:rPr lang="en-US" dirty="0" smtClean="0"/>
              <a:t>)   </a:t>
            </a:r>
            <a:r>
              <a:rPr lang="ml-IN" dirty="0" smtClean="0"/>
              <a:t>വിശുദ്ധമായത്</a:t>
            </a:r>
            <a:r>
              <a:rPr lang="en-US" dirty="0" smtClean="0"/>
              <a:t>, </a:t>
            </a:r>
            <a:r>
              <a:rPr lang="ml-IN" dirty="0" smtClean="0"/>
              <a:t>വേർതിരിക്കപ്പെട്ടത്</a:t>
            </a:r>
            <a:endParaRPr lang="en-US" dirty="0" smtClean="0"/>
          </a:p>
          <a:p>
            <a:pPr lvl="1"/>
            <a:r>
              <a:rPr lang="en-US" dirty="0" smtClean="0"/>
              <a:t>‘</a:t>
            </a:r>
            <a:r>
              <a:rPr lang="en-US" dirty="0" err="1" smtClean="0"/>
              <a:t>Hagiazo</a:t>
            </a:r>
            <a:r>
              <a:rPr lang="en-US" dirty="0" smtClean="0"/>
              <a:t>’ (</a:t>
            </a:r>
            <a:r>
              <a:rPr lang="en-US" dirty="0" err="1" smtClean="0"/>
              <a:t>Gk</a:t>
            </a:r>
            <a:r>
              <a:rPr lang="en-US" dirty="0" smtClean="0"/>
              <a:t>) </a:t>
            </a:r>
            <a:r>
              <a:rPr lang="ml-IN" dirty="0" smtClean="0"/>
              <a:t>പരിശുദ്ധമാക്കുക</a:t>
            </a:r>
            <a:endParaRPr lang="en-US" dirty="0" smtClean="0"/>
          </a:p>
          <a:p>
            <a:r>
              <a:rPr lang="en-US" dirty="0" smtClean="0"/>
              <a:t>Definition : “</a:t>
            </a:r>
            <a:r>
              <a:rPr lang="ml-IN" dirty="0"/>
              <a:t>സൌജന്യമായ ദൈവകൃപയുടെ പ്രവൃത്തിയാൽ നമ്മുടെ വൃക്തിത്വ൦ ദൈവത്തിന്റെ സ്വരൂപത്തോട് അനുരൂപപ്പെടുകയു൦ ദിന൦തോറു൦ പാപത്തിന് മരിച്ച് നീതിക്കു ജീവിക്കുവാൻ പ്രാപ്തനായിത്തീരുകയു൦ ചെയ്യുന്നതാണ് . നമ്മെ വിശുദ്ധരാക്കുന്ന ദൈവീക പ്രവർത്തനമാണ് </a:t>
            </a:r>
            <a:r>
              <a:rPr lang="ml-IN" dirty="0" smtClean="0"/>
              <a:t>വിശുദ്ധീകരണ൦</a:t>
            </a:r>
            <a:r>
              <a:rPr lang="en-US" dirty="0" smtClean="0"/>
              <a:t>.“</a:t>
            </a:r>
          </a:p>
          <a:p>
            <a:r>
              <a:rPr lang="en-US" dirty="0" smtClean="0"/>
              <a:t>Deference between Justification and Sanctification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1058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46243"/>
          </a:xfrm>
        </p:spPr>
        <p:txBody>
          <a:bodyPr/>
          <a:lstStyle/>
          <a:p>
            <a:pPr algn="ctr"/>
            <a:r>
              <a:rPr lang="en-US" dirty="0" smtClean="0"/>
              <a:t>GLORIFICATION </a:t>
            </a:r>
            <a:r>
              <a:rPr lang="ml-IN" dirty="0"/>
              <a:t>മഹത്വീകരണ൦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666430"/>
            <a:ext cx="8946541" cy="4581969"/>
          </a:xfrm>
        </p:spPr>
        <p:txBody>
          <a:bodyPr/>
          <a:lstStyle/>
          <a:p>
            <a:r>
              <a:rPr lang="en-US" dirty="0" smtClean="0"/>
              <a:t>Introduction ; Romans 8: 29 – 30</a:t>
            </a:r>
          </a:p>
          <a:p>
            <a:r>
              <a:rPr lang="en-US" dirty="0" smtClean="0"/>
              <a:t>Terminology : </a:t>
            </a:r>
            <a:r>
              <a:rPr lang="en-US" dirty="0" err="1" smtClean="0"/>
              <a:t>Kabod</a:t>
            </a:r>
            <a:r>
              <a:rPr lang="en-US" dirty="0" smtClean="0"/>
              <a:t> (</a:t>
            </a:r>
            <a:r>
              <a:rPr lang="en-US" dirty="0" err="1" smtClean="0"/>
              <a:t>Hb</a:t>
            </a:r>
            <a:r>
              <a:rPr lang="en-US" dirty="0" smtClean="0"/>
              <a:t>) </a:t>
            </a:r>
            <a:r>
              <a:rPr lang="ml-IN" dirty="0" smtClean="0"/>
              <a:t>മഹത്വ൦</a:t>
            </a:r>
            <a:r>
              <a:rPr lang="en-US" dirty="0" smtClean="0"/>
              <a:t> – Exodus 33: 18</a:t>
            </a:r>
          </a:p>
          <a:p>
            <a:pPr lvl="2"/>
            <a:r>
              <a:rPr lang="en-US" dirty="0" err="1" smtClean="0"/>
              <a:t>Doxa</a:t>
            </a:r>
            <a:r>
              <a:rPr lang="en-US" dirty="0" smtClean="0"/>
              <a:t> (</a:t>
            </a:r>
            <a:r>
              <a:rPr lang="en-US" dirty="0" err="1" smtClean="0"/>
              <a:t>Gk</a:t>
            </a:r>
            <a:r>
              <a:rPr lang="en-US" dirty="0" smtClean="0"/>
              <a:t>) </a:t>
            </a:r>
          </a:p>
          <a:p>
            <a:r>
              <a:rPr lang="en-US" dirty="0" smtClean="0"/>
              <a:t>Definition : “</a:t>
            </a:r>
            <a:r>
              <a:rPr lang="ml-IN" dirty="0"/>
              <a:t>ദൈവജനത്തിന്റെ ശരീരവും ആത്മാവു൦ ഉയിർത്തെഴുന്നേറ്റ, ശ്രേഷ്ഠനായ, മഹത്വീകരിക്കപ്പെട്ട  വീണ്ടെടുപ്പുകാരന്റെ പ്രതിമയോട് അനുരൂപപ്പെടുകയു൦ അവരുടെ താഴ്ചയുള്ള ശരീരം ക്രിസ്തുവിന്റെ മഹത്വമുള്ള ശരീരത്തോടു അനുരൂപപ്പെടുകയു൦ ചെയ്യുന്ന, അവരുടെ മുഴു വ്യക്തിത്വത്തിന്റേയു൦ സമ്പൂർണ്ണവു൦ ആത്യന്തികവുമായ വീണ്ടെടുപ്പാണ് </a:t>
            </a:r>
            <a:r>
              <a:rPr lang="ml-IN" dirty="0" smtClean="0"/>
              <a:t>മഹത്വീകരണ൦</a:t>
            </a:r>
            <a:r>
              <a:rPr lang="en-US" dirty="0" smtClean="0"/>
              <a:t>”</a:t>
            </a:r>
          </a:p>
          <a:p>
            <a:r>
              <a:rPr lang="en-US" dirty="0" smtClean="0"/>
              <a:t>1Thes 4: 16 -17, 1Cor 15:51-55, Phil 3:20,21 Rom 8: 20-23, Rev 21:1-4</a:t>
            </a:r>
          </a:p>
          <a:p>
            <a:pPr lvl="1"/>
            <a:r>
              <a:rPr lang="en-US" dirty="0" smtClean="0"/>
              <a:t>1Cor 15: 42- 57, 1John 3: 2, 2Cor 3: 8, </a:t>
            </a:r>
            <a:r>
              <a:rPr lang="en-US" dirty="0" err="1" smtClean="0"/>
              <a:t>Colo</a:t>
            </a:r>
            <a:r>
              <a:rPr lang="en-US" dirty="0" smtClean="0"/>
              <a:t> 3; 4.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7916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1154</TotalTime>
  <Words>631</Words>
  <Application>Microsoft Office PowerPoint</Application>
  <PresentationFormat>Widescreen</PresentationFormat>
  <Paragraphs>110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Century Gothic</vt:lpstr>
      <vt:lpstr>Kartika</vt:lpstr>
      <vt:lpstr>Mangal</vt:lpstr>
      <vt:lpstr>Wingdings 3</vt:lpstr>
      <vt:lpstr>Ion</vt:lpstr>
      <vt:lpstr>PowerPoint Presentation</vt:lpstr>
      <vt:lpstr>PowerPoint Presentation</vt:lpstr>
      <vt:lpstr>SOTERIOLOGY രക്ഷാശാസ്ത്ര൦</vt:lpstr>
      <vt:lpstr>Terminology മൂലപദങ്ങൾ</vt:lpstr>
      <vt:lpstr>SALVATION THEOLOGY</vt:lpstr>
      <vt:lpstr>ORDER OF SALVATION</vt:lpstr>
      <vt:lpstr>ELECTION തെരെഞ്ഞെടുപ്പ്</vt:lpstr>
      <vt:lpstr>REPENTANCE (CONVERSION) മാനസാന്തര൦</vt:lpstr>
      <vt:lpstr>REGENERATION വീണ്ടു൦ജനന൦</vt:lpstr>
      <vt:lpstr>JUSTIFICATION  നീതീകരണ൦</vt:lpstr>
      <vt:lpstr>SANCTIFICATION വിശുദ്ധീകരണ൦</vt:lpstr>
      <vt:lpstr>GLORIFICATION മഹത്വീകരണ൦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75</cp:revision>
  <dcterms:created xsi:type="dcterms:W3CDTF">2026-02-25T08:18:05Z</dcterms:created>
  <dcterms:modified xsi:type="dcterms:W3CDTF">2026-03-11T16:46:43Z</dcterms:modified>
</cp:coreProperties>
</file>