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6" r:id="rId11"/>
    <p:sldId id="265" r:id="rId12"/>
    <p:sldId id="272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4" r:id="rId27"/>
    <p:sldId id="280" r:id="rId28"/>
    <p:sldId id="282" r:id="rId29"/>
    <p:sldId id="285" r:id="rId30"/>
    <p:sldId id="283" r:id="rId31"/>
    <p:sldId id="293" r:id="rId32"/>
    <p:sldId id="294" r:id="rId33"/>
    <p:sldId id="286" r:id="rId34"/>
    <p:sldId id="287" r:id="rId35"/>
    <p:sldId id="292" r:id="rId36"/>
    <p:sldId id="288" r:id="rId37"/>
    <p:sldId id="290" r:id="rId38"/>
    <p:sldId id="291" r:id="rId39"/>
    <p:sldId id="289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05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1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5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6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98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25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05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00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555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72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1764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86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902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86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804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26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05C0742-801A-4C58-9ED7-43C0431315C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6692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8038" y="786213"/>
            <a:ext cx="11615158" cy="29782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8800" b="1" u="sng" dirty="0" smtClean="0"/>
              <a:t>Systematic Theology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115040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</a:t>
            </a:r>
            <a:r>
              <a:rPr lang="en-IN" sz="2400" dirty="0" err="1" smtClean="0"/>
              <a:t>Bibliology</a:t>
            </a:r>
            <a:r>
              <a:rPr lang="en-IN" sz="2400" dirty="0" smtClean="0"/>
              <a:t>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</a:t>
            </a:r>
            <a:r>
              <a:rPr lang="en-IN" sz="2400" dirty="0" err="1" smtClean="0"/>
              <a:t>Hamartiology</a:t>
            </a: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5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8038" y="786213"/>
            <a:ext cx="11615158" cy="29782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8800" b="1" u="sng" dirty="0" smtClean="0"/>
              <a:t>Theology Proper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72992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dirty="0" smtClean="0"/>
              <a:t>INTRODUCTION</a:t>
            </a:r>
            <a:endParaRPr lang="en-IN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3007968"/>
          </a:xfrm>
        </p:spPr>
        <p:txBody>
          <a:bodyPr>
            <a:noAutofit/>
          </a:bodyPr>
          <a:lstStyle/>
          <a:p>
            <a:r>
              <a:rPr lang="en-US" dirty="0" smtClean="0"/>
              <a:t>Study About </a:t>
            </a:r>
          </a:p>
          <a:p>
            <a:pPr lvl="1"/>
            <a:r>
              <a:rPr lang="en-US" sz="2000" dirty="0" smtClean="0"/>
              <a:t>God’s Existence - </a:t>
            </a:r>
            <a:r>
              <a:rPr lang="ml-IN" sz="2000" b="1" dirty="0"/>
              <a:t>ദൈവത്തിന്റെ </a:t>
            </a:r>
            <a:r>
              <a:rPr lang="ml-IN" sz="2000" b="1" dirty="0" smtClean="0"/>
              <a:t>അസ്തിത്വം</a:t>
            </a:r>
            <a:endParaRPr lang="en-US" sz="2000" dirty="0" smtClean="0"/>
          </a:p>
          <a:p>
            <a:pPr lvl="1"/>
            <a:r>
              <a:rPr lang="en-US" sz="2000" dirty="0" smtClean="0"/>
              <a:t>God’s Attributes - </a:t>
            </a:r>
            <a:r>
              <a:rPr lang="ml-IN" sz="2000" b="1" dirty="0"/>
              <a:t>ദൈവത്തിന്റെ ഗുണങ്ങൾ</a:t>
            </a:r>
            <a:endParaRPr lang="en-US" sz="2000" b="1" dirty="0" smtClean="0"/>
          </a:p>
          <a:p>
            <a:pPr lvl="1"/>
            <a:r>
              <a:rPr lang="en-US" sz="2000" dirty="0" smtClean="0"/>
              <a:t>God’s Work	     - </a:t>
            </a:r>
            <a:r>
              <a:rPr lang="ml-IN" sz="2000" b="1" dirty="0"/>
              <a:t>ദൈവത്തിന്റെ</a:t>
            </a:r>
            <a:r>
              <a:rPr lang="ml-IN" sz="2000" dirty="0"/>
              <a:t> </a:t>
            </a:r>
            <a:r>
              <a:rPr lang="ml-IN" sz="2000" b="1" dirty="0"/>
              <a:t>പ്രവൃത്തികൾ</a:t>
            </a:r>
            <a:r>
              <a:rPr lang="ml-IN" sz="2000" dirty="0"/>
              <a:t> </a:t>
            </a:r>
            <a:r>
              <a:rPr lang="en-US" sz="2000" dirty="0" smtClean="0"/>
              <a:t>										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8379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Chapter -1</a:t>
            </a:r>
            <a:br>
              <a:rPr lang="en-US" sz="4800" dirty="0" smtClean="0"/>
            </a:br>
            <a:r>
              <a:rPr lang="en-US" sz="4800" dirty="0" smtClean="0"/>
              <a:t>Types </a:t>
            </a:r>
            <a:r>
              <a:rPr lang="en-US" sz="4800" dirty="0"/>
              <a:t>of God’s believes</a:t>
            </a:r>
            <a:endParaRPr lang="en-IN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Two types :</a:t>
            </a:r>
          </a:p>
          <a:p>
            <a:pPr lvl="1"/>
            <a:r>
              <a:rPr lang="ml-IN" sz="2000" b="1" dirty="0" smtClean="0"/>
              <a:t>നിരീശ്വരവാദം</a:t>
            </a:r>
            <a:r>
              <a:rPr lang="en-US" sz="2000" b="1" dirty="0" smtClean="0"/>
              <a:t> - </a:t>
            </a:r>
            <a:r>
              <a:rPr lang="ml-IN" sz="2000" b="1" dirty="0" smtClean="0"/>
              <a:t>നാസ്തികവാദം </a:t>
            </a:r>
            <a:r>
              <a:rPr lang="en-US" sz="2000" b="1" dirty="0" smtClean="0"/>
              <a:t>- </a:t>
            </a:r>
            <a:r>
              <a:rPr lang="en-US" sz="2000" dirty="0" smtClean="0"/>
              <a:t>Atheism</a:t>
            </a:r>
          </a:p>
          <a:p>
            <a:pPr lvl="2"/>
            <a:r>
              <a:rPr lang="ml-IN" dirty="0"/>
              <a:t>ഏതെങ്കിലും ദൈവങ്ങളുടെയോ ദേവതകളുടെയോ അസ്തിത്വത്തിൽ </a:t>
            </a:r>
            <a:r>
              <a:rPr lang="ml-IN" b="1" dirty="0"/>
              <a:t>വിശ്വാസമില്ലായ്മ</a:t>
            </a:r>
            <a:r>
              <a:rPr lang="ml-IN" dirty="0"/>
              <a:t> അല്ലെങ്കിൽ </a:t>
            </a:r>
            <a:r>
              <a:rPr lang="ml-IN" b="1" dirty="0" smtClean="0"/>
              <a:t>അവിശ്വാസം</a:t>
            </a:r>
            <a:endParaRPr lang="en-US" b="1" dirty="0" smtClean="0"/>
          </a:p>
          <a:p>
            <a:pPr lvl="3"/>
            <a:r>
              <a:rPr lang="en-IN" b="1" dirty="0"/>
              <a:t>Strong Atheism</a:t>
            </a:r>
            <a:r>
              <a:rPr lang="en-IN" dirty="0"/>
              <a:t> = </a:t>
            </a:r>
            <a:r>
              <a:rPr lang="ml-IN" dirty="0"/>
              <a:t>ദൈവമില്ലെന്ന് ഉറപ്പ്</a:t>
            </a:r>
            <a:r>
              <a:rPr lang="ml-IN" dirty="0" smtClean="0"/>
              <a:t>.</a:t>
            </a:r>
            <a:endParaRPr lang="en-US" dirty="0" smtClean="0"/>
          </a:p>
          <a:p>
            <a:pPr lvl="3"/>
            <a:r>
              <a:rPr lang="en-IN" b="1" dirty="0"/>
              <a:t>Weak Atheism</a:t>
            </a:r>
            <a:r>
              <a:rPr lang="en-IN" dirty="0"/>
              <a:t> = </a:t>
            </a:r>
            <a:r>
              <a:rPr lang="ml-IN" dirty="0"/>
              <a:t>ദൈവത്തിൽ വിശ്വാസമില്ല</a:t>
            </a:r>
            <a:r>
              <a:rPr lang="ml-IN" dirty="0" smtClean="0"/>
              <a:t>.</a:t>
            </a:r>
            <a:endParaRPr lang="en-US" dirty="0" smtClean="0"/>
          </a:p>
          <a:p>
            <a:pPr lvl="3"/>
            <a:r>
              <a:rPr lang="en-IN" b="1" dirty="0"/>
              <a:t>Practical Atheism</a:t>
            </a:r>
            <a:r>
              <a:rPr lang="en-IN" dirty="0"/>
              <a:t> = </a:t>
            </a:r>
            <a:r>
              <a:rPr lang="ml-IN" dirty="0"/>
              <a:t>ദൈവത്തെ അവഗണിച്ച് ജീവിക്കുന്നു</a:t>
            </a:r>
            <a:r>
              <a:rPr lang="ml-IN" dirty="0" smtClean="0"/>
              <a:t>.</a:t>
            </a:r>
            <a:endParaRPr lang="en-US" dirty="0" smtClean="0"/>
          </a:p>
          <a:p>
            <a:pPr lvl="3"/>
            <a:r>
              <a:rPr lang="en-IN" b="1" dirty="0"/>
              <a:t>Agnostic Atheism</a:t>
            </a:r>
            <a:r>
              <a:rPr lang="en-IN" dirty="0"/>
              <a:t> = </a:t>
            </a:r>
            <a:r>
              <a:rPr lang="ml-IN" dirty="0"/>
              <a:t>അറിയാനാകില്ല, പക്ഷേ വിശ്വാസമില്ല</a:t>
            </a:r>
            <a:r>
              <a:rPr lang="ml-IN" dirty="0" smtClean="0"/>
              <a:t>.</a:t>
            </a:r>
            <a:endParaRPr lang="en-US" dirty="0" smtClean="0"/>
          </a:p>
          <a:p>
            <a:pPr lvl="3"/>
            <a:r>
              <a:rPr lang="en-IN" b="1" dirty="0"/>
              <a:t>Philosophical/Scientific Atheism</a:t>
            </a:r>
            <a:r>
              <a:rPr lang="en-IN" dirty="0"/>
              <a:t> = </a:t>
            </a:r>
            <a:r>
              <a:rPr lang="ml-IN" dirty="0"/>
              <a:t>ബുദ്ധിപരമായ/ശാസ്ത്രീയമായ </a:t>
            </a:r>
            <a:r>
              <a:rPr lang="ml-IN" dirty="0" smtClean="0"/>
              <a:t>എതിർപ്പ്.</a:t>
            </a:r>
            <a:endParaRPr lang="en-US" dirty="0" smtClean="0"/>
          </a:p>
          <a:p>
            <a:pPr lvl="1"/>
            <a:r>
              <a:rPr lang="ml-IN" sz="2000" b="1" dirty="0" smtClean="0"/>
              <a:t>ദൈവവിശ്വാസം </a:t>
            </a:r>
            <a:r>
              <a:rPr lang="en-US" sz="2000" b="1" dirty="0" smtClean="0"/>
              <a:t>– </a:t>
            </a:r>
            <a:r>
              <a:rPr lang="en-US" sz="2000" dirty="0" smtClean="0"/>
              <a:t>Theism – Hebrews 11:6</a:t>
            </a:r>
          </a:p>
          <a:p>
            <a:pPr lvl="2"/>
            <a:r>
              <a:rPr lang="ml-IN" b="1" dirty="0"/>
              <a:t>ഒരു സർവ്വശക്തനും, സർവ്വജ്ഞനും, സർവ്വവ്യാപിയുമായ ഒരേ ഒരു ദൈവം</a:t>
            </a:r>
            <a:r>
              <a:rPr lang="ml-IN" dirty="0"/>
              <a:t> ഉണ്ടെന്ന വിശ്വാസമാണ്.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86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Major Beliefs about God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139" y="1394234"/>
            <a:ext cx="10130827" cy="5241956"/>
          </a:xfrm>
        </p:spPr>
        <p:txBody>
          <a:bodyPr>
            <a:normAutofit fontScale="92500"/>
          </a:bodyPr>
          <a:lstStyle/>
          <a:p>
            <a:r>
              <a:rPr lang="ml-IN" b="1" dirty="0" smtClean="0"/>
              <a:t>ദൈവങ്ങളുടെ </a:t>
            </a:r>
            <a:r>
              <a:rPr lang="ml-IN" b="1" dirty="0"/>
              <a:t>എണ്ണം അനുസരിച്ചുള്ള </a:t>
            </a:r>
            <a:r>
              <a:rPr lang="ml-IN" b="1" dirty="0" smtClean="0"/>
              <a:t>വിഭജനം</a:t>
            </a:r>
            <a:endParaRPr lang="en-US" b="1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Unitarianism (</a:t>
            </a:r>
            <a:r>
              <a:rPr lang="ml-IN" b="1" dirty="0"/>
              <a:t>ഏകസങ്കല്പദൈവവാദം</a:t>
            </a:r>
            <a:r>
              <a:rPr lang="ml-IN" b="1" dirty="0" smtClean="0"/>
              <a:t>)</a:t>
            </a:r>
            <a:endParaRPr lang="en-US" b="1" dirty="0" smtClean="0"/>
          </a:p>
          <a:p>
            <a:pPr marL="1200150" lvl="2" indent="-342900"/>
            <a:r>
              <a:rPr lang="ml-IN" b="1" dirty="0"/>
              <a:t>വിശ്വാസം:</a:t>
            </a:r>
            <a:r>
              <a:rPr lang="ml-IN" dirty="0"/>
              <a:t> ദൈവം ഏകമാണ്; ത്രിത്വം ഇല്ല</a:t>
            </a:r>
            <a:r>
              <a:rPr lang="ml-IN" dirty="0" smtClean="0"/>
              <a:t>.</a:t>
            </a: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ml-IN" b="1" dirty="0" smtClean="0"/>
              <a:t>ബഹുദൈവവാദം </a:t>
            </a:r>
            <a:r>
              <a:rPr lang="ml-IN" b="1" dirty="0"/>
              <a:t>(</a:t>
            </a:r>
            <a:r>
              <a:rPr lang="en-IN" b="1" dirty="0"/>
              <a:t>Polytheism):</a:t>
            </a:r>
            <a:r>
              <a:rPr lang="en-IN" dirty="0"/>
              <a:t> </a:t>
            </a:r>
            <a:r>
              <a:rPr lang="ml-IN" b="1" dirty="0"/>
              <a:t>ഒന്നിലധികം ദൈവങ്ങളെ</a:t>
            </a:r>
            <a:r>
              <a:rPr lang="ml-IN" dirty="0"/>
              <a:t> വിശ്വസിക്കുകയും ആരാധിക്കുകയും ചെയ്യുന്നു</a:t>
            </a:r>
            <a:r>
              <a:rPr lang="ml-IN" dirty="0" smtClean="0"/>
              <a:t>.</a:t>
            </a:r>
            <a:endParaRPr lang="en-US" dirty="0" smtClean="0"/>
          </a:p>
          <a:p>
            <a:pPr lvl="2"/>
            <a:r>
              <a:rPr lang="ml-IN" b="1" dirty="0"/>
              <a:t>ഉദാഹരണങ്ങൾ:</a:t>
            </a:r>
            <a:r>
              <a:rPr lang="ml-IN" dirty="0"/>
              <a:t> പ്രാചീന ഗ്രീക്ക് മതം (സിയൂസ്, അതീന), പ്രാചീന ഈജിപ്ഷ്യൻ </a:t>
            </a:r>
            <a:r>
              <a:rPr lang="ml-IN" dirty="0" smtClean="0"/>
              <a:t>മതം, </a:t>
            </a:r>
            <a:r>
              <a:rPr lang="ml-IN" dirty="0"/>
              <a:t>ഹിന്ദുമതം (വിഷ്ണു, ശിവ, ദേവി</a:t>
            </a:r>
            <a:r>
              <a:rPr lang="ml-IN" dirty="0" smtClean="0"/>
              <a:t>).</a:t>
            </a: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ml-IN" b="1" dirty="0"/>
              <a:t>ഏകപ്രധാന ദൈവാരാധന (</a:t>
            </a:r>
            <a:r>
              <a:rPr lang="en-IN" b="1" dirty="0"/>
              <a:t>Henotheism/</a:t>
            </a:r>
            <a:r>
              <a:rPr lang="en-IN" b="1" dirty="0" err="1"/>
              <a:t>Monolatry</a:t>
            </a:r>
            <a:r>
              <a:rPr lang="en-IN" b="1" dirty="0"/>
              <a:t>):</a:t>
            </a:r>
            <a:r>
              <a:rPr lang="en-IN" dirty="0"/>
              <a:t> </a:t>
            </a:r>
            <a:r>
              <a:rPr lang="ml-IN" b="1" dirty="0"/>
              <a:t>പല ദൈവങ്ങളുടെ അസ്തിത്വം</a:t>
            </a:r>
            <a:r>
              <a:rPr lang="ml-IN" dirty="0"/>
              <a:t> ഉണ്ടെന്ന് വിശ്വസിക്കുമ്പോഴും, </a:t>
            </a:r>
            <a:r>
              <a:rPr lang="ml-IN" b="1" dirty="0"/>
              <a:t>ഒരു പ്രാഥമിക ദൈവത്തെ</a:t>
            </a:r>
            <a:r>
              <a:rPr lang="ml-IN" dirty="0"/>
              <a:t> മാത്രമേ സ്ഥിരമായി ആരാധിക്കൂ എന്നതാണ്</a:t>
            </a:r>
            <a:r>
              <a:rPr lang="ml-IN" dirty="0" smtClean="0"/>
              <a:t>.</a:t>
            </a:r>
            <a:endParaRPr lang="en-US" dirty="0" smtClean="0"/>
          </a:p>
          <a:p>
            <a:pPr lvl="2"/>
            <a:r>
              <a:rPr lang="ml-IN" b="1" dirty="0"/>
              <a:t>ഉദാഹരണം:</a:t>
            </a:r>
            <a:r>
              <a:rPr lang="ml-IN" dirty="0"/>
              <a:t> പുരാതന ഇസ്രായേൽ മതം തുടക്കത്തിൽ ഹെനോതീസ്റ്റിക് ആയിരുന്നുവെന്ന് പണ്ഡിതർ കരുതുന്നു. ബാൾ പോലുള്ള ദൈവങ്ങളുടെ അസ്തിത്വം അംഗീകരിച്ചിരുന്നെങ്കിലും യഹോവയെ മാത്രമേ ആരാധിച്ചിരുന്നുള്ളു</a:t>
            </a:r>
            <a:r>
              <a:rPr lang="ml-IN" dirty="0" smtClean="0"/>
              <a:t>.</a:t>
            </a: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ml-IN" b="1" dirty="0"/>
              <a:t>കാലിക ഏകീശ്വരവാദം (</a:t>
            </a:r>
            <a:r>
              <a:rPr lang="en-IN" b="1" dirty="0" err="1"/>
              <a:t>Kathenotheism</a:t>
            </a:r>
            <a:r>
              <a:rPr lang="en-IN" b="1" dirty="0"/>
              <a:t>):</a:t>
            </a:r>
            <a:r>
              <a:rPr lang="en-IN" dirty="0"/>
              <a:t> </a:t>
            </a:r>
            <a:r>
              <a:rPr lang="ml-IN" dirty="0"/>
              <a:t>ഒരു സമയത്ത് </a:t>
            </a:r>
            <a:r>
              <a:rPr lang="ml-IN" b="1" dirty="0"/>
              <a:t>ഒരു ദൈവം</a:t>
            </a:r>
            <a:r>
              <a:rPr lang="ml-IN" dirty="0"/>
              <a:t> മാത്രമേ ഉന്നതനാകൂ എന്ന ബഹുദൈവ വിശ്വാസം. വ്യത്യസ്ത സമയങ്ങളിലോ ആവശ്യങ്ങൾക്കോ അനുസരിച്ച് വ്യത്യസ്ത ദൈവങ്ങളെ ആരാധിക്കുന്നു</a:t>
            </a:r>
            <a:r>
              <a:rPr lang="ml-IN" dirty="0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0892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593358" cy="1400530"/>
          </a:xfrm>
        </p:spPr>
        <p:txBody>
          <a:bodyPr/>
          <a:lstStyle/>
          <a:p>
            <a:r>
              <a:rPr lang="ml-IN" b="1" dirty="0" smtClean="0"/>
              <a:t>ദൈവത്തിന്റെ </a:t>
            </a:r>
            <a:r>
              <a:rPr lang="ml-IN" b="1" dirty="0"/>
              <a:t>സ്വഭാവം അനുസരിച്ചുള്ള വിഭജനം</a:t>
            </a:r>
            <a:br>
              <a:rPr lang="ml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218" y="2199993"/>
            <a:ext cx="9922597" cy="3957872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ml-IN" b="1" dirty="0"/>
              <a:t>സർവ്വദൈവവാദം (</a:t>
            </a:r>
            <a:r>
              <a:rPr lang="en-IN" b="1" dirty="0"/>
              <a:t>Pantheism):</a:t>
            </a:r>
            <a:r>
              <a:rPr lang="en-IN" dirty="0"/>
              <a:t> </a:t>
            </a:r>
            <a:endParaRPr lang="en-IN" dirty="0" smtClean="0"/>
          </a:p>
          <a:p>
            <a:pPr lvl="1"/>
            <a:r>
              <a:rPr lang="ml-IN" b="1" dirty="0" smtClean="0"/>
              <a:t>ദൈവം </a:t>
            </a:r>
            <a:r>
              <a:rPr lang="ml-IN" b="1" dirty="0"/>
              <a:t>പ്രപഞ്ചത്തിനും അതിലുള്ള എല്ലാത്തിനും തുല്യമാണ്</a:t>
            </a:r>
            <a:r>
              <a:rPr lang="ml-IN" dirty="0"/>
              <a:t> എന്ന വിശ്വാസം</a:t>
            </a:r>
            <a:r>
              <a:rPr lang="ml-IN" dirty="0" smtClean="0"/>
              <a:t>.</a:t>
            </a:r>
            <a:endParaRPr lang="en-US" dirty="0" smtClean="0"/>
          </a:p>
          <a:p>
            <a:pPr lvl="2"/>
            <a:r>
              <a:rPr lang="ml-IN" b="1" dirty="0"/>
              <a:t>പ്രധാന ആശയം:</a:t>
            </a:r>
            <a:r>
              <a:rPr lang="ml-IN" dirty="0"/>
              <a:t> "ദൈവമാണ് എല്ലാം, എല്ലാം ദൈവമാണ്."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ml-IN" b="1" dirty="0"/>
              <a:t>അനന്തദൈവവാദം (</a:t>
            </a:r>
            <a:r>
              <a:rPr lang="en-IN" b="1" dirty="0" err="1"/>
              <a:t>Panentheism</a:t>
            </a:r>
            <a:r>
              <a:rPr lang="en-IN" b="1" dirty="0"/>
              <a:t>):</a:t>
            </a:r>
            <a:r>
              <a:rPr lang="en-IN" dirty="0"/>
              <a:t> </a:t>
            </a:r>
            <a:endParaRPr lang="en-IN" dirty="0" smtClean="0"/>
          </a:p>
          <a:p>
            <a:pPr lvl="1"/>
            <a:r>
              <a:rPr lang="ml-IN" b="1" dirty="0" smtClean="0"/>
              <a:t>ദൈവം</a:t>
            </a:r>
            <a:r>
              <a:rPr lang="en-US" b="1" dirty="0" smtClean="0"/>
              <a:t> </a:t>
            </a:r>
            <a:r>
              <a:rPr lang="ml-IN" b="1" dirty="0" smtClean="0"/>
              <a:t>എല്ലാറ്റിലുമുണ്ട്</a:t>
            </a:r>
            <a:r>
              <a:rPr lang="ml-IN" dirty="0"/>
              <a:t> </a:t>
            </a:r>
            <a:r>
              <a:rPr lang="ml-IN" dirty="0" smtClean="0"/>
              <a:t>എന്നുള്ള </a:t>
            </a:r>
            <a:r>
              <a:rPr lang="ml-IN" dirty="0"/>
              <a:t>വിശ്വാസം</a:t>
            </a:r>
            <a:r>
              <a:rPr lang="ml-IN" dirty="0" smtClean="0"/>
              <a:t>.</a:t>
            </a: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r>
              <a:rPr lang="ml-IN" b="1" dirty="0" smtClean="0"/>
              <a:t>ദൈവസിദ്ധാന്തം</a:t>
            </a:r>
            <a:r>
              <a:rPr lang="en-US" b="1" dirty="0" smtClean="0"/>
              <a:t> (</a:t>
            </a:r>
            <a:r>
              <a:rPr lang="en-IN" b="1" dirty="0" smtClean="0"/>
              <a:t>Deism</a:t>
            </a:r>
            <a:r>
              <a:rPr lang="en-US" b="1" dirty="0" smtClean="0"/>
              <a:t>): </a:t>
            </a:r>
          </a:p>
          <a:p>
            <a:pPr lvl="1"/>
            <a:r>
              <a:rPr lang="ml-IN" dirty="0" smtClean="0"/>
              <a:t>ദൈവം </a:t>
            </a:r>
            <a:r>
              <a:rPr lang="ml-IN" dirty="0"/>
              <a:t>ലോകം സൃഷ്ടിച്ചു, പക്ഷേ അതിനുശേഷം ലോകത്തിന്റെ കാര്യങ്ങളിൽ </a:t>
            </a:r>
            <a:r>
              <a:rPr lang="ml-IN" b="1" dirty="0"/>
              <a:t>മധ്യസ്ഥതയോ ഇടപെടലോ നടത്തുന്നില്ല</a:t>
            </a:r>
            <a:r>
              <a:rPr lang="ml-IN" dirty="0"/>
              <a:t> എന്ന വിശ്വാസം</a:t>
            </a:r>
            <a:r>
              <a:rPr lang="ml-IN" dirty="0" smtClean="0"/>
              <a:t>.</a:t>
            </a:r>
            <a:endParaRPr lang="en-US" dirty="0" smtClean="0"/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45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b="1" dirty="0"/>
              <a:t>മറ്റ് പ്രധാനപ്പെട്ട ആശയങ്ങൾ</a:t>
            </a:r>
            <a:br>
              <a:rPr lang="ml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246" y="1439501"/>
            <a:ext cx="9669607" cy="515142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ml-IN" b="1" dirty="0" smtClean="0"/>
              <a:t>ആത്മാവാദം</a:t>
            </a:r>
            <a:r>
              <a:rPr lang="en-US" b="1" dirty="0" smtClean="0"/>
              <a:t> (Animism):</a:t>
            </a:r>
          </a:p>
          <a:p>
            <a:pPr lvl="1"/>
            <a:r>
              <a:rPr lang="ml-IN" dirty="0"/>
              <a:t>ഏറ്റവും പുരാതനമായ വിശ്വാസ വ്യവസ്ഥകളിൽ ഒന്നാണിത്, സസ്യങ്ങൾ, നിഷ്ക്രിയ വസ്തുക്കൾ, പ്രകൃതിദത്ത പ്രതിഭാസങ്ങൾ (ഉദാ: പർവതങ്ങൾ, നദികൾ, കൊടുങ്കാറ്റുകൾ) എന്നിവയ്ക്ക് ഒരു ജീവാത്മാവ് ഉണ്ടെന്ന് വിശ്വസിക്കുന്നു</a:t>
            </a:r>
            <a:r>
              <a:rPr lang="ml-IN" dirty="0" smtClean="0"/>
              <a:t>.</a:t>
            </a:r>
            <a:endParaRPr lang="en-US" dirty="0" smtClean="0"/>
          </a:p>
          <a:p>
            <a:pPr marL="457200" indent="-457200">
              <a:buFont typeface="+mj-lt"/>
              <a:buAutoNum type="arabicPeriod" startAt="7"/>
            </a:pPr>
            <a:r>
              <a:rPr lang="ml-IN" b="1" dirty="0" smtClean="0"/>
              <a:t>വസ്തുആരാധന</a:t>
            </a:r>
            <a:r>
              <a:rPr lang="en-US" b="1" dirty="0" smtClean="0"/>
              <a:t> (</a:t>
            </a:r>
            <a:r>
              <a:rPr lang="en-IN" b="1" dirty="0" err="1" smtClean="0"/>
              <a:t>Fetichism</a:t>
            </a:r>
            <a:r>
              <a:rPr lang="en-US" b="1" dirty="0" smtClean="0"/>
              <a:t>):</a:t>
            </a:r>
          </a:p>
          <a:p>
            <a:pPr lvl="1"/>
            <a:r>
              <a:rPr lang="ml-IN" dirty="0"/>
              <a:t>ചില പ്രത്യേക </a:t>
            </a:r>
            <a:r>
              <a:rPr lang="ml-IN" b="1" dirty="0" smtClean="0"/>
              <a:t>വസ്തുക്കൾക്ക് </a:t>
            </a:r>
            <a:r>
              <a:rPr lang="ml-IN" b="1" dirty="0"/>
              <a:t>(</a:t>
            </a:r>
            <a:r>
              <a:rPr lang="en-IN" b="1" dirty="0"/>
              <a:t>objects)</a:t>
            </a:r>
            <a:r>
              <a:rPr lang="en-IN" dirty="0"/>
              <a:t> </a:t>
            </a:r>
            <a:r>
              <a:rPr lang="ml-IN" b="1" dirty="0"/>
              <a:t>അദ്ഭുതശക്തിയോ ആത്മീയശക്തിയോ</a:t>
            </a:r>
            <a:r>
              <a:rPr lang="ml-IN" dirty="0"/>
              <a:t> ഉണ്ടെന്ന് വിശ്വസിച്ച് അവയെ ആരാധിക്കുന്ന മതരീതി</a:t>
            </a:r>
            <a:r>
              <a:rPr lang="ml-IN" dirty="0" smtClean="0"/>
              <a:t>.</a:t>
            </a:r>
            <a:endParaRPr lang="en-US" dirty="0" smtClean="0"/>
          </a:p>
          <a:p>
            <a:pPr marL="457200" indent="-457200">
              <a:buFont typeface="+mj-lt"/>
              <a:buAutoNum type="arabicPeriod" startAt="7"/>
            </a:pPr>
            <a:r>
              <a:rPr lang="en-IN" b="1" dirty="0" smtClean="0"/>
              <a:t>Hylozoism </a:t>
            </a:r>
            <a:r>
              <a:rPr lang="en-IN" b="1" dirty="0"/>
              <a:t>(</a:t>
            </a:r>
            <a:r>
              <a:rPr lang="ml-IN" b="1" dirty="0"/>
              <a:t>ഹൈലോസോയിസം</a:t>
            </a:r>
            <a:r>
              <a:rPr lang="ml-IN" b="1" dirty="0" smtClean="0"/>
              <a:t>)</a:t>
            </a:r>
            <a:r>
              <a:rPr lang="en-US" b="1" dirty="0" smtClean="0"/>
              <a:t>:</a:t>
            </a:r>
          </a:p>
          <a:p>
            <a:pPr lvl="1"/>
            <a:r>
              <a:rPr lang="ml-IN" b="1" dirty="0"/>
              <a:t>എല്ലാ പദാർത്ഥത്തിനും ജീവൻ ഉണ്ട്</a:t>
            </a:r>
            <a:r>
              <a:rPr lang="ml-IN" dirty="0" smtClean="0"/>
              <a:t>.</a:t>
            </a:r>
            <a:endParaRPr lang="en-US" dirty="0" smtClean="0"/>
          </a:p>
          <a:p>
            <a:pPr lvl="1"/>
            <a:r>
              <a:rPr lang="ml-IN" dirty="0"/>
              <a:t>ലോകത്തിലെ കല്ല്, വെള്ളം, മരങ്ങൾ, എല്ലാം തന്നെ </a:t>
            </a:r>
            <a:r>
              <a:rPr lang="ml-IN" i="1" dirty="0"/>
              <a:t>ജീവിക്കുന്നവയാണ്</a:t>
            </a:r>
            <a:r>
              <a:rPr lang="ml-IN" dirty="0"/>
              <a:t> എന്ന് കരുതുന്നു</a:t>
            </a:r>
            <a:r>
              <a:rPr lang="ml-IN" dirty="0" smtClean="0"/>
              <a:t>.</a:t>
            </a:r>
            <a:endParaRPr lang="en-US" dirty="0" smtClean="0"/>
          </a:p>
          <a:p>
            <a:pPr marL="457200" indent="-457200">
              <a:buFont typeface="+mj-lt"/>
              <a:buAutoNum type="arabicPeriod" startAt="7"/>
            </a:pPr>
            <a:r>
              <a:rPr lang="en-IN" b="1" dirty="0" err="1" smtClean="0"/>
              <a:t>Hylotheism</a:t>
            </a:r>
            <a:r>
              <a:rPr lang="en-IN" b="1" dirty="0" smtClean="0"/>
              <a:t> </a:t>
            </a:r>
            <a:r>
              <a:rPr lang="en-IN" b="1" dirty="0"/>
              <a:t>(</a:t>
            </a:r>
            <a:r>
              <a:rPr lang="ml-IN" b="1" dirty="0"/>
              <a:t>ഹൈലോതീയിസം</a:t>
            </a:r>
            <a:r>
              <a:rPr lang="ml-IN" b="1" dirty="0" smtClean="0"/>
              <a:t>)</a:t>
            </a:r>
            <a:r>
              <a:rPr lang="en-US" b="1" dirty="0" smtClean="0"/>
              <a:t>:</a:t>
            </a:r>
          </a:p>
          <a:p>
            <a:pPr lvl="1"/>
            <a:r>
              <a:rPr lang="ml-IN" b="1" dirty="0"/>
              <a:t>പദാർത്ഥം തന്നെയാണ് ദൈവം</a:t>
            </a:r>
            <a:r>
              <a:rPr lang="ml-IN" dirty="0"/>
              <a:t>.</a:t>
            </a:r>
            <a:endParaRPr lang="ml-IN" b="1" dirty="0"/>
          </a:p>
          <a:p>
            <a:endParaRPr lang="ml-IN" b="1" dirty="0"/>
          </a:p>
          <a:p>
            <a:endParaRPr lang="ml-IN" dirty="0"/>
          </a:p>
          <a:p>
            <a:pPr lvl="1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1943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11"/>
            </a:pPr>
            <a:r>
              <a:rPr lang="ml-IN" b="1" dirty="0"/>
              <a:t>അജ്ഞേയവാദം (</a:t>
            </a:r>
            <a:r>
              <a:rPr lang="en-IN" b="1" dirty="0"/>
              <a:t>Agnosticism / </a:t>
            </a:r>
            <a:r>
              <a:rPr lang="ml-IN" b="1" dirty="0"/>
              <a:t>അജ്ഞാതവാദം)</a:t>
            </a:r>
          </a:p>
          <a:p>
            <a:pPr lvl="1"/>
            <a:r>
              <a:rPr lang="ml-IN" dirty="0"/>
              <a:t>ദൈവമുണ്ടോ ഇല്ലയോ എന്ന് </a:t>
            </a:r>
            <a:r>
              <a:rPr lang="ml-IN" b="1" dirty="0"/>
              <a:t>മനുഷ്യന് ഉറപ്പായി അറിയാനാവില്ല</a:t>
            </a:r>
            <a:r>
              <a:rPr lang="ml-IN" dirty="0"/>
              <a:t> എന്ന </a:t>
            </a:r>
            <a:r>
              <a:rPr lang="ml-IN" dirty="0" smtClean="0"/>
              <a:t>വിശ്വാസം</a:t>
            </a:r>
            <a:endParaRPr lang="en-US" dirty="0" smtClean="0"/>
          </a:p>
          <a:p>
            <a:pPr marL="457200" indent="-457200">
              <a:buFont typeface="+mj-lt"/>
              <a:buAutoNum type="arabicPeriod" startAt="11"/>
            </a:pPr>
            <a:r>
              <a:rPr lang="ml-IN" b="1" dirty="0"/>
              <a:t>ദ്വിത്വവാദം (</a:t>
            </a:r>
            <a:r>
              <a:rPr lang="en-IN" b="1" dirty="0"/>
              <a:t>Dualism</a:t>
            </a:r>
            <a:r>
              <a:rPr lang="en-IN" b="1" dirty="0" smtClean="0"/>
              <a:t>)</a:t>
            </a:r>
          </a:p>
          <a:p>
            <a:pPr marL="857250" lvl="1" indent="-457200"/>
            <a:r>
              <a:rPr lang="ml-IN" dirty="0"/>
              <a:t>ലോകം രണ്ട് അടിസ്ഥാന ശക്തികളാൽ നിയന്ത്രിക്കപ്പെടുന്നു എന്ന വിശ്വാസം</a:t>
            </a:r>
            <a:r>
              <a:rPr lang="ml-IN" dirty="0" smtClean="0"/>
              <a:t>.</a:t>
            </a:r>
            <a:endParaRPr lang="en-IN" b="1" dirty="0" smtClean="0"/>
          </a:p>
          <a:p>
            <a:pPr marL="457200" indent="-457200">
              <a:buFont typeface="+mj-lt"/>
              <a:buAutoNum type="arabicPeriod" startAt="11"/>
            </a:pPr>
            <a:r>
              <a:rPr lang="en-IN" b="1" dirty="0" err="1"/>
              <a:t>Totemism</a:t>
            </a:r>
            <a:r>
              <a:rPr lang="en-IN" b="1" dirty="0"/>
              <a:t> (</a:t>
            </a:r>
            <a:r>
              <a:rPr lang="ml-IN" b="1" dirty="0"/>
              <a:t>ടോട്ടമിസം</a:t>
            </a:r>
            <a:r>
              <a:rPr lang="ml-IN" b="1" dirty="0" smtClean="0"/>
              <a:t>)</a:t>
            </a:r>
            <a:endParaRPr lang="en-US" b="1" dirty="0"/>
          </a:p>
          <a:p>
            <a:pPr marL="857250" lvl="1" indent="-457200"/>
            <a:r>
              <a:rPr lang="ml-IN" dirty="0" smtClean="0"/>
              <a:t> </a:t>
            </a:r>
            <a:r>
              <a:rPr lang="ml-IN" dirty="0"/>
              <a:t>ചില മൃഗങ്ങളെയോ ചിഹ്നങ്ങളെയോ ദൈവികമായി ആരാധിക്കൽ</a:t>
            </a:r>
            <a:r>
              <a:rPr lang="ml-IN" dirty="0" smtClean="0"/>
              <a:t>.</a:t>
            </a:r>
            <a:endParaRPr lang="en-US" dirty="0" smtClean="0"/>
          </a:p>
          <a:p>
            <a:pPr marL="1257300" lvl="2" indent="-457200"/>
            <a:r>
              <a:rPr lang="ml-IN" b="1" dirty="0"/>
              <a:t>ഉദാഹരണം:</a:t>
            </a:r>
            <a:r>
              <a:rPr lang="ml-IN" dirty="0"/>
              <a:t> ഗോത്രവിശ്വാസങ്ങൾ.</a:t>
            </a:r>
            <a:endParaRPr lang="en-IN" b="1" dirty="0" smtClean="0"/>
          </a:p>
          <a:p>
            <a:endParaRPr lang="en-US" dirty="0" smtClean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5451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 startAt="14"/>
            </a:pPr>
            <a:r>
              <a:rPr lang="en-IN" b="1" dirty="0"/>
              <a:t>Idolatry (</a:t>
            </a:r>
            <a:r>
              <a:rPr lang="ml-IN" b="1" dirty="0" smtClean="0"/>
              <a:t>വിഗ്രഹാരാധന)</a:t>
            </a:r>
            <a:r>
              <a:rPr lang="en-US" b="1" dirty="0" smtClean="0"/>
              <a:t>:</a:t>
            </a:r>
          </a:p>
          <a:p>
            <a:pPr lvl="1"/>
            <a:r>
              <a:rPr lang="ml-IN" sz="2000" dirty="0" smtClean="0"/>
              <a:t>ദൈവത്തിനുപകരം </a:t>
            </a:r>
            <a:r>
              <a:rPr lang="ml-IN" sz="2000" dirty="0"/>
              <a:t>മനുഷ്യൻ ഉണ്ടാക്കുന്ന രൂപങ്ങളെയോ വസ്തുക്കളെയോ ആരാധിക്കുന്നത്</a:t>
            </a:r>
            <a:r>
              <a:rPr lang="ml-IN" sz="2000" dirty="0" smtClean="0"/>
              <a:t>.</a:t>
            </a:r>
            <a:endParaRPr lang="en-US" sz="2000" dirty="0" smtClean="0"/>
          </a:p>
          <a:p>
            <a:pPr lvl="1"/>
            <a:r>
              <a:rPr lang="ml-IN" sz="2000" b="1" dirty="0"/>
              <a:t>ദൈവത്തെക്കാൾ </a:t>
            </a:r>
            <a:r>
              <a:rPr lang="ml-IN" sz="2000" b="1" dirty="0" smtClean="0"/>
              <a:t>മറ്റെന്തിനും</a:t>
            </a:r>
            <a:r>
              <a:rPr lang="en-US" sz="2000" b="1" dirty="0" smtClean="0"/>
              <a:t>,</a:t>
            </a:r>
            <a:r>
              <a:rPr lang="ml-IN" sz="2000" b="1" dirty="0" smtClean="0"/>
              <a:t> </a:t>
            </a:r>
            <a:r>
              <a:rPr lang="ml-IN" sz="2000" b="1" dirty="0"/>
              <a:t>ആരാധന, പ്രാധാന്യം, വിശ്വാസം നൽകുന്നത്</a:t>
            </a:r>
            <a:r>
              <a:rPr lang="ml-IN" sz="2000" dirty="0"/>
              <a:t> = </a:t>
            </a:r>
            <a:r>
              <a:rPr lang="ml-IN" sz="2000" dirty="0" smtClean="0"/>
              <a:t>വിഗ്രഹാരാധന.</a:t>
            </a:r>
            <a:endParaRPr lang="en-US" sz="2000" dirty="0" smtClean="0"/>
          </a:p>
          <a:p>
            <a:pPr lvl="1"/>
            <a:r>
              <a:rPr lang="en-US" sz="2000" b="1" dirty="0" smtClean="0"/>
              <a:t>TYPES</a:t>
            </a:r>
          </a:p>
          <a:p>
            <a:pPr lvl="2"/>
            <a:r>
              <a:rPr lang="en-IN" b="1" dirty="0" err="1"/>
              <a:t>Litholatry</a:t>
            </a:r>
            <a:r>
              <a:rPr lang="en-IN" b="1" dirty="0"/>
              <a:t> (</a:t>
            </a:r>
            <a:r>
              <a:rPr lang="ml-IN" b="1" dirty="0"/>
              <a:t>കല്ലാരാധന</a:t>
            </a:r>
            <a:r>
              <a:rPr lang="ml-IN" b="1" dirty="0" smtClean="0"/>
              <a:t>)</a:t>
            </a:r>
            <a:endParaRPr lang="en-US" b="1" dirty="0" smtClean="0"/>
          </a:p>
          <a:p>
            <a:pPr lvl="2"/>
            <a:r>
              <a:rPr lang="en-IN" b="1" dirty="0" err="1" smtClean="0"/>
              <a:t>Dentrolatry</a:t>
            </a:r>
            <a:r>
              <a:rPr lang="en-IN" b="1" dirty="0" smtClean="0"/>
              <a:t> (</a:t>
            </a:r>
            <a:r>
              <a:rPr lang="ml-IN" b="1" dirty="0" smtClean="0"/>
              <a:t>വൃക്ഷാരാധന</a:t>
            </a:r>
            <a:r>
              <a:rPr lang="en-IN" b="1" dirty="0" smtClean="0"/>
              <a:t>)</a:t>
            </a:r>
          </a:p>
          <a:p>
            <a:pPr lvl="2"/>
            <a:r>
              <a:rPr lang="en-IN" b="1" dirty="0" err="1" smtClean="0"/>
              <a:t>Pyrolatry</a:t>
            </a:r>
            <a:r>
              <a:rPr lang="en-IN" b="1" dirty="0" smtClean="0"/>
              <a:t> (</a:t>
            </a:r>
            <a:r>
              <a:rPr lang="ml-IN" b="1" dirty="0"/>
              <a:t>അഗ്നി </a:t>
            </a:r>
            <a:r>
              <a:rPr lang="ml-IN" b="1" dirty="0" smtClean="0"/>
              <a:t>ആരാധന</a:t>
            </a:r>
            <a:r>
              <a:rPr lang="en-IN" b="1" dirty="0" smtClean="0"/>
              <a:t>)</a:t>
            </a:r>
          </a:p>
          <a:p>
            <a:pPr lvl="2"/>
            <a:r>
              <a:rPr lang="en-IN" b="1" dirty="0" smtClean="0"/>
              <a:t>Zoolatry (</a:t>
            </a:r>
            <a:r>
              <a:rPr lang="ml-IN" b="1" dirty="0" smtClean="0"/>
              <a:t>മൃഗാരാധന </a:t>
            </a:r>
            <a:r>
              <a:rPr lang="en-US" b="1" dirty="0" smtClean="0"/>
              <a:t>)</a:t>
            </a:r>
          </a:p>
          <a:p>
            <a:pPr lvl="2"/>
            <a:r>
              <a:rPr lang="en-IN" b="1" dirty="0" err="1"/>
              <a:t>Necrolatry</a:t>
            </a:r>
            <a:r>
              <a:rPr lang="en-IN" b="1" dirty="0"/>
              <a:t> </a:t>
            </a:r>
            <a:r>
              <a:rPr lang="en-IN" b="1" dirty="0" smtClean="0"/>
              <a:t>(</a:t>
            </a:r>
            <a:r>
              <a:rPr lang="ml-IN" b="1" dirty="0"/>
              <a:t>മരിച്ചവരെ ആരാധിക്കൽ</a:t>
            </a:r>
            <a:r>
              <a:rPr lang="ml-IN" b="1" dirty="0" smtClean="0"/>
              <a:t>)</a:t>
            </a:r>
            <a:endParaRPr lang="en-US" b="1" dirty="0" smtClean="0"/>
          </a:p>
          <a:p>
            <a:pPr lvl="2"/>
            <a:r>
              <a:rPr lang="en-IN" b="1" dirty="0" smtClean="0"/>
              <a:t>Mariolatry (</a:t>
            </a:r>
            <a:r>
              <a:rPr lang="ml-IN" b="1" dirty="0"/>
              <a:t>മറിയത്തെ ആരാധിക്കൽ</a:t>
            </a:r>
            <a:r>
              <a:rPr lang="en-IN" b="1" dirty="0" smtClean="0"/>
              <a:t>)</a:t>
            </a:r>
            <a:endParaRPr lang="en-US" b="1" dirty="0" smtClean="0"/>
          </a:p>
          <a:p>
            <a:pPr lvl="2"/>
            <a:r>
              <a:rPr lang="ml-IN" b="1" dirty="0"/>
              <a:t>ആധുനിക വിഗ്രഹങ്ങൾ (</a:t>
            </a:r>
            <a:r>
              <a:rPr lang="en-IN" b="1" dirty="0"/>
              <a:t>Technology, Fame, </a:t>
            </a:r>
            <a:r>
              <a:rPr lang="en-IN" b="1" dirty="0" smtClean="0"/>
              <a:t>Politics, </a:t>
            </a:r>
            <a:r>
              <a:rPr lang="en-IN" b="1" dirty="0"/>
              <a:t>Artificial intelligence</a:t>
            </a:r>
            <a:r>
              <a:rPr lang="en-IN" b="1" dirty="0" smtClean="0"/>
              <a:t>)</a:t>
            </a:r>
            <a:endParaRPr lang="en-US" b="1" dirty="0" smtClean="0"/>
          </a:p>
          <a:p>
            <a:pPr lvl="2"/>
            <a:endParaRPr lang="en-US" b="1" dirty="0" smtClean="0"/>
          </a:p>
          <a:p>
            <a:pPr lvl="1"/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403265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OUR BELIEF ABOUT GOD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15"/>
            </a:pPr>
            <a:r>
              <a:rPr lang="en-IN" b="1" dirty="0" err="1" smtClean="0"/>
              <a:t>Trinitarianism</a:t>
            </a:r>
            <a:r>
              <a:rPr lang="en-IN" b="1" dirty="0" smtClean="0"/>
              <a:t> </a:t>
            </a:r>
            <a:r>
              <a:rPr lang="en-IN" b="1" dirty="0"/>
              <a:t>(</a:t>
            </a:r>
            <a:r>
              <a:rPr lang="ml-IN" b="1" dirty="0"/>
              <a:t>ത്രിത്വവാദം</a:t>
            </a:r>
            <a:r>
              <a:rPr lang="ml-IN" b="1" dirty="0" smtClean="0"/>
              <a:t>)</a:t>
            </a:r>
            <a:r>
              <a:rPr lang="en-US" b="1" dirty="0" smtClean="0"/>
              <a:t> </a:t>
            </a:r>
            <a:r>
              <a:rPr lang="en-IN" b="1" dirty="0"/>
              <a:t>(Triune God / Trinity)</a:t>
            </a:r>
            <a:endParaRPr lang="ml-IN" b="1" dirty="0"/>
          </a:p>
          <a:p>
            <a:pPr marL="857250" lvl="1" indent="-457200"/>
            <a:r>
              <a:rPr lang="ml-IN" b="1" dirty="0"/>
              <a:t>വിശ്വാസം:</a:t>
            </a:r>
            <a:r>
              <a:rPr lang="ml-IN" dirty="0"/>
              <a:t> ദൈവം ഏകമായിരുന്നാലും, മൂന്നു വ്യക്തികളായി (പിതാവ്, പുത്രൻ, പരിശുദ്ധാത്മാവ്) നിലനിൽക്കുന്നു.</a:t>
            </a:r>
          </a:p>
          <a:p>
            <a:pPr marL="1257300" lvl="2" indent="-457200"/>
            <a:r>
              <a:rPr lang="ml-IN" b="1" dirty="0"/>
              <a:t>ഉദാഹരണം:</a:t>
            </a:r>
            <a:r>
              <a:rPr lang="ml-IN" dirty="0"/>
              <a:t> ക്രിസ്തീയ വിശ്വാസത്തിന്റെ കേന്ദ്രസിദ്ധാന്തം.</a:t>
            </a:r>
          </a:p>
          <a:p>
            <a:pPr marL="57150" indent="-457200">
              <a:buFont typeface="+mj-lt"/>
              <a:buAutoNum type="arabicPeriod" startAt="15"/>
            </a:pPr>
            <a:r>
              <a:rPr lang="ml-IN" b="1" dirty="0" smtClean="0"/>
              <a:t>ഏകീശ്വരവാദം </a:t>
            </a:r>
            <a:r>
              <a:rPr lang="ml-IN" b="1" dirty="0"/>
              <a:t>(</a:t>
            </a:r>
            <a:r>
              <a:rPr lang="en-IN" b="1" dirty="0"/>
              <a:t>Monotheism):</a:t>
            </a:r>
            <a:r>
              <a:rPr lang="en-IN" dirty="0"/>
              <a:t> </a:t>
            </a:r>
            <a:r>
              <a:rPr lang="ml-IN" b="1" dirty="0"/>
              <a:t>ഒരേ ഒരു സർവ്വശക്തനായ ദൈവം</a:t>
            </a:r>
            <a:r>
              <a:rPr lang="ml-IN" dirty="0"/>
              <a:t> മാത്രമേ ഉള്ളു എന്ന വിശ്വാസം</a:t>
            </a:r>
            <a:r>
              <a:rPr lang="ml-IN" dirty="0" smtClean="0"/>
              <a:t>.</a:t>
            </a:r>
            <a:endParaRPr lang="en-US" dirty="0" smtClean="0"/>
          </a:p>
          <a:p>
            <a:pPr marL="857250" lvl="2" indent="-457200"/>
            <a:r>
              <a:rPr lang="ml-IN" b="1" dirty="0"/>
              <a:t>ഉദാഹരണങ്ങൾ:</a:t>
            </a:r>
            <a:r>
              <a:rPr lang="ml-IN" dirty="0"/>
              <a:t> യഹൂദമതം, ക്രിസ്തുമതം, ഇസ്ലാം, സിഖ് മതം</a:t>
            </a:r>
            <a:r>
              <a:rPr lang="ml-IN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17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Definition God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God is a Spirit, infinite, eternal, and unchangeable, in his being, wisdom, power, holiness, justice, goodness, and </a:t>
            </a:r>
            <a:r>
              <a:rPr lang="en-US" b="1" dirty="0" smtClean="0"/>
              <a:t>truth.</a:t>
            </a:r>
          </a:p>
          <a:p>
            <a:endParaRPr lang="en-US" b="1" dirty="0" smtClean="0"/>
          </a:p>
          <a:p>
            <a:r>
              <a:rPr lang="ml-IN" b="1" dirty="0"/>
              <a:t>“ദൈവം ആത്മാവാണ്; അവന്റെ സത്തയിലും ജ്ഞാനത്തിലും ശക്തിയിലും വിശുദ്ധിയിലും നീതിയിലും ദയയിലും സത്യത്തിലും അനന്തനും നിത്യനും മാറ്റമില്ലാത്തവനുമാകുന്നു</a:t>
            </a:r>
            <a:r>
              <a:rPr lang="ml-IN" b="1" dirty="0" smtClean="0"/>
              <a:t>.”</a:t>
            </a:r>
            <a:endParaRPr lang="en-US" b="1" dirty="0" smtClean="0"/>
          </a:p>
          <a:p>
            <a:pPr lvl="8"/>
            <a:r>
              <a:rPr lang="en-IN" b="1" dirty="0"/>
              <a:t>Westminster Shorter Catechism</a:t>
            </a:r>
          </a:p>
        </p:txBody>
      </p:sp>
    </p:spTree>
    <p:extLst>
      <p:ext uri="{BB962C8B-B14F-4D97-AF65-F5344CB8AC3E}">
        <p14:creationId xmlns:p14="http://schemas.microsoft.com/office/powerpoint/2010/main" val="100394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389299"/>
            <a:ext cx="9394182" cy="5214795"/>
          </a:xfrm>
        </p:spPr>
        <p:txBody>
          <a:bodyPr/>
          <a:lstStyle/>
          <a:p>
            <a:pPr algn="ctr"/>
            <a:r>
              <a:rPr lang="en-US" sz="6600" dirty="0" smtClean="0"/>
              <a:t>Chapter – 2</a:t>
            </a:r>
            <a:br>
              <a:rPr lang="en-US" sz="6600" dirty="0" smtClean="0"/>
            </a:b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IN" sz="6600" b="1" dirty="0" smtClean="0"/>
              <a:t>The </a:t>
            </a:r>
            <a:r>
              <a:rPr lang="en-IN" sz="6600" b="1" dirty="0"/>
              <a:t>Existence of </a:t>
            </a:r>
            <a:r>
              <a:rPr lang="en-IN" sz="6600" b="1" dirty="0" smtClean="0"/>
              <a:t>God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smtClean="0"/>
              <a:t>(</a:t>
            </a:r>
            <a:r>
              <a:rPr lang="ml-IN" sz="6600" dirty="0" smtClean="0"/>
              <a:t>ദൈവത്തിന്റെ അസ്തിത്വം</a:t>
            </a:r>
            <a:r>
              <a:rPr lang="en-US" sz="6600" dirty="0" smtClean="0"/>
              <a:t>)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34261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Important Arguments </a:t>
            </a:r>
            <a:br>
              <a:rPr lang="en-IN" dirty="0" smtClean="0"/>
            </a:br>
            <a:r>
              <a:rPr lang="en-IN" dirty="0" smtClean="0"/>
              <a:t> (</a:t>
            </a:r>
            <a:r>
              <a:rPr lang="ml-IN" dirty="0" smtClean="0"/>
              <a:t>പ്രധാന തെളിവുകൾ</a:t>
            </a:r>
            <a:r>
              <a:rPr lang="en-US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ml-IN" b="1" dirty="0" smtClean="0"/>
              <a:t>കോസ്മോളജിക്കൽ </a:t>
            </a:r>
            <a:r>
              <a:rPr lang="ml-IN" b="1" dirty="0"/>
              <a:t>വാദം (</a:t>
            </a:r>
            <a:r>
              <a:rPr lang="en-IN" b="1" dirty="0"/>
              <a:t>Cosmological Argument / </a:t>
            </a:r>
            <a:r>
              <a:rPr lang="ml-IN" b="1" dirty="0"/>
              <a:t>സൃഷ്ടിശാസ്ത്ര വാദം)</a:t>
            </a:r>
          </a:p>
          <a:p>
            <a:pPr lvl="1"/>
            <a:r>
              <a:rPr lang="ml-IN" dirty="0"/>
              <a:t>സകലവും </a:t>
            </a:r>
            <a:r>
              <a:rPr lang="ml-IN" b="1" dirty="0"/>
              <a:t>കാരണത്താൽ</a:t>
            </a:r>
            <a:r>
              <a:rPr lang="ml-IN" dirty="0"/>
              <a:t> ഉണ്ട്.</a:t>
            </a:r>
          </a:p>
          <a:p>
            <a:pPr lvl="1"/>
            <a:r>
              <a:rPr lang="ml-IN" dirty="0"/>
              <a:t>സൃഷ്ടിക്കു ഒരു </a:t>
            </a:r>
            <a:r>
              <a:rPr lang="ml-IN" b="1" dirty="0"/>
              <a:t>ആദ്യകാരണം</a:t>
            </a:r>
            <a:r>
              <a:rPr lang="ml-IN" dirty="0"/>
              <a:t> വേണം → അത് ദൈവമാണ്.</a:t>
            </a:r>
          </a:p>
          <a:p>
            <a:pPr lvl="1"/>
            <a:r>
              <a:rPr lang="en-IN" dirty="0"/>
              <a:t>📖 </a:t>
            </a:r>
            <a:r>
              <a:rPr lang="ml-IN" i="1" dirty="0"/>
              <a:t>സങ്കീർത്തനം 19:1</a:t>
            </a:r>
            <a:r>
              <a:rPr lang="ml-IN" dirty="0"/>
              <a:t> – “ആകാശം ദൈവത്തിന്റെ മഹത്വം പ്രസ്താവിക്കുന്നു</a:t>
            </a:r>
            <a:r>
              <a:rPr lang="ml-IN" dirty="0" smtClean="0"/>
              <a:t>.”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b="1" dirty="0" smtClean="0"/>
              <a:t>ടെലിയോളജിക്കൽ </a:t>
            </a:r>
            <a:r>
              <a:rPr lang="ml-IN" b="1" dirty="0"/>
              <a:t>വാദം (</a:t>
            </a:r>
            <a:r>
              <a:rPr lang="en-IN" b="1" dirty="0"/>
              <a:t>Teleological Argument / </a:t>
            </a:r>
            <a:r>
              <a:rPr lang="ml-IN" b="1" dirty="0"/>
              <a:t>ലക്ഷ്യവാദം)</a:t>
            </a:r>
          </a:p>
          <a:p>
            <a:pPr lvl="1"/>
            <a:r>
              <a:rPr lang="ml-IN" dirty="0"/>
              <a:t>സർവ്വസൃഷ്ടിയും </a:t>
            </a:r>
            <a:r>
              <a:rPr lang="ml-IN" b="1" dirty="0"/>
              <a:t>ക്രമത്തോടും ലക്ഷ്യത്തോടും</a:t>
            </a:r>
            <a:r>
              <a:rPr lang="ml-IN" dirty="0"/>
              <a:t> പ്രവർത്തിക്കുന്നു.</a:t>
            </a:r>
          </a:p>
          <a:p>
            <a:pPr lvl="1"/>
            <a:r>
              <a:rPr lang="ml-IN" dirty="0"/>
              <a:t>ഒരു </a:t>
            </a:r>
            <a:r>
              <a:rPr lang="ml-IN" b="1" dirty="0"/>
              <a:t>ബുദ്ധിമാൻ രൂപകല്പനക്കാരൻ</a:t>
            </a:r>
            <a:r>
              <a:rPr lang="ml-IN" dirty="0"/>
              <a:t> (</a:t>
            </a:r>
            <a:r>
              <a:rPr lang="en-IN" dirty="0"/>
              <a:t>Designer) </a:t>
            </a:r>
            <a:r>
              <a:rPr lang="ml-IN" dirty="0"/>
              <a:t>വേണം → ദൈവം.</a:t>
            </a:r>
          </a:p>
          <a:p>
            <a:pPr lvl="1"/>
            <a:r>
              <a:rPr lang="en-IN" dirty="0"/>
              <a:t>📖 </a:t>
            </a:r>
            <a:r>
              <a:rPr lang="ml-IN" i="1" dirty="0"/>
              <a:t>റോമർ 1:20</a:t>
            </a:r>
            <a:r>
              <a:rPr lang="ml-IN" dirty="0"/>
              <a:t> – “സൃഷ്ടിക്കപ്പെട്ടതിൽ കാണപ്പെടുന്നവയാൽ അവന്റെ ദൈവിക ശക്തി വ്യക്തമാണ്.”</a:t>
            </a:r>
          </a:p>
          <a:p>
            <a:endParaRPr lang="ml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8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224" y="2052918"/>
            <a:ext cx="9334629" cy="419548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ml-IN" b="1" dirty="0"/>
              <a:t>ആന്ത്രോപോളജിക്കൽ വാദം (</a:t>
            </a:r>
            <a:r>
              <a:rPr lang="en-IN" b="1" dirty="0"/>
              <a:t>Anthropological / Moral Argument / </a:t>
            </a:r>
            <a:r>
              <a:rPr lang="ml-IN" b="1" dirty="0"/>
              <a:t>മനുഷ്യവാദം)</a:t>
            </a:r>
          </a:p>
          <a:p>
            <a:pPr lvl="1"/>
            <a:r>
              <a:rPr lang="ml-IN" dirty="0"/>
              <a:t>മനുഷ്യൻ = </a:t>
            </a:r>
            <a:r>
              <a:rPr lang="ml-IN" b="1" dirty="0"/>
              <a:t>ബോധമുള്ളവൻ</a:t>
            </a:r>
            <a:r>
              <a:rPr lang="ml-IN" dirty="0"/>
              <a:t>, </a:t>
            </a:r>
            <a:r>
              <a:rPr lang="ml-IN" b="1" dirty="0"/>
              <a:t>മനസ്സാക്ഷിയുള്ളവൻ</a:t>
            </a:r>
            <a:r>
              <a:rPr lang="ml-IN" dirty="0"/>
              <a:t>.</a:t>
            </a:r>
          </a:p>
          <a:p>
            <a:pPr lvl="1"/>
            <a:r>
              <a:rPr lang="ml-IN" dirty="0"/>
              <a:t>നന്മ–തീമ, നീതി–അനീതി തിരിച്ചറിയുന്ന </a:t>
            </a:r>
            <a:r>
              <a:rPr lang="ml-IN" b="1" dirty="0"/>
              <a:t>മൂല്യബോധം</a:t>
            </a:r>
            <a:r>
              <a:rPr lang="ml-IN" dirty="0"/>
              <a:t> ദൈവത്തിൽ നിന്നാണ്.</a:t>
            </a:r>
          </a:p>
          <a:p>
            <a:pPr lvl="1"/>
            <a:r>
              <a:rPr lang="en-IN" dirty="0"/>
              <a:t>📖 </a:t>
            </a:r>
            <a:r>
              <a:rPr lang="ml-IN" i="1" dirty="0"/>
              <a:t>സഭാപ്രസംഗി</a:t>
            </a:r>
            <a:r>
              <a:rPr lang="ml-IN" i="1" dirty="0" smtClean="0"/>
              <a:t> </a:t>
            </a:r>
            <a:r>
              <a:rPr lang="ml-IN" i="1" dirty="0"/>
              <a:t>3:11</a:t>
            </a:r>
            <a:r>
              <a:rPr lang="ml-IN" dirty="0"/>
              <a:t> – “ദൈവം നിത്യത്തെയും മനുഷ്യഹൃദയത്തിൽ വെച്ചു</a:t>
            </a:r>
            <a:r>
              <a:rPr lang="ml-IN" dirty="0" smtClean="0"/>
              <a:t>.”</a:t>
            </a:r>
            <a:endParaRPr lang="en-US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ml-IN" b="1" dirty="0"/>
              <a:t>ഓണ്ടോളജിക്കൽ വാദം (</a:t>
            </a:r>
            <a:r>
              <a:rPr lang="en-IN" b="1" dirty="0"/>
              <a:t>Ontological Argument / </a:t>
            </a:r>
            <a:r>
              <a:rPr lang="ml-IN" b="1" dirty="0"/>
              <a:t>സങ്കൽപ്പവാദം)</a:t>
            </a:r>
          </a:p>
          <a:p>
            <a:pPr lvl="1"/>
            <a:r>
              <a:rPr lang="ml-IN" dirty="0"/>
              <a:t>“ദൈവം” എന്നു പറഞ്ഞാൽ → അതിലും മഹത്തായ ആരും ചിന്തിക്കാനാവാത്ത ഒരുത്തൻ.</a:t>
            </a:r>
          </a:p>
          <a:p>
            <a:pPr lvl="1"/>
            <a:r>
              <a:rPr lang="ml-IN" dirty="0"/>
              <a:t>അതിനാൽ → </a:t>
            </a:r>
            <a:r>
              <a:rPr lang="ml-IN" b="1" dirty="0"/>
              <a:t>ദൈവം സങ്കൽപ്പത്തിൽ മാത്രം അല്ല, യാഥാർത്ഥ്യത്തിലും ഉണ്ടായിരിക്കണം</a:t>
            </a:r>
            <a:r>
              <a:rPr lang="ml-IN" dirty="0"/>
              <a:t>.</a:t>
            </a:r>
          </a:p>
          <a:p>
            <a:endParaRPr lang="ml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24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052918"/>
            <a:ext cx="9403742" cy="419548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ml-IN" b="1" dirty="0"/>
              <a:t>ചരിത്രവാദം (</a:t>
            </a:r>
            <a:r>
              <a:rPr lang="en-IN" b="1" dirty="0"/>
              <a:t>Historical Argument / </a:t>
            </a:r>
            <a:r>
              <a:rPr lang="ml-IN" b="1" dirty="0"/>
              <a:t>ചരിത്രത്തിന്റെ തെളിവ്)</a:t>
            </a:r>
          </a:p>
          <a:p>
            <a:pPr lvl="1"/>
            <a:r>
              <a:rPr lang="ml-IN" dirty="0"/>
              <a:t>മനുഷ്യരാശിയുടെ </a:t>
            </a:r>
            <a:r>
              <a:rPr lang="ml-IN" b="1" dirty="0"/>
              <a:t>ചരിത്രവും അനുഭവങ്ങളും</a:t>
            </a:r>
            <a:r>
              <a:rPr lang="ml-IN" dirty="0"/>
              <a:t> → ദൈവത്തിന്റെ പ്രവർത്തനങ്ങളുടെ തെളിവാണ്.</a:t>
            </a:r>
          </a:p>
          <a:p>
            <a:pPr lvl="1"/>
            <a:r>
              <a:rPr lang="en-IN" dirty="0"/>
              <a:t>📖 </a:t>
            </a:r>
            <a:r>
              <a:rPr lang="ml-IN" i="1" dirty="0"/>
              <a:t>പ്രവൃത്തികൾ 14:17</a:t>
            </a:r>
            <a:r>
              <a:rPr lang="ml-IN" dirty="0"/>
              <a:t> – “ദൈവം സാക്ഷ്യം കൂടാതെ നിന്നില്ല; നല്ലതു ചെയ്‌തു, മഴയും വിളയും തന്നു.”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ml-IN" b="1" dirty="0"/>
              <a:t>വിശ്വാസവാദം (</a:t>
            </a:r>
            <a:r>
              <a:rPr lang="en-IN" b="1" dirty="0"/>
              <a:t>Faith Argument / </a:t>
            </a:r>
            <a:r>
              <a:rPr lang="ml-IN" b="1" dirty="0"/>
              <a:t>ആത്മീയ തെളിവ്)</a:t>
            </a:r>
          </a:p>
          <a:p>
            <a:pPr lvl="1"/>
            <a:r>
              <a:rPr lang="ml-IN" dirty="0"/>
              <a:t>മനുഷ്യന്റെ ഹൃദയത്തിൽ </a:t>
            </a:r>
            <a:r>
              <a:rPr lang="ml-IN" b="1" dirty="0"/>
              <a:t>ദൈവത്തെ അറിയാനുള്ള</a:t>
            </a:r>
            <a:r>
              <a:rPr lang="ja-JP" altLang="en-US" b="1" dirty="0"/>
              <a:t>渴</a:t>
            </a:r>
            <a:r>
              <a:rPr lang="ml-IN" b="1" dirty="0"/>
              <a:t>ത</a:t>
            </a:r>
            <a:r>
              <a:rPr lang="ml-IN" dirty="0"/>
              <a:t> ഉണ്ട്.</a:t>
            </a:r>
          </a:p>
          <a:p>
            <a:pPr lvl="1"/>
            <a:r>
              <a:rPr lang="ml-IN" dirty="0"/>
              <a:t>വ്യക്തിപരമായ </a:t>
            </a:r>
            <a:r>
              <a:rPr lang="ml-IN" b="1" dirty="0"/>
              <a:t>ആത്മീയ അനുഭവങ്ങൾ</a:t>
            </a:r>
            <a:r>
              <a:rPr lang="ml-IN" dirty="0"/>
              <a:t> ദൈവത്തിന്റെ യാഥാർത്ഥ്യത്തെ വെളിപ്പെടുത്തുന്നു.</a:t>
            </a:r>
          </a:p>
          <a:p>
            <a:pPr lvl="1"/>
            <a:r>
              <a:rPr lang="en-IN" dirty="0"/>
              <a:t>📖 </a:t>
            </a:r>
            <a:r>
              <a:rPr lang="ml-IN" i="1" dirty="0"/>
              <a:t>എബ്രായർ 11:6</a:t>
            </a:r>
            <a:r>
              <a:rPr lang="ml-IN" dirty="0"/>
              <a:t> – “ദൈവം ഉണ്ടെന്നും അവനെ അന്വേഷിക്കുന്നവർക്ക് പ്രതിഫലം തരുന്നവനാണെന്നും വിശ്വസിക്കണം.”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56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79834"/>
            <a:ext cx="9404723" cy="5893805"/>
          </a:xfrm>
        </p:spPr>
        <p:txBody>
          <a:bodyPr/>
          <a:lstStyle/>
          <a:p>
            <a:pPr algn="ctr"/>
            <a:r>
              <a:rPr lang="en-US" sz="6000" b="1" dirty="0" smtClean="0"/>
              <a:t>Chapter 3</a:t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>The Attributes Of God</a:t>
            </a:r>
            <a:br>
              <a:rPr lang="en-US" sz="6000" b="1" dirty="0" smtClean="0"/>
            </a:br>
            <a:r>
              <a:rPr lang="en-US" sz="6000" b="1" dirty="0" smtClean="0"/>
              <a:t>(</a:t>
            </a:r>
            <a:r>
              <a:rPr lang="ml-IN" sz="6000" b="1" dirty="0" smtClean="0"/>
              <a:t>ദൈവത്തിന്റെ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ml-IN" sz="6000" b="1" dirty="0"/>
              <a:t>സ്വഭാവസവിശേഷതകൾ</a:t>
            </a:r>
            <a:r>
              <a:rPr lang="en-US" sz="6000" b="1" dirty="0" smtClean="0"/>
              <a:t>)</a:t>
            </a:r>
            <a:br>
              <a:rPr lang="en-US" sz="6000" b="1" dirty="0" smtClean="0"/>
            </a:b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337171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 smtClean="0"/>
              <a:t>Two Types Of Attributes </a:t>
            </a:r>
            <a:r>
              <a:rPr lang="en-US" sz="4400" b="1" dirty="0"/>
              <a:t>Of God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1124848"/>
          </a:xfrm>
        </p:spPr>
        <p:txBody>
          <a:bodyPr>
            <a:noAutofit/>
          </a:bodyPr>
          <a:lstStyle/>
          <a:p>
            <a:r>
              <a:rPr lang="ml-IN" sz="2400" b="1" dirty="0"/>
              <a:t>പങ്കിടാനാകാത്ത (</a:t>
            </a:r>
            <a:r>
              <a:rPr lang="en-IN" sz="2400" b="1" dirty="0"/>
              <a:t>Incommunicable) </a:t>
            </a:r>
            <a:r>
              <a:rPr lang="ml-IN" sz="2400" b="1" dirty="0"/>
              <a:t>ഗുണങ്ങൾ </a:t>
            </a:r>
            <a:endParaRPr lang="en-IN" sz="2400" b="1" dirty="0" smtClean="0"/>
          </a:p>
          <a:p>
            <a:r>
              <a:rPr lang="ml-IN" sz="2400" b="1" dirty="0"/>
              <a:t>പങ്കിടാവുന്ന (</a:t>
            </a:r>
            <a:r>
              <a:rPr lang="en-IN" sz="2400" b="1" dirty="0"/>
              <a:t>Communicable) </a:t>
            </a:r>
            <a:r>
              <a:rPr lang="ml-IN" sz="2400" b="1" dirty="0"/>
              <a:t>ഗുണങ്ങൾ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283470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sz="4400" b="1" dirty="0"/>
              <a:t>പങ്കിടാനാകാത്ത (</a:t>
            </a:r>
            <a:r>
              <a:rPr lang="en-IN" sz="4400" b="1" dirty="0"/>
              <a:t>Incommunicable) </a:t>
            </a:r>
            <a:r>
              <a:rPr lang="ml-IN" sz="4400" b="1" dirty="0"/>
              <a:t>ഗുണങ്ങൾ </a:t>
            </a:r>
            <a:r>
              <a:rPr lang="en-IN" sz="4400" b="1" dirty="0"/>
              <a:t/>
            </a:r>
            <a:br>
              <a:rPr lang="en-IN" sz="4400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l-IN" b="1" dirty="0"/>
              <a:t>1. അസ്തിത്വം (</a:t>
            </a:r>
            <a:r>
              <a:rPr lang="en-IN" b="1" dirty="0"/>
              <a:t>Existence of God)</a:t>
            </a:r>
          </a:p>
          <a:p>
            <a:pPr lvl="1"/>
            <a:r>
              <a:rPr lang="ml-IN" dirty="0"/>
              <a:t>ദൈവം സ്വയം നിലനിൽക്കുന്നവൻ (</a:t>
            </a:r>
            <a:r>
              <a:rPr lang="en-IN" dirty="0"/>
              <a:t>Self-existent).</a:t>
            </a:r>
          </a:p>
          <a:p>
            <a:pPr lvl="1"/>
            <a:r>
              <a:rPr lang="ml-IN" dirty="0"/>
              <a:t>ദൈവത്തിന്റെ ആരംഭവും അവസാനവും ഇല്ല (ശാശ്വതൻ).</a:t>
            </a:r>
          </a:p>
          <a:p>
            <a:pPr lvl="1"/>
            <a:r>
              <a:rPr lang="ml-IN" dirty="0"/>
              <a:t>“ഞാൻ ആകുന്നു ഞാൻ” (പുറപ്പാട് 3:14</a:t>
            </a:r>
            <a:r>
              <a:rPr lang="ml-IN" dirty="0" smtClean="0"/>
              <a:t>).</a:t>
            </a:r>
            <a:endParaRPr lang="en-US" dirty="0"/>
          </a:p>
          <a:p>
            <a:r>
              <a:rPr lang="ml-IN" b="1" dirty="0"/>
              <a:t>2. ആത്മസ്വഭാവം (</a:t>
            </a:r>
            <a:r>
              <a:rPr lang="en-IN" b="1" dirty="0"/>
              <a:t>Spirituality of God)</a:t>
            </a:r>
          </a:p>
          <a:p>
            <a:pPr lvl="1"/>
            <a:r>
              <a:rPr lang="ml-IN" dirty="0"/>
              <a:t>ദൈവം ആത്മാവാണ് (യോഹന്നാൻ 4:24).</a:t>
            </a:r>
          </a:p>
          <a:p>
            <a:pPr lvl="1"/>
            <a:r>
              <a:rPr lang="ml-IN" dirty="0"/>
              <a:t>മനുഷ്യരൂപത്തിലും ഭൗതികരൂപത്തിലും ബന്ധിക്കപ്പെടുന്നില്ല.</a:t>
            </a:r>
          </a:p>
          <a:p>
            <a:pPr lvl="1"/>
            <a:r>
              <a:rPr lang="ml-IN" dirty="0"/>
              <a:t>സർവ്വവ്യാപകനായി ആത്മീയമായി നിലകൊള്ളുന്നു.</a:t>
            </a:r>
          </a:p>
          <a:p>
            <a:endParaRPr lang="ml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42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l-IN" b="1" dirty="0"/>
              <a:t>3. അനന്തത്വം (</a:t>
            </a:r>
            <a:r>
              <a:rPr lang="en-IN" b="1" dirty="0"/>
              <a:t>Infinity of God)</a:t>
            </a:r>
          </a:p>
          <a:p>
            <a:pPr lvl="1"/>
            <a:r>
              <a:rPr lang="ml-IN" dirty="0"/>
              <a:t>പരിധിയില്ലാത്തവൻ.</a:t>
            </a:r>
          </a:p>
          <a:p>
            <a:pPr lvl="1"/>
            <a:r>
              <a:rPr lang="ml-IN" dirty="0"/>
              <a:t>സ്ഥലം, സമയം, അറിവ്, ശക്തി – എല്ലാം അനന്തമായി നിറഞ്ഞിരിക്കുന്നു</a:t>
            </a:r>
            <a:r>
              <a:rPr lang="ml-IN" dirty="0" smtClean="0"/>
              <a:t>.</a:t>
            </a:r>
            <a:endParaRPr lang="en-US" dirty="0"/>
          </a:p>
          <a:p>
            <a:r>
              <a:rPr lang="ml-IN" b="1" dirty="0"/>
              <a:t>4. നിത്യത്ത്വം (</a:t>
            </a:r>
            <a:r>
              <a:rPr lang="en-IN" b="1" dirty="0"/>
              <a:t>Eternity of God)</a:t>
            </a:r>
          </a:p>
          <a:p>
            <a:pPr lvl="1"/>
            <a:r>
              <a:rPr lang="ml-IN" dirty="0"/>
              <a:t>ദൈവം തുടക്കമില്ലാത്തവൻ, അവസാനമില്ലാത്തവൻ.</a:t>
            </a:r>
          </a:p>
          <a:p>
            <a:pPr lvl="1"/>
            <a:r>
              <a:rPr lang="ml-IN" dirty="0"/>
              <a:t>“ആദിയും അന്തവും ആകുന്നവൻ” (വെളിപ്പാട് 1:8</a:t>
            </a:r>
            <a:r>
              <a:rPr lang="ml-IN" dirty="0" smtClean="0"/>
              <a:t>).</a:t>
            </a:r>
            <a:endParaRPr lang="en-US" dirty="0"/>
          </a:p>
          <a:p>
            <a:r>
              <a:rPr lang="ml-IN" b="1" dirty="0"/>
              <a:t>5. </a:t>
            </a:r>
            <a:r>
              <a:rPr lang="ml-IN" b="1" dirty="0" smtClean="0"/>
              <a:t>മാറ്റമില്ലായ്മ</a:t>
            </a:r>
            <a:r>
              <a:rPr lang="en-US" b="1" dirty="0" smtClean="0"/>
              <a:t> </a:t>
            </a:r>
            <a:r>
              <a:rPr lang="ml-IN" b="1" dirty="0" smtClean="0"/>
              <a:t>(</a:t>
            </a:r>
            <a:r>
              <a:rPr lang="en-IN" b="1" dirty="0"/>
              <a:t>Immutability of God)</a:t>
            </a:r>
          </a:p>
          <a:p>
            <a:pPr lvl="1"/>
            <a:r>
              <a:rPr lang="ml-IN" dirty="0"/>
              <a:t>ദൈവം മാറുന്നില്ല (മലാക്കി 3:6).</a:t>
            </a:r>
          </a:p>
          <a:p>
            <a:pPr lvl="1"/>
            <a:r>
              <a:rPr lang="ml-IN" dirty="0"/>
              <a:t>അവന്റെ സ്വഭാവവും വാഗ്ദാനങ്ങളും സ്ഥിരമാണ്.</a:t>
            </a:r>
          </a:p>
          <a:p>
            <a:endParaRPr lang="ml-IN" dirty="0"/>
          </a:p>
          <a:p>
            <a:endParaRPr lang="ml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14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ml-IN" b="1" dirty="0"/>
              <a:t>6. സർവ്വജ്ഞത (</a:t>
            </a:r>
            <a:r>
              <a:rPr lang="en-IN" b="1" dirty="0"/>
              <a:t>Omniscience of God)</a:t>
            </a:r>
          </a:p>
          <a:p>
            <a:pPr lvl="1"/>
            <a:r>
              <a:rPr lang="ml-IN" dirty="0"/>
              <a:t>ദൈവം എല്ലാം അറിയുന്നവൻ.</a:t>
            </a:r>
          </a:p>
          <a:p>
            <a:pPr lvl="1"/>
            <a:r>
              <a:rPr lang="ml-IN" dirty="0"/>
              <a:t>ഭാവി, വർത്തമാനം, ഭൂതകാലം – ഒക്കെയും വ്യക്തമായി അറിയുന്നു (സങ്കീർത്തനം 139).</a:t>
            </a:r>
          </a:p>
          <a:p>
            <a:r>
              <a:rPr lang="ml-IN" b="1" dirty="0"/>
              <a:t>7. സർവ്വവ്യാപകത (</a:t>
            </a:r>
            <a:r>
              <a:rPr lang="en-IN" b="1" dirty="0"/>
              <a:t>Omnipresence of God)</a:t>
            </a:r>
          </a:p>
          <a:p>
            <a:pPr lvl="1"/>
            <a:r>
              <a:rPr lang="ml-IN" dirty="0"/>
              <a:t>ദൈവം എല്ലായിടത്തും സന്നിഹിതൻ.</a:t>
            </a:r>
          </a:p>
          <a:p>
            <a:pPr lvl="1"/>
            <a:r>
              <a:rPr lang="ml-IN" dirty="0"/>
              <a:t>മനുഷ്യന്റെ ഹൃദയത്തിനുള്ളിലും വിശ്വത്തിന്റെ അറ്റത്തും.</a:t>
            </a:r>
          </a:p>
          <a:p>
            <a:r>
              <a:rPr lang="ml-IN" b="1" dirty="0"/>
              <a:t>8. സർവ്വശക്തി (</a:t>
            </a:r>
            <a:r>
              <a:rPr lang="en-IN" b="1" dirty="0"/>
              <a:t>Omnipotence of God)</a:t>
            </a:r>
          </a:p>
          <a:p>
            <a:pPr lvl="1"/>
            <a:r>
              <a:rPr lang="ml-IN" dirty="0"/>
              <a:t>ദൈവത്തിനു അസാധ്യം ഒന്നുമില്ല (ലൂക്കോസ് 1:37).</a:t>
            </a:r>
          </a:p>
          <a:p>
            <a:pPr lvl="1"/>
            <a:r>
              <a:rPr lang="ml-IN" dirty="0"/>
              <a:t>ലോകസൃഷ്ടി, രക്ഷ, ന്യായവിധി എല്ലാം അവന്റെ ശക്തിയാൽ.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05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00" y="1303700"/>
            <a:ext cx="9660554" cy="4399983"/>
          </a:xfrm>
        </p:spPr>
        <p:txBody>
          <a:bodyPr>
            <a:normAutofit/>
          </a:bodyPr>
          <a:lstStyle/>
          <a:p>
            <a:r>
              <a:rPr lang="ml-IN" b="1" dirty="0"/>
              <a:t>9. പരിശുദ്ധി (</a:t>
            </a:r>
            <a:r>
              <a:rPr lang="en-IN" b="1" dirty="0"/>
              <a:t>Holiness of God)</a:t>
            </a:r>
          </a:p>
          <a:p>
            <a:pPr lvl="1"/>
            <a:r>
              <a:rPr lang="ml-IN" dirty="0"/>
              <a:t>ദൈവം പാപരഹിതൻ, നിർമ്മലൻ.</a:t>
            </a:r>
          </a:p>
          <a:p>
            <a:pPr lvl="1"/>
            <a:r>
              <a:rPr lang="ml-IN" dirty="0"/>
              <a:t>അവന്റെ പരിശുദ്ധി മനുഷ്യനെ വിശുദ്ധജീവിതത്തിലേക്ക് വിളിക്കുന്നു (1 പത്രോസ് 1:16).</a:t>
            </a:r>
          </a:p>
          <a:p>
            <a:r>
              <a:rPr lang="en-US" b="1" dirty="0" smtClean="0"/>
              <a:t>10.</a:t>
            </a:r>
            <a:r>
              <a:rPr lang="ml-IN" dirty="0"/>
              <a:t> </a:t>
            </a:r>
            <a:r>
              <a:rPr lang="ml-IN" b="1" dirty="0"/>
              <a:t>സർവ്വാധിപത്യ</a:t>
            </a:r>
            <a:r>
              <a:rPr lang="en-IN" b="1" dirty="0" smtClean="0"/>
              <a:t>o </a:t>
            </a:r>
            <a:r>
              <a:rPr lang="ml-IN" b="1" dirty="0" smtClean="0"/>
              <a:t>(</a:t>
            </a:r>
            <a:r>
              <a:rPr lang="en-IN" b="1" dirty="0" smtClean="0"/>
              <a:t>Sovereignty of God)</a:t>
            </a:r>
            <a:r>
              <a:rPr lang="en-IN" dirty="0" smtClean="0"/>
              <a:t> </a:t>
            </a:r>
          </a:p>
          <a:p>
            <a:pPr lvl="1"/>
            <a:r>
              <a:rPr lang="ml-IN" dirty="0"/>
              <a:t>സകലത്തിനും മേലുള്ള പരമാധികാരി (ദാനിയേൽ 4:35</a:t>
            </a:r>
            <a:r>
              <a:rPr lang="ml-IN" dirty="0" smtClean="0"/>
              <a:t>).</a:t>
            </a:r>
            <a:endParaRPr lang="en-US" dirty="0" smtClean="0"/>
          </a:p>
          <a:p>
            <a:r>
              <a:rPr lang="en-US" b="1" dirty="0"/>
              <a:t> </a:t>
            </a:r>
            <a:r>
              <a:rPr lang="en-US" b="1" dirty="0" smtClean="0"/>
              <a:t>11. </a:t>
            </a:r>
            <a:r>
              <a:rPr lang="ml-IN" b="1" dirty="0" smtClean="0"/>
              <a:t>ഏകത്വം</a:t>
            </a:r>
            <a:r>
              <a:rPr lang="en-US" b="1" dirty="0" smtClean="0"/>
              <a:t> (</a:t>
            </a:r>
            <a:r>
              <a:rPr lang="en-IN" b="1" dirty="0"/>
              <a:t>Unity of God</a:t>
            </a:r>
            <a:r>
              <a:rPr lang="en-US" b="1" dirty="0" smtClean="0"/>
              <a:t>)</a:t>
            </a:r>
          </a:p>
          <a:p>
            <a:pPr lvl="1"/>
            <a:r>
              <a:rPr lang="ml-IN" dirty="0"/>
              <a:t>ദൈവം </a:t>
            </a:r>
            <a:r>
              <a:rPr lang="ml-IN" dirty="0" smtClean="0"/>
              <a:t>ഒരേയൊരാളാണ്</a:t>
            </a:r>
            <a:r>
              <a:rPr lang="en-US" dirty="0" smtClean="0"/>
              <a:t>. </a:t>
            </a:r>
          </a:p>
          <a:p>
            <a:pPr lvl="1"/>
            <a:r>
              <a:rPr lang="ml-IN" dirty="0"/>
              <a:t>ദൈവം </a:t>
            </a:r>
            <a:r>
              <a:rPr lang="ml-IN" dirty="0" smtClean="0"/>
              <a:t>വിഭജിക്കപ്പെടുന്നില്ല</a:t>
            </a:r>
            <a:r>
              <a:rPr lang="en-US" dirty="0" smtClean="0"/>
              <a:t>. </a:t>
            </a:r>
          </a:p>
          <a:p>
            <a:pPr lvl="1"/>
            <a:r>
              <a:rPr lang="ml-IN" dirty="0" smtClean="0"/>
              <a:t>സ്വഭാവത്തിലും </a:t>
            </a:r>
            <a:r>
              <a:rPr lang="ml-IN" dirty="0"/>
              <a:t>ഗുണങ്ങളിലും </a:t>
            </a:r>
            <a:r>
              <a:rPr lang="ml-IN" dirty="0" smtClean="0"/>
              <a:t>വൈരുദ്ധ്യം </a:t>
            </a:r>
            <a:r>
              <a:rPr lang="ml-IN" dirty="0"/>
              <a:t>ഇല്ല.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09051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sz="4400" b="1" dirty="0"/>
              <a:t>പങ്കിടാവുന്ന (</a:t>
            </a:r>
            <a:r>
              <a:rPr lang="en-IN" sz="4400" b="1" dirty="0"/>
              <a:t>Communicable) </a:t>
            </a:r>
            <a:r>
              <a:rPr lang="ml-IN" sz="4400" b="1" dirty="0"/>
              <a:t>ഗുണങ്ങൾ</a:t>
            </a:r>
            <a:r>
              <a:rPr lang="en-US" sz="4400" b="1" dirty="0"/>
              <a:t/>
            </a:r>
            <a:br>
              <a:rPr lang="en-US" sz="4400" b="1" dirty="0"/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257833"/>
            <a:ext cx="988764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ml-I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വിജ്ഞാനം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(Wisdom)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ദൈവത്തിന്റെ വിജ്ഞാനം പരിപൂർണ്ണം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റോമർ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11:33).</a:t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↔ 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മനുഷ്യന് കുറവുള്ള വിജ്ഞാനം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സദൃ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2:6).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ml-I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ന്യായം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(Justice/Righteousness)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ദൈവം നീതിമാൻ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സങ്കീർത്തനം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89:14).</a:t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↔ 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മനുഷ്യനും നീതിപാലിക്കേണ്ടവൻ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മീഖാ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6:8).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ml-IN" b="1" dirty="0" smtClean="0"/>
              <a:t>വിശുദ്ധി</a:t>
            </a:r>
            <a:r>
              <a:rPr lang="en-US" b="1" dirty="0" smtClean="0"/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(Holiness)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ദൈവം പാപരഹിതൻ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പത്രോസ്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1:16).</a:t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↔ 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 വിശുദ്ധജീവിതത്തിലേക്ക് വിളിക്കുന്നു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ml-I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സ്നേഹം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(Love)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ദൈവം സ്നേഹം തന്നെയാണ്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യോഹന്നാൻ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4:8).</a:t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↔ 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മനുഷ്യനും സ്നേഹിക്കുവാൻ വിളിക്കപ്പെട്ടവൻ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l-I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യോഹ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13:34).</a:t>
            </a:r>
          </a:p>
        </p:txBody>
      </p:sp>
    </p:spTree>
    <p:extLst>
      <p:ext uri="{BB962C8B-B14F-4D97-AF65-F5344CB8AC3E}">
        <p14:creationId xmlns:p14="http://schemas.microsoft.com/office/powerpoint/2010/main" val="192184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ml-IN" sz="1800" b="1" dirty="0">
                <a:latin typeface="Arial" panose="020B0604020202020204" pitchFamily="34" charset="0"/>
                <a:cs typeface="Mangal"/>
              </a:rPr>
              <a:t>കരുണ </a:t>
            </a:r>
            <a:r>
              <a:rPr lang="en-US" sz="1800" b="1" dirty="0">
                <a:latin typeface="Arial" panose="020B0604020202020204" pitchFamily="34" charset="0"/>
                <a:cs typeface="Mangal"/>
              </a:rPr>
              <a:t>(Mercy)</a:t>
            </a:r>
            <a:r>
              <a:rPr lang="en-US" sz="1800" dirty="0">
                <a:latin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dirty="0">
                <a:latin typeface="Arial" panose="020B0604020202020204" pitchFamily="34" charset="0"/>
              </a:rPr>
              <a:t>– </a:t>
            </a:r>
            <a:r>
              <a:rPr lang="ml-IN" sz="1600" dirty="0">
                <a:latin typeface="Arial" panose="020B0604020202020204" pitchFamily="34" charset="0"/>
                <a:cs typeface="Mangal"/>
              </a:rPr>
              <a:t>ദൈവത്തിന്റെ കരുണ അനന്തം </a:t>
            </a:r>
            <a:r>
              <a:rPr lang="en-US" sz="1600" dirty="0">
                <a:latin typeface="Arial" panose="020B0604020202020204" pitchFamily="34" charset="0"/>
              </a:rPr>
              <a:t>(</a:t>
            </a:r>
            <a:r>
              <a:rPr lang="ml-IN" sz="1600" dirty="0">
                <a:latin typeface="Arial" panose="020B0604020202020204" pitchFamily="34" charset="0"/>
                <a:cs typeface="Mangal"/>
              </a:rPr>
              <a:t>എഫെസ്യർ </a:t>
            </a:r>
            <a:r>
              <a:rPr lang="en-US" sz="1600" dirty="0">
                <a:latin typeface="Arial" panose="020B0604020202020204" pitchFamily="34" charset="0"/>
              </a:rPr>
              <a:t>2:4).</a:t>
            </a:r>
            <a:br>
              <a:rPr lang="en-US" sz="1600" dirty="0">
                <a:latin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</a:rPr>
              <a:t>↔ </a:t>
            </a:r>
            <a:r>
              <a:rPr lang="ml-IN" sz="1600" dirty="0">
                <a:latin typeface="Arial" panose="020B0604020202020204" pitchFamily="34" charset="0"/>
                <a:cs typeface="Mangal"/>
              </a:rPr>
              <a:t>മനുഷ്യനും കരുണ കാണിക്കുവാൻ വിളിക്കപ്പെട്ടവൻ </a:t>
            </a:r>
            <a:r>
              <a:rPr lang="en-US" sz="1600" dirty="0">
                <a:latin typeface="Arial" panose="020B0604020202020204" pitchFamily="34" charset="0"/>
              </a:rPr>
              <a:t>(</a:t>
            </a:r>
            <a:r>
              <a:rPr lang="ml-IN" sz="1600" dirty="0">
                <a:latin typeface="Arial" panose="020B0604020202020204" pitchFamily="34" charset="0"/>
                <a:cs typeface="Mangal"/>
              </a:rPr>
              <a:t>ലൂക്കോസ് </a:t>
            </a:r>
            <a:r>
              <a:rPr lang="en-US" sz="1600" dirty="0">
                <a:latin typeface="Arial" panose="020B0604020202020204" pitchFamily="34" charset="0"/>
              </a:rPr>
              <a:t>6:36).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ml-IN" b="1" dirty="0" smtClean="0">
                <a:latin typeface="Arial" panose="020B0604020202020204" pitchFamily="34" charset="0"/>
                <a:cs typeface="Mangal"/>
              </a:rPr>
              <a:t>കൃപ </a:t>
            </a:r>
            <a:r>
              <a:rPr lang="en-US" b="1" dirty="0">
                <a:latin typeface="Arial" panose="020B0604020202020204" pitchFamily="34" charset="0"/>
                <a:cs typeface="Mangal"/>
              </a:rPr>
              <a:t>(Grace)</a:t>
            </a:r>
            <a:r>
              <a:rPr lang="en-US" dirty="0">
                <a:latin typeface="Arial" panose="020B0604020202020204" pitchFamily="34" charset="0"/>
              </a:rPr>
              <a:t> </a:t>
            </a:r>
            <a:endParaRPr lang="en-US" dirty="0" smtClean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 smtClean="0">
                <a:latin typeface="Arial" panose="020B0604020202020204" pitchFamily="34" charset="0"/>
              </a:rPr>
              <a:t>– </a:t>
            </a:r>
            <a:r>
              <a:rPr lang="ml-IN" dirty="0">
                <a:latin typeface="Arial" panose="020B0604020202020204" pitchFamily="34" charset="0"/>
                <a:cs typeface="Mangal"/>
              </a:rPr>
              <a:t>ദൈവം അർഹിക്കാത്തവർക്കും അനുഗ്രഹം നൽകുന്നു</a:t>
            </a:r>
            <a:r>
              <a:rPr lang="en-US" dirty="0">
                <a:latin typeface="Arial" panose="020B0604020202020204" pitchFamily="34" charset="0"/>
              </a:rPr>
              <a:t>.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↔ </a:t>
            </a:r>
            <a:r>
              <a:rPr lang="ml-IN" dirty="0">
                <a:latin typeface="Arial" panose="020B0604020202020204" pitchFamily="34" charset="0"/>
                <a:cs typeface="Mangal"/>
              </a:rPr>
              <a:t>മനുഷ്യൻ പരസ്പരം ക്ഷമിക്കുകയും അനുഗ്രഹിക്കുകയും ചെയ്യണം</a:t>
            </a:r>
            <a:r>
              <a:rPr lang="en-US" dirty="0"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ml-IN" b="1" dirty="0">
                <a:latin typeface="Arial" panose="020B0604020202020204" pitchFamily="34" charset="0"/>
                <a:cs typeface="Mangal"/>
              </a:rPr>
              <a:t>സത്യസ്വഭാവം </a:t>
            </a:r>
            <a:r>
              <a:rPr lang="en-US" b="1" dirty="0">
                <a:latin typeface="Arial" panose="020B0604020202020204" pitchFamily="34" charset="0"/>
                <a:cs typeface="Mangal"/>
              </a:rPr>
              <a:t>(Truthfulness / Faithfulness)</a:t>
            </a:r>
            <a:r>
              <a:rPr lang="en-US" dirty="0">
                <a:latin typeface="Arial" panose="020B0604020202020204" pitchFamily="34" charset="0"/>
              </a:rPr>
              <a:t> </a:t>
            </a:r>
            <a:endParaRPr lang="en-US" dirty="0" smtClean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 smtClean="0">
                <a:latin typeface="Arial" panose="020B0604020202020204" pitchFamily="34" charset="0"/>
              </a:rPr>
              <a:t>– </a:t>
            </a:r>
            <a:r>
              <a:rPr lang="ml-IN" dirty="0">
                <a:latin typeface="Arial" panose="020B0604020202020204" pitchFamily="34" charset="0"/>
                <a:cs typeface="Mangal"/>
              </a:rPr>
              <a:t>ദൈവം കള്ളം പറയുന്നില്ല </a:t>
            </a:r>
            <a:r>
              <a:rPr lang="en-US" dirty="0">
                <a:latin typeface="Arial" panose="020B0604020202020204" pitchFamily="34" charset="0"/>
              </a:rPr>
              <a:t>(</a:t>
            </a:r>
            <a:r>
              <a:rPr lang="ml-IN" dirty="0">
                <a:latin typeface="Arial" panose="020B0604020202020204" pitchFamily="34" charset="0"/>
                <a:cs typeface="Mangal"/>
              </a:rPr>
              <a:t>സംഖ്യാ </a:t>
            </a:r>
            <a:r>
              <a:rPr lang="en-US" dirty="0">
                <a:latin typeface="Arial" panose="020B0604020202020204" pitchFamily="34" charset="0"/>
              </a:rPr>
              <a:t>23:19).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↔ </a:t>
            </a:r>
            <a:r>
              <a:rPr lang="ml-IN" dirty="0">
                <a:latin typeface="Arial" panose="020B0604020202020204" pitchFamily="34" charset="0"/>
                <a:cs typeface="Mangal"/>
              </a:rPr>
              <a:t>മനുഷ്യനും സത്യസന്ധനായിരിക്കണം </a:t>
            </a:r>
            <a:r>
              <a:rPr lang="en-US" dirty="0">
                <a:latin typeface="Arial" panose="020B0604020202020204" pitchFamily="34" charset="0"/>
              </a:rPr>
              <a:t>(</a:t>
            </a:r>
            <a:r>
              <a:rPr lang="ml-IN" dirty="0">
                <a:latin typeface="Arial" panose="020B0604020202020204" pitchFamily="34" charset="0"/>
                <a:cs typeface="Mangal"/>
              </a:rPr>
              <a:t>എഫെ</a:t>
            </a:r>
            <a:r>
              <a:rPr lang="en-US" dirty="0">
                <a:latin typeface="Arial" panose="020B0604020202020204" pitchFamily="34" charset="0"/>
              </a:rPr>
              <a:t>. 4:25).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ml-IN" b="1" dirty="0">
                <a:latin typeface="Arial" panose="020B0604020202020204" pitchFamily="34" charset="0"/>
                <a:cs typeface="Mangal"/>
              </a:rPr>
              <a:t>ക്ഷമ </a:t>
            </a:r>
            <a:r>
              <a:rPr lang="en-US" b="1" dirty="0">
                <a:latin typeface="Arial" panose="020B0604020202020204" pitchFamily="34" charset="0"/>
                <a:cs typeface="Mangal"/>
              </a:rPr>
              <a:t>(Forgiveness)</a:t>
            </a:r>
            <a:r>
              <a:rPr lang="en-US" dirty="0">
                <a:latin typeface="Arial" panose="020B0604020202020204" pitchFamily="34" charset="0"/>
              </a:rPr>
              <a:t> </a:t>
            </a:r>
            <a:endParaRPr lang="en-US" dirty="0" smtClean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 smtClean="0">
                <a:latin typeface="Arial" panose="020B0604020202020204" pitchFamily="34" charset="0"/>
              </a:rPr>
              <a:t>– </a:t>
            </a:r>
            <a:r>
              <a:rPr lang="ml-IN" dirty="0">
                <a:latin typeface="Arial" panose="020B0604020202020204" pitchFamily="34" charset="0"/>
                <a:cs typeface="Mangal"/>
              </a:rPr>
              <a:t>ദൈവം പാപം മാപ്പാക്കുന്നവൻ </a:t>
            </a:r>
            <a:r>
              <a:rPr lang="en-US" dirty="0">
                <a:latin typeface="Arial" panose="020B0604020202020204" pitchFamily="34" charset="0"/>
              </a:rPr>
              <a:t>(1</a:t>
            </a:r>
            <a:r>
              <a:rPr lang="ml-IN" dirty="0">
                <a:latin typeface="Arial" panose="020B0604020202020204" pitchFamily="34" charset="0"/>
                <a:cs typeface="Mangal"/>
              </a:rPr>
              <a:t> യോഹ</a:t>
            </a:r>
            <a:r>
              <a:rPr lang="en-US" dirty="0">
                <a:latin typeface="Arial" panose="020B0604020202020204" pitchFamily="34" charset="0"/>
              </a:rPr>
              <a:t>. 1:9).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↔ </a:t>
            </a:r>
            <a:r>
              <a:rPr lang="ml-IN" dirty="0">
                <a:latin typeface="Arial" panose="020B0604020202020204" pitchFamily="34" charset="0"/>
                <a:cs typeface="Mangal"/>
              </a:rPr>
              <a:t>മനുഷ്യനും സഹോദരനെ ക്ഷമിക്കണം </a:t>
            </a:r>
            <a:r>
              <a:rPr lang="en-US" dirty="0">
                <a:latin typeface="Arial" panose="020B0604020202020204" pitchFamily="34" charset="0"/>
              </a:rPr>
              <a:t>(</a:t>
            </a:r>
            <a:r>
              <a:rPr lang="ml-IN" dirty="0">
                <a:latin typeface="Arial" panose="020B0604020202020204" pitchFamily="34" charset="0"/>
                <a:cs typeface="Mangal"/>
              </a:rPr>
              <a:t>മത്തായി </a:t>
            </a:r>
            <a:r>
              <a:rPr lang="en-US" dirty="0">
                <a:latin typeface="Arial" panose="020B0604020202020204" pitchFamily="34" charset="0"/>
              </a:rPr>
              <a:t>6:14).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406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79834"/>
            <a:ext cx="9404723" cy="5893805"/>
          </a:xfrm>
        </p:spPr>
        <p:txBody>
          <a:bodyPr/>
          <a:lstStyle/>
          <a:p>
            <a:pPr algn="ctr"/>
            <a:r>
              <a:rPr lang="en-US" sz="6000" b="1" dirty="0" smtClean="0"/>
              <a:t>Chapter 4</a:t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>The Names Of God</a:t>
            </a:r>
            <a:br>
              <a:rPr lang="en-US" sz="6000" b="1" dirty="0" smtClean="0"/>
            </a:br>
            <a:r>
              <a:rPr lang="en-US" sz="6000" b="1" dirty="0" smtClean="0"/>
              <a:t>(</a:t>
            </a:r>
            <a:r>
              <a:rPr lang="ml-IN" sz="6000" b="1" dirty="0" smtClean="0"/>
              <a:t>ദൈവത്തിന്റെ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ml-IN" sz="6000" b="1" dirty="0"/>
              <a:t>നാമങ്ങൾ </a:t>
            </a:r>
            <a:r>
              <a:rPr lang="en-US" sz="6000" b="1" dirty="0" smtClean="0"/>
              <a:t>)</a:t>
            </a:r>
            <a:br>
              <a:rPr lang="en-US" sz="6000" b="1" dirty="0" smtClean="0"/>
            </a:b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80660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7200" b="1" i="1" u="sng" dirty="0" smtClean="0"/>
              <a:t>OT NAMES</a:t>
            </a:r>
            <a:endParaRPr lang="en-IN" sz="7200" b="1"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7200" b="1" dirty="0" smtClean="0"/>
              <a:t>EL</a:t>
            </a:r>
            <a:r>
              <a:rPr lang="en-IN" sz="7200" b="1" dirty="0" smtClean="0"/>
              <a:t> – ELOAH</a:t>
            </a:r>
          </a:p>
          <a:p>
            <a:r>
              <a:rPr lang="en-US" sz="7200" b="1" dirty="0" smtClean="0"/>
              <a:t>YAHWEH – YHWH</a:t>
            </a:r>
          </a:p>
          <a:p>
            <a:r>
              <a:rPr lang="en-IN" sz="7200" b="1" dirty="0" smtClean="0"/>
              <a:t>ADONAI</a:t>
            </a:r>
            <a:endParaRPr lang="en-US" sz="7200" b="1" dirty="0" smtClean="0"/>
          </a:p>
        </p:txBody>
      </p:sp>
    </p:spTree>
    <p:extLst>
      <p:ext uri="{BB962C8B-B14F-4D97-AF65-F5344CB8AC3E}">
        <p14:creationId xmlns:p14="http://schemas.microsoft.com/office/powerpoint/2010/main" val="173575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004" y="362184"/>
            <a:ext cx="9404723" cy="1400530"/>
          </a:xfrm>
        </p:spPr>
        <p:txBody>
          <a:bodyPr/>
          <a:lstStyle/>
          <a:p>
            <a:pPr algn="ctr"/>
            <a:r>
              <a:rPr lang="en-IN" sz="3200" b="1" dirty="0"/>
              <a:t>1. “El” (</a:t>
            </a:r>
            <a:r>
              <a:rPr lang="ml-IN" sz="3200" b="1" dirty="0"/>
              <a:t>എൽ) അടിസ്ഥാനത്തിലുള്ള </a:t>
            </a:r>
            <a:r>
              <a:rPr lang="ml-IN" sz="3200" b="1" dirty="0" smtClean="0"/>
              <a:t>നാമങ്ങൾ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457608"/>
            <a:ext cx="9389654" cy="5400392"/>
          </a:xfrm>
        </p:spPr>
        <p:txBody>
          <a:bodyPr>
            <a:normAutofit fontScale="92500" lnSpcReduction="10000"/>
          </a:bodyPr>
          <a:lstStyle/>
          <a:p>
            <a:r>
              <a:rPr lang="ml-IN" b="1" dirty="0" smtClean="0"/>
              <a:t>എൽ </a:t>
            </a:r>
            <a:r>
              <a:rPr lang="ml-IN" b="1" dirty="0"/>
              <a:t>(</a:t>
            </a:r>
            <a:r>
              <a:rPr lang="en-IN" b="1" dirty="0"/>
              <a:t>El)</a:t>
            </a:r>
            <a:r>
              <a:rPr lang="en-IN" dirty="0"/>
              <a:t> – </a:t>
            </a:r>
            <a:r>
              <a:rPr lang="ml-IN" dirty="0"/>
              <a:t>ഉല്പത്തി </a:t>
            </a:r>
            <a:r>
              <a:rPr lang="ml-IN" dirty="0" smtClean="0"/>
              <a:t>33:20</a:t>
            </a:r>
            <a:r>
              <a:rPr lang="en-US" dirty="0" smtClean="0"/>
              <a:t>    -- </a:t>
            </a:r>
            <a:r>
              <a:rPr lang="ml-IN" dirty="0"/>
              <a:t>"എലോഹ" (</a:t>
            </a:r>
            <a:r>
              <a:rPr lang="en-IN" dirty="0" err="1"/>
              <a:t>Eloah</a:t>
            </a:r>
            <a:r>
              <a:rPr lang="en-IN" dirty="0"/>
              <a:t>)</a:t>
            </a:r>
            <a:endParaRPr lang="en-US" dirty="0" smtClean="0"/>
          </a:p>
          <a:p>
            <a:pPr lvl="1"/>
            <a:r>
              <a:rPr lang="en-IN" dirty="0"/>
              <a:t>“</a:t>
            </a:r>
            <a:r>
              <a:rPr lang="ml-IN" dirty="0"/>
              <a:t>ദൈവം</a:t>
            </a:r>
            <a:r>
              <a:rPr lang="ml-IN" dirty="0" smtClean="0"/>
              <a:t>”</a:t>
            </a:r>
            <a:endParaRPr lang="en-US" dirty="0" smtClean="0"/>
          </a:p>
          <a:p>
            <a:r>
              <a:rPr lang="ml-IN" b="1" dirty="0" smtClean="0"/>
              <a:t>എലോഹീം </a:t>
            </a:r>
            <a:r>
              <a:rPr lang="ml-IN" b="1" dirty="0"/>
              <a:t>(</a:t>
            </a:r>
            <a:r>
              <a:rPr lang="en-IN" b="1" dirty="0"/>
              <a:t>Elohim)</a:t>
            </a:r>
            <a:r>
              <a:rPr lang="en-IN" dirty="0"/>
              <a:t> – </a:t>
            </a:r>
            <a:r>
              <a:rPr lang="ml-IN" dirty="0"/>
              <a:t>ഉല്പത്തി </a:t>
            </a:r>
            <a:r>
              <a:rPr lang="ml-IN" dirty="0" smtClean="0"/>
              <a:t>1:1</a:t>
            </a:r>
            <a:endParaRPr lang="en-US" dirty="0" smtClean="0"/>
          </a:p>
          <a:p>
            <a:pPr lvl="1"/>
            <a:r>
              <a:rPr lang="ml-IN" dirty="0"/>
              <a:t>സർവ്വശക്തനായ </a:t>
            </a:r>
            <a:r>
              <a:rPr lang="ml-IN" dirty="0" smtClean="0"/>
              <a:t>സ്രഷ്ടാവ്</a:t>
            </a:r>
            <a:endParaRPr lang="en-US" dirty="0" smtClean="0"/>
          </a:p>
          <a:p>
            <a:r>
              <a:rPr lang="ml-IN" b="1" dirty="0" smtClean="0"/>
              <a:t>എൽ </a:t>
            </a:r>
            <a:r>
              <a:rPr lang="ml-IN" b="1" dirty="0"/>
              <a:t>എല്യോൻ (</a:t>
            </a:r>
            <a:r>
              <a:rPr lang="en-IN" b="1" dirty="0"/>
              <a:t>El </a:t>
            </a:r>
            <a:r>
              <a:rPr lang="en-IN" b="1" dirty="0" err="1"/>
              <a:t>Elyon</a:t>
            </a:r>
            <a:r>
              <a:rPr lang="en-IN" b="1" dirty="0"/>
              <a:t>)</a:t>
            </a:r>
            <a:r>
              <a:rPr lang="en-IN" dirty="0"/>
              <a:t> – </a:t>
            </a:r>
            <a:r>
              <a:rPr lang="ml-IN" dirty="0"/>
              <a:t>ഉല്പത്തി </a:t>
            </a:r>
            <a:r>
              <a:rPr lang="ml-IN" dirty="0" smtClean="0"/>
              <a:t>14:18–20</a:t>
            </a:r>
            <a:endParaRPr lang="en-US" dirty="0" smtClean="0"/>
          </a:p>
          <a:p>
            <a:pPr lvl="1"/>
            <a:r>
              <a:rPr lang="ml-IN" dirty="0"/>
              <a:t>പരമോന്നത ദൈവം (</a:t>
            </a:r>
            <a:r>
              <a:rPr lang="en-IN" dirty="0"/>
              <a:t>Most High God)</a:t>
            </a:r>
          </a:p>
          <a:p>
            <a:r>
              <a:rPr lang="ml-IN" b="1" dirty="0" smtClean="0"/>
              <a:t>എൽ </a:t>
            </a:r>
            <a:r>
              <a:rPr lang="ml-IN" b="1" dirty="0"/>
              <a:t>ഷദ്ദായി (</a:t>
            </a:r>
            <a:r>
              <a:rPr lang="en-IN" b="1" dirty="0"/>
              <a:t>El </a:t>
            </a:r>
            <a:r>
              <a:rPr lang="en-IN" b="1" dirty="0" err="1"/>
              <a:t>Shaddai</a:t>
            </a:r>
            <a:r>
              <a:rPr lang="en-IN" b="1" dirty="0"/>
              <a:t>)</a:t>
            </a:r>
            <a:r>
              <a:rPr lang="en-IN" dirty="0"/>
              <a:t> – </a:t>
            </a:r>
            <a:r>
              <a:rPr lang="ml-IN" dirty="0"/>
              <a:t>ഉല്പത്തി </a:t>
            </a:r>
            <a:r>
              <a:rPr lang="ml-IN" dirty="0" smtClean="0"/>
              <a:t>17:1</a:t>
            </a:r>
            <a:endParaRPr lang="en-US" dirty="0" smtClean="0"/>
          </a:p>
          <a:p>
            <a:pPr lvl="1"/>
            <a:r>
              <a:rPr lang="ml-IN" dirty="0"/>
              <a:t>സർവ്വശക്തനായ ദൈവം (</a:t>
            </a:r>
            <a:r>
              <a:rPr lang="en-IN" dirty="0"/>
              <a:t>God Almighty)</a:t>
            </a:r>
          </a:p>
          <a:p>
            <a:r>
              <a:rPr lang="ml-IN" b="1" dirty="0" smtClean="0"/>
              <a:t>എൽ </a:t>
            </a:r>
            <a:r>
              <a:rPr lang="ml-IN" b="1" dirty="0"/>
              <a:t>ഒലാം (</a:t>
            </a:r>
            <a:r>
              <a:rPr lang="en-IN" b="1" dirty="0"/>
              <a:t>El </a:t>
            </a:r>
            <a:r>
              <a:rPr lang="en-IN" b="1" dirty="0" err="1"/>
              <a:t>Olam</a:t>
            </a:r>
            <a:r>
              <a:rPr lang="en-IN" b="1" dirty="0"/>
              <a:t>)</a:t>
            </a:r>
            <a:r>
              <a:rPr lang="en-IN" dirty="0"/>
              <a:t> – </a:t>
            </a:r>
            <a:r>
              <a:rPr lang="ml-IN" dirty="0"/>
              <a:t>ഉല്പത്തി </a:t>
            </a:r>
            <a:r>
              <a:rPr lang="ml-IN" dirty="0" smtClean="0"/>
              <a:t>21:33</a:t>
            </a:r>
            <a:endParaRPr lang="en-US" dirty="0" smtClean="0"/>
          </a:p>
          <a:p>
            <a:pPr lvl="1"/>
            <a:r>
              <a:rPr lang="en-US" dirty="0" smtClean="0"/>
              <a:t>`</a:t>
            </a:r>
            <a:r>
              <a:rPr lang="ml-IN" dirty="0"/>
              <a:t>നിത്യദൈവം (</a:t>
            </a:r>
            <a:r>
              <a:rPr lang="en-IN" dirty="0"/>
              <a:t>Everlasting God)</a:t>
            </a:r>
          </a:p>
          <a:p>
            <a:r>
              <a:rPr lang="ml-IN" b="1" dirty="0" smtClean="0"/>
              <a:t>എൽ </a:t>
            </a:r>
            <a:r>
              <a:rPr lang="ml-IN" b="1" dirty="0"/>
              <a:t>റോയി (</a:t>
            </a:r>
            <a:r>
              <a:rPr lang="en-IN" b="1" dirty="0"/>
              <a:t>El </a:t>
            </a:r>
            <a:r>
              <a:rPr lang="en-IN" b="1" dirty="0" err="1"/>
              <a:t>Roi</a:t>
            </a:r>
            <a:r>
              <a:rPr lang="en-IN" b="1" dirty="0"/>
              <a:t>)</a:t>
            </a:r>
            <a:r>
              <a:rPr lang="en-IN" dirty="0"/>
              <a:t> – </a:t>
            </a:r>
            <a:r>
              <a:rPr lang="ml-IN" dirty="0"/>
              <a:t>ഉല്പത്തി </a:t>
            </a:r>
            <a:r>
              <a:rPr lang="ml-IN" dirty="0" smtClean="0"/>
              <a:t>16:13</a:t>
            </a:r>
            <a:endParaRPr lang="en-US" dirty="0" smtClean="0"/>
          </a:p>
          <a:p>
            <a:pPr lvl="1"/>
            <a:r>
              <a:rPr lang="ml-IN" dirty="0"/>
              <a:t>എന്നെ കാണുന്ന ദൈവം (</a:t>
            </a:r>
            <a:r>
              <a:rPr lang="en-IN" dirty="0"/>
              <a:t>God who sees me</a:t>
            </a:r>
            <a:r>
              <a:rPr lang="en-IN" dirty="0" smtClean="0"/>
              <a:t>)</a:t>
            </a:r>
          </a:p>
          <a:p>
            <a:r>
              <a:rPr lang="ml-IN" b="1" dirty="0"/>
              <a:t>എൽ ഹായി</a:t>
            </a:r>
            <a:r>
              <a:rPr lang="en-US" b="1" dirty="0"/>
              <a:t> (</a:t>
            </a:r>
            <a:r>
              <a:rPr lang="en-IN" b="1" dirty="0"/>
              <a:t>El </a:t>
            </a:r>
            <a:r>
              <a:rPr lang="en-IN" b="1" dirty="0" err="1"/>
              <a:t>Hai</a:t>
            </a:r>
            <a:r>
              <a:rPr lang="en-US" b="1" dirty="0"/>
              <a:t>) </a:t>
            </a:r>
            <a:r>
              <a:rPr lang="en-IN" dirty="0"/>
              <a:t>– </a:t>
            </a:r>
            <a:r>
              <a:rPr lang="ml-IN" dirty="0"/>
              <a:t>യോശുവ 3:10</a:t>
            </a:r>
            <a:endParaRPr lang="en-US" dirty="0"/>
          </a:p>
          <a:p>
            <a:pPr lvl="1"/>
            <a:r>
              <a:rPr lang="en-US" dirty="0" err="1"/>
              <a:t>ജീവനുള്ള</a:t>
            </a:r>
            <a:r>
              <a:rPr lang="en-US" dirty="0"/>
              <a:t> </a:t>
            </a:r>
            <a:r>
              <a:rPr lang="en-US" dirty="0" err="1"/>
              <a:t>ദൈവം</a:t>
            </a:r>
            <a:r>
              <a:rPr lang="en-US" dirty="0"/>
              <a:t> (The Living God</a:t>
            </a:r>
            <a:r>
              <a:rPr lang="en-US" dirty="0" smtClean="0"/>
              <a:t>)</a:t>
            </a:r>
            <a:endParaRPr lang="en-IN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538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010" y="697117"/>
            <a:ext cx="9370843" cy="5848538"/>
          </a:xfrm>
        </p:spPr>
        <p:txBody>
          <a:bodyPr>
            <a:normAutofit lnSpcReduction="10000"/>
          </a:bodyPr>
          <a:lstStyle/>
          <a:p>
            <a:r>
              <a:rPr lang="ml-IN" b="1" dirty="0"/>
              <a:t>എൽ ഗിബ്ബോർ (</a:t>
            </a:r>
            <a:r>
              <a:rPr lang="en-IN" b="1" dirty="0"/>
              <a:t>El </a:t>
            </a:r>
            <a:r>
              <a:rPr lang="en-IN" b="1" dirty="0" err="1"/>
              <a:t>Gibbor</a:t>
            </a:r>
            <a:r>
              <a:rPr lang="en-IN" b="1" dirty="0"/>
              <a:t>) – </a:t>
            </a:r>
            <a:r>
              <a:rPr lang="ml-IN" b="1" dirty="0"/>
              <a:t>യെശയ്യാവ് 9:6, </a:t>
            </a:r>
            <a:r>
              <a:rPr lang="ml-IN" b="1" dirty="0" smtClean="0"/>
              <a:t>10:21</a:t>
            </a:r>
            <a:endParaRPr lang="en-US" b="1" dirty="0" smtClean="0"/>
          </a:p>
          <a:p>
            <a:pPr lvl="1"/>
            <a:r>
              <a:rPr lang="en-US" dirty="0"/>
              <a:t>"</a:t>
            </a:r>
            <a:r>
              <a:rPr lang="en-US" dirty="0" err="1"/>
              <a:t>പരാക്രമശാലിയായ</a:t>
            </a:r>
            <a:r>
              <a:rPr lang="en-US" dirty="0"/>
              <a:t> </a:t>
            </a:r>
            <a:r>
              <a:rPr lang="en-US" dirty="0" err="1"/>
              <a:t>ദൈവം</a:t>
            </a:r>
            <a:r>
              <a:rPr lang="en-US" dirty="0"/>
              <a:t>" (Mighty God / God the Warrior</a:t>
            </a:r>
            <a:r>
              <a:rPr lang="en-US" dirty="0" smtClean="0"/>
              <a:t>)</a:t>
            </a:r>
          </a:p>
          <a:p>
            <a:r>
              <a:rPr lang="ml-IN" b="1" dirty="0"/>
              <a:t>എൽ എമൂനാ (</a:t>
            </a:r>
            <a:r>
              <a:rPr lang="en-IN" b="1" dirty="0"/>
              <a:t>El </a:t>
            </a:r>
            <a:r>
              <a:rPr lang="en-IN" b="1" dirty="0" err="1"/>
              <a:t>Emunah</a:t>
            </a:r>
            <a:r>
              <a:rPr lang="en-IN" b="1" dirty="0"/>
              <a:t>) – </a:t>
            </a:r>
            <a:r>
              <a:rPr lang="ml-IN" b="1" dirty="0"/>
              <a:t>ആവർത്തനം 7:9, </a:t>
            </a:r>
            <a:r>
              <a:rPr lang="ml-IN" b="1" dirty="0" smtClean="0"/>
              <a:t>32:4</a:t>
            </a:r>
            <a:endParaRPr lang="en-US" b="1" dirty="0" smtClean="0"/>
          </a:p>
          <a:p>
            <a:pPr lvl="1"/>
            <a:r>
              <a:rPr lang="ml-IN" dirty="0" smtClean="0"/>
              <a:t>"</a:t>
            </a:r>
            <a:r>
              <a:rPr lang="ml-IN" dirty="0"/>
              <a:t>വിശ്വസ്തനായ ദൈവം" (</a:t>
            </a:r>
            <a:r>
              <a:rPr lang="en-IN" dirty="0"/>
              <a:t>The Faithful God)</a:t>
            </a:r>
          </a:p>
          <a:p>
            <a:r>
              <a:rPr lang="ml-IN" b="1" dirty="0"/>
              <a:t>എൽ കന്നാ (</a:t>
            </a:r>
            <a:r>
              <a:rPr lang="en-IN" b="1" dirty="0"/>
              <a:t>El </a:t>
            </a:r>
            <a:r>
              <a:rPr lang="en-IN" b="1" dirty="0" err="1"/>
              <a:t>Kanna</a:t>
            </a:r>
            <a:r>
              <a:rPr lang="en-IN" b="1" dirty="0"/>
              <a:t>) – </a:t>
            </a:r>
            <a:r>
              <a:rPr lang="ml-IN" b="1" dirty="0"/>
              <a:t>പുറപ്പാട് 20:5, </a:t>
            </a:r>
            <a:r>
              <a:rPr lang="ml-IN" b="1" dirty="0" smtClean="0"/>
              <a:t>34:14</a:t>
            </a:r>
            <a:endParaRPr lang="en-US" b="1" dirty="0" smtClean="0"/>
          </a:p>
          <a:p>
            <a:pPr lvl="1"/>
            <a:r>
              <a:rPr lang="ml-IN" dirty="0" smtClean="0"/>
              <a:t>"</a:t>
            </a:r>
            <a:r>
              <a:rPr lang="ml-IN" dirty="0"/>
              <a:t>അസൂയയുള്ള ദൈവം" (</a:t>
            </a:r>
            <a:r>
              <a:rPr lang="en-IN" dirty="0"/>
              <a:t>The Jealous God)</a:t>
            </a:r>
          </a:p>
          <a:p>
            <a:r>
              <a:rPr lang="ml-IN" b="1" dirty="0"/>
              <a:t>എൽ ഹന്നൂൻ (</a:t>
            </a:r>
            <a:r>
              <a:rPr lang="en-IN" b="1" dirty="0"/>
              <a:t>El </a:t>
            </a:r>
            <a:r>
              <a:rPr lang="en-IN" b="1" dirty="0" err="1"/>
              <a:t>Hannun</a:t>
            </a:r>
            <a:r>
              <a:rPr lang="en-IN" b="1" dirty="0"/>
              <a:t>) – </a:t>
            </a:r>
            <a:r>
              <a:rPr lang="ml-IN" b="1" dirty="0"/>
              <a:t>നെഹെമ്യാവ് </a:t>
            </a:r>
            <a:r>
              <a:rPr lang="ml-IN" b="1" dirty="0" smtClean="0"/>
              <a:t>9:31</a:t>
            </a:r>
            <a:endParaRPr lang="en-US" b="1" dirty="0" smtClean="0"/>
          </a:p>
          <a:p>
            <a:pPr lvl="1"/>
            <a:r>
              <a:rPr lang="ml-IN" dirty="0" smtClean="0"/>
              <a:t>"</a:t>
            </a:r>
            <a:r>
              <a:rPr lang="ml-IN" dirty="0"/>
              <a:t>കൃപയുള്ള ദൈവം" (</a:t>
            </a:r>
            <a:r>
              <a:rPr lang="en-IN" dirty="0"/>
              <a:t>The Gracious God</a:t>
            </a:r>
            <a:r>
              <a:rPr lang="en-IN" dirty="0" smtClean="0"/>
              <a:t>)</a:t>
            </a:r>
          </a:p>
          <a:p>
            <a:r>
              <a:rPr lang="ml-IN" b="1" dirty="0"/>
              <a:t>എൽ </a:t>
            </a:r>
            <a:r>
              <a:rPr lang="ml-IN" b="1" dirty="0" smtClean="0"/>
              <a:t>എലോഹേ </a:t>
            </a:r>
            <a:r>
              <a:rPr lang="en-US" b="1" dirty="0" smtClean="0"/>
              <a:t>(</a:t>
            </a:r>
            <a:r>
              <a:rPr lang="en-IN" b="1" dirty="0" smtClean="0"/>
              <a:t>El </a:t>
            </a:r>
            <a:r>
              <a:rPr lang="en-IN" b="1" dirty="0" err="1" smtClean="0"/>
              <a:t>Elohe</a:t>
            </a:r>
            <a:r>
              <a:rPr lang="en-IN" b="1" dirty="0" smtClean="0"/>
              <a:t>) </a:t>
            </a:r>
            <a:r>
              <a:rPr lang="en-IN" b="1" dirty="0"/>
              <a:t>- </a:t>
            </a:r>
            <a:r>
              <a:rPr lang="ml-IN" b="1" dirty="0"/>
              <a:t>സങ്കീർത്തനം </a:t>
            </a:r>
            <a:r>
              <a:rPr lang="ml-IN" b="1" dirty="0" smtClean="0"/>
              <a:t>68:20</a:t>
            </a:r>
            <a:endParaRPr lang="en-US" b="1" dirty="0" smtClean="0"/>
          </a:p>
          <a:p>
            <a:pPr lvl="1"/>
            <a:r>
              <a:rPr lang="ml-IN" dirty="0"/>
              <a:t>"ദൈവങ്ങളുടെ ദൈവം" (</a:t>
            </a:r>
            <a:r>
              <a:rPr lang="en-IN" dirty="0"/>
              <a:t>God of </a:t>
            </a:r>
            <a:r>
              <a:rPr lang="en-IN" dirty="0" smtClean="0"/>
              <a:t>gods).</a:t>
            </a:r>
          </a:p>
          <a:p>
            <a:r>
              <a:rPr lang="ml-IN" b="1" dirty="0" smtClean="0"/>
              <a:t>എൽ </a:t>
            </a:r>
            <a:r>
              <a:rPr lang="ml-IN" b="1" dirty="0"/>
              <a:t>റഹീ (</a:t>
            </a:r>
            <a:r>
              <a:rPr lang="en-IN" b="1" dirty="0"/>
              <a:t>El </a:t>
            </a:r>
            <a:r>
              <a:rPr lang="en-IN" b="1" dirty="0" err="1"/>
              <a:t>Rachi</a:t>
            </a:r>
            <a:r>
              <a:rPr lang="en-IN" b="1" dirty="0"/>
              <a:t>) - </a:t>
            </a:r>
            <a:r>
              <a:rPr lang="ml-IN" b="1" dirty="0"/>
              <a:t>സങ്കീർത്തനം </a:t>
            </a:r>
            <a:r>
              <a:rPr lang="ml-IN" b="1" dirty="0" smtClean="0"/>
              <a:t>18:1</a:t>
            </a:r>
            <a:endParaRPr lang="en-US" b="1" dirty="0" smtClean="0"/>
          </a:p>
          <a:p>
            <a:pPr lvl="1"/>
            <a:r>
              <a:rPr lang="ml-IN" dirty="0" smtClean="0"/>
              <a:t>"</a:t>
            </a:r>
            <a:r>
              <a:rPr lang="ml-IN" dirty="0"/>
              <a:t>എന്നെ സ്നേഹിക്കുന്ന ദൈവം" (</a:t>
            </a:r>
            <a:r>
              <a:rPr lang="en-IN" dirty="0"/>
              <a:t>God who loves me</a:t>
            </a:r>
            <a:r>
              <a:rPr lang="en-IN" dirty="0" smtClean="0"/>
              <a:t>)</a:t>
            </a:r>
          </a:p>
          <a:p>
            <a:r>
              <a:rPr lang="ml-IN" b="1" dirty="0"/>
              <a:t>എൽ ഹാഷലോം (</a:t>
            </a:r>
            <a:r>
              <a:rPr lang="en-IN" b="1" dirty="0"/>
              <a:t>El </a:t>
            </a:r>
            <a:r>
              <a:rPr lang="en-IN" b="1" dirty="0" err="1"/>
              <a:t>HaShalom</a:t>
            </a:r>
            <a:r>
              <a:rPr lang="en-IN" b="1" dirty="0"/>
              <a:t>) - </a:t>
            </a:r>
            <a:r>
              <a:rPr lang="ml-IN" b="1" dirty="0"/>
              <a:t>ന്യായാധിപന്മാർ </a:t>
            </a:r>
            <a:r>
              <a:rPr lang="ml-IN" b="1" dirty="0" smtClean="0"/>
              <a:t>6:24</a:t>
            </a:r>
            <a:endParaRPr lang="en-US" b="1" dirty="0" smtClean="0"/>
          </a:p>
          <a:p>
            <a:pPr lvl="1"/>
            <a:r>
              <a:rPr lang="ml-IN" dirty="0" smtClean="0"/>
              <a:t>"</a:t>
            </a:r>
            <a:r>
              <a:rPr lang="ml-IN" dirty="0"/>
              <a:t>സമാധാനത്തിന്റെ ദൈവം" (</a:t>
            </a:r>
            <a:r>
              <a:rPr lang="en-IN" dirty="0"/>
              <a:t>The God of Peace)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74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282" y="452718"/>
            <a:ext cx="10176095" cy="1400530"/>
          </a:xfrm>
        </p:spPr>
        <p:txBody>
          <a:bodyPr/>
          <a:lstStyle/>
          <a:p>
            <a:pPr algn="ctr"/>
            <a:r>
              <a:rPr lang="en-US" sz="7200" b="1" dirty="0" smtClean="0"/>
              <a:t>YAHWEH (</a:t>
            </a:r>
            <a:r>
              <a:rPr lang="ml-IN" sz="7200" b="1" dirty="0"/>
              <a:t>യഹ്‍വെ</a:t>
            </a:r>
            <a:r>
              <a:rPr lang="en-US" sz="7200" b="1" dirty="0" smtClean="0"/>
              <a:t>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b="1" dirty="0" smtClean="0"/>
              <a:t>Root Word — ”</a:t>
            </a:r>
            <a:r>
              <a:rPr lang="en-US" b="1" dirty="0" err="1" smtClean="0"/>
              <a:t>Hawa</a:t>
            </a:r>
            <a:r>
              <a:rPr lang="en-US" b="1" dirty="0" smtClean="0"/>
              <a:t>”</a:t>
            </a:r>
          </a:p>
          <a:p>
            <a:pPr lvl="1"/>
            <a:r>
              <a:rPr lang="en-US" b="1" dirty="0" smtClean="0"/>
              <a:t>YHWH — Tetragrammatons' (</a:t>
            </a:r>
            <a:r>
              <a:rPr lang="ml-IN" b="1" dirty="0" smtClean="0"/>
              <a:t>ചതുരക്ഷര</a:t>
            </a:r>
            <a:r>
              <a:rPr lang="en-US" b="1" dirty="0" smtClean="0"/>
              <a:t> </a:t>
            </a:r>
            <a:r>
              <a:rPr lang="ml-IN" b="1" dirty="0" smtClean="0"/>
              <a:t>നാമം</a:t>
            </a:r>
            <a:r>
              <a:rPr lang="en-US" b="1" dirty="0" smtClean="0"/>
              <a:t>)(</a:t>
            </a:r>
            <a:r>
              <a:rPr lang="en-US" b="1" dirty="0" err="1" smtClean="0"/>
              <a:t>yod</a:t>
            </a:r>
            <a:r>
              <a:rPr lang="en-US" b="1" dirty="0" smtClean="0"/>
              <a:t>, hay, wow, hay)</a:t>
            </a:r>
          </a:p>
          <a:p>
            <a:pPr lvl="1"/>
            <a:r>
              <a:rPr lang="en-US" b="1" dirty="0" smtClean="0"/>
              <a:t>Exodus 3:13,14 ; 6:2,3</a:t>
            </a:r>
          </a:p>
          <a:p>
            <a:pPr lvl="1"/>
            <a:r>
              <a:rPr lang="en-US" b="1" dirty="0" smtClean="0"/>
              <a:t>Three things included</a:t>
            </a:r>
          </a:p>
          <a:p>
            <a:pPr lvl="2"/>
            <a:r>
              <a:rPr lang="en-US" b="1" dirty="0" smtClean="0"/>
              <a:t>Self existent God (</a:t>
            </a:r>
            <a:r>
              <a:rPr lang="ml-IN" b="1" dirty="0"/>
              <a:t>സ്വയംഭൂ ദൈവം</a:t>
            </a:r>
            <a:r>
              <a:rPr lang="en-US" b="1" dirty="0" smtClean="0"/>
              <a:t>)</a:t>
            </a:r>
          </a:p>
          <a:p>
            <a:pPr lvl="2"/>
            <a:r>
              <a:rPr lang="en-US" b="1" dirty="0" smtClean="0"/>
              <a:t>Self sufficient God (</a:t>
            </a:r>
            <a:r>
              <a:rPr lang="ml-IN" b="1" dirty="0" smtClean="0"/>
              <a:t>സ്വയംപൂർണ്ണനായ</a:t>
            </a:r>
            <a:r>
              <a:rPr lang="en-US" b="1" dirty="0" smtClean="0"/>
              <a:t> </a:t>
            </a:r>
            <a:r>
              <a:rPr lang="ml-IN" b="1" dirty="0"/>
              <a:t>ദൈവം</a:t>
            </a:r>
            <a:r>
              <a:rPr lang="en-US" b="1" dirty="0" smtClean="0"/>
              <a:t>)</a:t>
            </a:r>
          </a:p>
          <a:p>
            <a:pPr lvl="2"/>
            <a:r>
              <a:rPr lang="en-US" b="1" dirty="0" smtClean="0"/>
              <a:t>The Immutable God (</a:t>
            </a:r>
            <a:r>
              <a:rPr lang="ml-IN" b="1" dirty="0" smtClean="0"/>
              <a:t>അപരിവർത്തനീയ</a:t>
            </a:r>
            <a:r>
              <a:rPr lang="en-US" b="1" dirty="0" smtClean="0"/>
              <a:t>/</a:t>
            </a:r>
            <a:r>
              <a:rPr lang="ml-IN" b="1" dirty="0" smtClean="0"/>
              <a:t>മാറ്റമില്ലാത്ത</a:t>
            </a:r>
            <a:r>
              <a:rPr lang="en-US" b="1" dirty="0" smtClean="0"/>
              <a:t> </a:t>
            </a:r>
            <a:r>
              <a:rPr lang="ml-IN" b="1" dirty="0"/>
              <a:t>ദൈവം</a:t>
            </a:r>
            <a:r>
              <a:rPr lang="en-US" b="1" dirty="0" smtClean="0"/>
              <a:t>)</a:t>
            </a:r>
          </a:p>
          <a:p>
            <a:r>
              <a:rPr lang="en-US" b="1" dirty="0" smtClean="0"/>
              <a:t>YHWH+ADONAI=YAHOWAH (</a:t>
            </a:r>
            <a:r>
              <a:rPr lang="ml-IN" b="1" dirty="0" smtClean="0"/>
              <a:t>യഹോവ</a:t>
            </a:r>
            <a:r>
              <a:rPr lang="en-US" b="1" dirty="0" smtClean="0"/>
              <a:t>)</a:t>
            </a:r>
            <a:endParaRPr lang="ml-IN" b="1" dirty="0"/>
          </a:p>
        </p:txBody>
      </p:sp>
    </p:spTree>
    <p:extLst>
      <p:ext uri="{BB962C8B-B14F-4D97-AF65-F5344CB8AC3E}">
        <p14:creationId xmlns:p14="http://schemas.microsoft.com/office/powerpoint/2010/main" val="269718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sz="3200" b="1" dirty="0"/>
              <a:t>യഹോവയുടെ സംയുക്ത നാമങ്ങൾ (</a:t>
            </a:r>
            <a:r>
              <a:rPr lang="en-IN" sz="3200" b="1" dirty="0"/>
              <a:t>Compound Names of Yahweh)</a:t>
            </a:r>
            <a:br>
              <a:rPr lang="en-IN" sz="3200" b="1" dirty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765426"/>
            <a:ext cx="9815167" cy="4961299"/>
          </a:xfrm>
        </p:spPr>
        <p:txBody>
          <a:bodyPr>
            <a:normAutofit fontScale="92500" lnSpcReduction="20000"/>
          </a:bodyPr>
          <a:lstStyle/>
          <a:p>
            <a:r>
              <a:rPr lang="ml-IN" b="1" dirty="0" smtClean="0"/>
              <a:t>യഹോവ </a:t>
            </a:r>
            <a:r>
              <a:rPr lang="ml-IN" b="1" dirty="0"/>
              <a:t>യിരേ (</a:t>
            </a:r>
            <a:r>
              <a:rPr lang="en-IN" b="1" dirty="0"/>
              <a:t>Yahweh </a:t>
            </a:r>
            <a:r>
              <a:rPr lang="en-IN" b="1" dirty="0" err="1"/>
              <a:t>Yireh</a:t>
            </a:r>
            <a:r>
              <a:rPr lang="en-IN" b="1" dirty="0"/>
              <a:t>) – </a:t>
            </a:r>
            <a:r>
              <a:rPr lang="ml-IN" b="1" dirty="0"/>
              <a:t>ഉല്പത്തി 22:14</a:t>
            </a:r>
            <a:r>
              <a:rPr lang="ml-IN" dirty="0"/>
              <a:t/>
            </a:r>
            <a:br>
              <a:rPr lang="ml-IN" dirty="0"/>
            </a:br>
            <a:r>
              <a:rPr lang="ml-IN" dirty="0"/>
              <a:t>ഒരുക്കുന്ന യഹോവ (</a:t>
            </a:r>
            <a:r>
              <a:rPr lang="en-IN" dirty="0"/>
              <a:t>The LORD Will Provide)</a:t>
            </a:r>
          </a:p>
          <a:p>
            <a:r>
              <a:rPr lang="ml-IN" b="1" dirty="0"/>
              <a:t>യഹോവ റാഫാ (</a:t>
            </a:r>
            <a:r>
              <a:rPr lang="en-IN" b="1" dirty="0"/>
              <a:t>Yahweh </a:t>
            </a:r>
            <a:r>
              <a:rPr lang="en-IN" b="1" dirty="0" err="1"/>
              <a:t>Rapha</a:t>
            </a:r>
            <a:r>
              <a:rPr lang="en-IN" b="1" dirty="0"/>
              <a:t>) – </a:t>
            </a:r>
            <a:r>
              <a:rPr lang="ml-IN" b="1" dirty="0"/>
              <a:t>പുറപ്പാട് 15:26</a:t>
            </a:r>
            <a:r>
              <a:rPr lang="ml-IN" dirty="0"/>
              <a:t/>
            </a:r>
            <a:br>
              <a:rPr lang="ml-IN" dirty="0"/>
            </a:br>
            <a:r>
              <a:rPr lang="ml-IN" dirty="0"/>
              <a:t>സൗഖ്യമാക്കുന്ന യഹോവ (</a:t>
            </a:r>
            <a:r>
              <a:rPr lang="en-IN" dirty="0"/>
              <a:t>The LORD Who Heals)</a:t>
            </a:r>
          </a:p>
          <a:p>
            <a:r>
              <a:rPr lang="ml-IN" b="1" dirty="0"/>
              <a:t>യഹോവ നിസ്സി (</a:t>
            </a:r>
            <a:r>
              <a:rPr lang="en-IN" b="1" dirty="0"/>
              <a:t>Yahweh </a:t>
            </a:r>
            <a:r>
              <a:rPr lang="en-IN" b="1" dirty="0" err="1"/>
              <a:t>Nissi</a:t>
            </a:r>
            <a:r>
              <a:rPr lang="en-IN" b="1" dirty="0"/>
              <a:t>) – </a:t>
            </a:r>
            <a:r>
              <a:rPr lang="ml-IN" b="1" dirty="0"/>
              <a:t>പുറപ്പാട് 17:15</a:t>
            </a:r>
            <a:r>
              <a:rPr lang="ml-IN" dirty="0"/>
              <a:t/>
            </a:r>
            <a:br>
              <a:rPr lang="ml-IN" dirty="0"/>
            </a:br>
            <a:r>
              <a:rPr lang="ml-IN" dirty="0"/>
              <a:t>എന്റെ കൊടിയായ യഹോവ (</a:t>
            </a:r>
            <a:r>
              <a:rPr lang="en-IN" dirty="0"/>
              <a:t>The LORD Is My Banner)</a:t>
            </a:r>
          </a:p>
          <a:p>
            <a:r>
              <a:rPr lang="ml-IN" b="1" dirty="0"/>
              <a:t>യഹോവ ശാലോം (</a:t>
            </a:r>
            <a:r>
              <a:rPr lang="en-IN" b="1" dirty="0"/>
              <a:t>Yahweh Shalom) – </a:t>
            </a:r>
            <a:r>
              <a:rPr lang="ml-IN" b="1" dirty="0"/>
              <a:t>ന്യായാധിപന്മാർ 6:24</a:t>
            </a:r>
            <a:r>
              <a:rPr lang="ml-IN" dirty="0"/>
              <a:t/>
            </a:r>
            <a:br>
              <a:rPr lang="ml-IN" dirty="0"/>
            </a:br>
            <a:r>
              <a:rPr lang="ml-IN" dirty="0"/>
              <a:t>സമാധാനമായ യഹോവ (</a:t>
            </a:r>
            <a:r>
              <a:rPr lang="en-IN" dirty="0"/>
              <a:t>The LORD Is Peace)</a:t>
            </a:r>
          </a:p>
          <a:p>
            <a:r>
              <a:rPr lang="ml-IN" b="1" dirty="0"/>
              <a:t>യഹോവ റോയി (</a:t>
            </a:r>
            <a:r>
              <a:rPr lang="en-IN" b="1" dirty="0"/>
              <a:t>Yahweh </a:t>
            </a:r>
            <a:r>
              <a:rPr lang="en-IN" b="1" dirty="0" err="1"/>
              <a:t>Roi</a:t>
            </a:r>
            <a:r>
              <a:rPr lang="en-IN" b="1" dirty="0"/>
              <a:t>) – </a:t>
            </a:r>
            <a:r>
              <a:rPr lang="ml-IN" b="1" dirty="0"/>
              <a:t>സങ്കീർത്തനങ്ങൾ 23:1</a:t>
            </a:r>
            <a:r>
              <a:rPr lang="ml-IN" dirty="0"/>
              <a:t/>
            </a:r>
            <a:br>
              <a:rPr lang="ml-IN" dirty="0"/>
            </a:br>
            <a:r>
              <a:rPr lang="ml-IN" dirty="0"/>
              <a:t>എന്റെ ഇടയനായ യഹോവ (</a:t>
            </a:r>
            <a:r>
              <a:rPr lang="en-IN" dirty="0"/>
              <a:t>The LORD Is My Shepherd)</a:t>
            </a:r>
          </a:p>
          <a:p>
            <a:r>
              <a:rPr lang="ml-IN" b="1" dirty="0"/>
              <a:t>യഹോവ റ്റ്സിദ്കേനു (</a:t>
            </a:r>
            <a:r>
              <a:rPr lang="en-IN" b="1" dirty="0"/>
              <a:t>Yahweh </a:t>
            </a:r>
            <a:r>
              <a:rPr lang="en-IN" b="1" dirty="0" err="1"/>
              <a:t>Tsidkenu</a:t>
            </a:r>
            <a:r>
              <a:rPr lang="en-IN" b="1" dirty="0"/>
              <a:t>) – </a:t>
            </a:r>
            <a:r>
              <a:rPr lang="ml-IN" b="1" dirty="0"/>
              <a:t>യിരമ്യാവു 23:6</a:t>
            </a:r>
            <a:r>
              <a:rPr lang="ml-IN" dirty="0"/>
              <a:t/>
            </a:r>
            <a:br>
              <a:rPr lang="ml-IN" dirty="0"/>
            </a:br>
            <a:r>
              <a:rPr lang="ml-IN" dirty="0"/>
              <a:t>നമ്മുടെ നീതിയായ യഹോവ (</a:t>
            </a:r>
            <a:r>
              <a:rPr lang="en-IN" dirty="0"/>
              <a:t>The LORD Our Righteousness)</a:t>
            </a:r>
          </a:p>
          <a:p>
            <a:r>
              <a:rPr lang="ml-IN" b="1" dirty="0"/>
              <a:t>യഹോവ ശമ്മ (</a:t>
            </a:r>
            <a:r>
              <a:rPr lang="en-IN" b="1" dirty="0"/>
              <a:t>Yahweh </a:t>
            </a:r>
            <a:r>
              <a:rPr lang="en-IN" b="1" dirty="0" err="1"/>
              <a:t>Shammah</a:t>
            </a:r>
            <a:r>
              <a:rPr lang="en-IN" b="1" dirty="0"/>
              <a:t>) – </a:t>
            </a:r>
            <a:r>
              <a:rPr lang="ml-IN" b="1" dirty="0"/>
              <a:t>യെഹെസ്കേൽ 48:35</a:t>
            </a:r>
            <a:r>
              <a:rPr lang="ml-IN" dirty="0"/>
              <a:t/>
            </a:r>
            <a:br>
              <a:rPr lang="ml-IN" dirty="0"/>
            </a:br>
            <a:r>
              <a:rPr lang="ml-IN" dirty="0"/>
              <a:t>അവിടുത്തെ യഹോവ (</a:t>
            </a:r>
            <a:r>
              <a:rPr lang="en-IN" dirty="0"/>
              <a:t>The LORD Is There)</a:t>
            </a:r>
          </a:p>
          <a:p>
            <a:r>
              <a:rPr lang="ml-IN" b="1" dirty="0"/>
              <a:t>യഹോവ സേബാവോത് (</a:t>
            </a:r>
            <a:r>
              <a:rPr lang="en-IN" b="1" dirty="0"/>
              <a:t>Yahweh </a:t>
            </a:r>
            <a:r>
              <a:rPr lang="en-IN" b="1" dirty="0" err="1"/>
              <a:t>Sabaoth</a:t>
            </a:r>
            <a:r>
              <a:rPr lang="en-IN" b="1" dirty="0"/>
              <a:t>) – 1 </a:t>
            </a:r>
            <a:r>
              <a:rPr lang="ml-IN" b="1" dirty="0"/>
              <a:t>ശമൂവേൽ 1:3</a:t>
            </a:r>
            <a:r>
              <a:rPr lang="ml-IN" dirty="0"/>
              <a:t/>
            </a:r>
            <a:br>
              <a:rPr lang="ml-IN" dirty="0"/>
            </a:br>
            <a:r>
              <a:rPr lang="ml-IN" dirty="0"/>
              <a:t>സൈന്യങ്ങളുടെ യഹോവ (</a:t>
            </a:r>
            <a:r>
              <a:rPr lang="en-IN" dirty="0"/>
              <a:t>The LORD of Hosts</a:t>
            </a:r>
            <a:r>
              <a:rPr lang="en-IN" dirty="0" smtClean="0"/>
              <a:t>)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604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455" y="63375"/>
            <a:ext cx="9841116" cy="6794625"/>
          </a:xfrm>
        </p:spPr>
        <p:txBody>
          <a:bodyPr>
            <a:normAutofit fontScale="92500" lnSpcReduction="10000"/>
          </a:bodyPr>
          <a:lstStyle/>
          <a:p>
            <a:r>
              <a:rPr lang="ml-IN" b="1" dirty="0" smtClean="0"/>
              <a:t>യഹോവ </a:t>
            </a:r>
            <a:r>
              <a:rPr lang="ml-IN" b="1" dirty="0"/>
              <a:t>– എലോഹീം</a:t>
            </a:r>
            <a:r>
              <a:rPr lang="ml-IN" dirty="0"/>
              <a:t> </a:t>
            </a:r>
            <a:r>
              <a:rPr lang="ml-IN" i="1" dirty="0"/>
              <a:t>(</a:t>
            </a:r>
            <a:r>
              <a:rPr lang="en-IN" i="1" dirty="0"/>
              <a:t>Yahweh - Elohim, </a:t>
            </a:r>
            <a:r>
              <a:rPr lang="ml-IN" i="1" dirty="0"/>
              <a:t>ഉല്പത്തി 2:4)</a:t>
            </a:r>
            <a:r>
              <a:rPr lang="ml-IN" dirty="0"/>
              <a:t/>
            </a:r>
            <a:br>
              <a:rPr lang="ml-IN" dirty="0"/>
            </a:br>
            <a:r>
              <a:rPr lang="ml-IN" dirty="0" smtClean="0"/>
              <a:t>ദൈവമായ </a:t>
            </a:r>
            <a:r>
              <a:rPr lang="ml-IN" dirty="0"/>
              <a:t>യഹോവ</a:t>
            </a:r>
          </a:p>
          <a:p>
            <a:r>
              <a:rPr lang="ml-IN" b="1" dirty="0"/>
              <a:t>അദോനായ് – യഹോവ</a:t>
            </a:r>
            <a:r>
              <a:rPr lang="ml-IN" dirty="0"/>
              <a:t> </a:t>
            </a:r>
            <a:r>
              <a:rPr lang="ml-IN" i="1" dirty="0"/>
              <a:t>(</a:t>
            </a:r>
            <a:r>
              <a:rPr lang="en-IN" i="1" dirty="0" err="1"/>
              <a:t>Adonai</a:t>
            </a:r>
            <a:r>
              <a:rPr lang="en-IN" i="1" dirty="0"/>
              <a:t> – Yahweh, </a:t>
            </a:r>
            <a:r>
              <a:rPr lang="ml-IN" i="1" dirty="0"/>
              <a:t>ഉല്പത്തി 15:2,8)</a:t>
            </a:r>
            <a:r>
              <a:rPr lang="ml-IN" dirty="0"/>
              <a:t/>
            </a:r>
            <a:br>
              <a:rPr lang="ml-IN" dirty="0"/>
            </a:br>
            <a:r>
              <a:rPr lang="ml-IN" dirty="0" smtClean="0"/>
              <a:t>കർത്താവായ </a:t>
            </a:r>
            <a:r>
              <a:rPr lang="ml-IN" dirty="0"/>
              <a:t>യഹോവ</a:t>
            </a:r>
          </a:p>
          <a:p>
            <a:r>
              <a:rPr lang="ml-IN" b="1" dirty="0"/>
              <a:t>യഹോവ – മെഖാദെഷം</a:t>
            </a:r>
            <a:r>
              <a:rPr lang="ml-IN" dirty="0"/>
              <a:t> </a:t>
            </a:r>
            <a:r>
              <a:rPr lang="ml-IN" i="1" dirty="0"/>
              <a:t>(</a:t>
            </a:r>
            <a:r>
              <a:rPr lang="en-IN" i="1" dirty="0"/>
              <a:t>Yahweh – </a:t>
            </a:r>
            <a:r>
              <a:rPr lang="en-IN" i="1" dirty="0" err="1"/>
              <a:t>Mechadesham</a:t>
            </a:r>
            <a:r>
              <a:rPr lang="en-IN" i="1" dirty="0"/>
              <a:t>, </a:t>
            </a:r>
            <a:r>
              <a:rPr lang="ml-IN" dirty="0" smtClean="0"/>
              <a:t>പുറപ്പാട്</a:t>
            </a:r>
            <a:r>
              <a:rPr lang="en-US" dirty="0" smtClean="0"/>
              <a:t>  </a:t>
            </a:r>
            <a:r>
              <a:rPr lang="ml-IN" i="1" dirty="0" smtClean="0"/>
              <a:t>31:13</a:t>
            </a:r>
            <a:r>
              <a:rPr lang="ml-IN" i="1" dirty="0"/>
              <a:t>)</a:t>
            </a:r>
            <a:r>
              <a:rPr lang="ml-IN" dirty="0"/>
              <a:t/>
            </a:r>
            <a:br>
              <a:rPr lang="ml-IN" dirty="0"/>
            </a:br>
            <a:r>
              <a:rPr lang="ml-IN" dirty="0" smtClean="0"/>
              <a:t>വിശുദ്ധീകരിക്കുന്ന </a:t>
            </a:r>
            <a:r>
              <a:rPr lang="ml-IN" dirty="0"/>
              <a:t>യഹോവ</a:t>
            </a:r>
          </a:p>
          <a:p>
            <a:r>
              <a:rPr lang="ml-IN" b="1" dirty="0"/>
              <a:t>യഹോവ – ഹോശെന്ന</a:t>
            </a:r>
            <a:r>
              <a:rPr lang="ml-IN" dirty="0"/>
              <a:t> </a:t>
            </a:r>
            <a:r>
              <a:rPr lang="ml-IN" i="1" dirty="0"/>
              <a:t>(</a:t>
            </a:r>
            <a:r>
              <a:rPr lang="en-IN" i="1" dirty="0"/>
              <a:t>Yahweh – </a:t>
            </a:r>
            <a:r>
              <a:rPr lang="en-IN" i="1" dirty="0" err="1"/>
              <a:t>Hossena</a:t>
            </a:r>
            <a:r>
              <a:rPr lang="en-IN" i="1" dirty="0"/>
              <a:t>, </a:t>
            </a:r>
            <a:r>
              <a:rPr lang="ml-IN" i="1" dirty="0"/>
              <a:t>സങ്കീർത്തനം 95:6)</a:t>
            </a:r>
            <a:r>
              <a:rPr lang="ml-IN" dirty="0"/>
              <a:t/>
            </a:r>
            <a:br>
              <a:rPr lang="ml-IN" dirty="0"/>
            </a:br>
            <a:r>
              <a:rPr lang="ml-IN" dirty="0" smtClean="0"/>
              <a:t>രക്ഷിക്കുന്ന </a:t>
            </a:r>
            <a:r>
              <a:rPr lang="ml-IN" dirty="0"/>
              <a:t>യഹോവ / ആരാധനയ്ക്ക് യോഗ്യൻ</a:t>
            </a:r>
          </a:p>
          <a:p>
            <a:r>
              <a:rPr lang="ml-IN" b="1" dirty="0"/>
              <a:t>യഹോവ – ഏല്യോൻ</a:t>
            </a:r>
            <a:r>
              <a:rPr lang="ml-IN" dirty="0"/>
              <a:t> </a:t>
            </a:r>
            <a:r>
              <a:rPr lang="ml-IN" i="1" dirty="0"/>
              <a:t>(</a:t>
            </a:r>
            <a:r>
              <a:rPr lang="en-IN" i="1" dirty="0"/>
              <a:t>Yahweh – </a:t>
            </a:r>
            <a:r>
              <a:rPr lang="en-IN" i="1" dirty="0" err="1"/>
              <a:t>Elyon</a:t>
            </a:r>
            <a:r>
              <a:rPr lang="en-IN" i="1" dirty="0"/>
              <a:t>, </a:t>
            </a:r>
            <a:r>
              <a:rPr lang="ml-IN" i="1" dirty="0"/>
              <a:t>സങ്കീർത്തനം 7:17)</a:t>
            </a:r>
            <a:r>
              <a:rPr lang="ml-IN" dirty="0"/>
              <a:t/>
            </a:r>
            <a:br>
              <a:rPr lang="ml-IN" dirty="0"/>
            </a:br>
            <a:r>
              <a:rPr lang="ml-IN" dirty="0" smtClean="0"/>
              <a:t>ഉന്നതനായ </a:t>
            </a:r>
            <a:r>
              <a:rPr lang="ml-IN" dirty="0"/>
              <a:t>യഹോവ</a:t>
            </a:r>
          </a:p>
          <a:p>
            <a:r>
              <a:rPr lang="ml-IN" b="1" dirty="0"/>
              <a:t>യഹോവ – </a:t>
            </a:r>
            <a:r>
              <a:rPr lang="ml-IN" b="1" dirty="0" smtClean="0"/>
              <a:t>യാ</a:t>
            </a:r>
            <a:r>
              <a:rPr lang="ml-IN" b="1" dirty="0"/>
              <a:t>ഹ്</a:t>
            </a:r>
            <a:r>
              <a:rPr lang="ml-IN" dirty="0" smtClean="0"/>
              <a:t> </a:t>
            </a:r>
            <a:r>
              <a:rPr lang="ml-IN" i="1" dirty="0"/>
              <a:t>(</a:t>
            </a:r>
            <a:r>
              <a:rPr lang="en-IN" i="1" dirty="0"/>
              <a:t>Yahweh – Yah, </a:t>
            </a:r>
            <a:r>
              <a:rPr lang="ml-IN" i="1" dirty="0"/>
              <a:t>സങ്കീർത്തനം 18:46)</a:t>
            </a:r>
            <a:r>
              <a:rPr lang="ml-IN" dirty="0"/>
              <a:t/>
            </a:r>
            <a:br>
              <a:rPr lang="ml-IN" dirty="0"/>
            </a:br>
            <a:r>
              <a:rPr lang="ml-IN" dirty="0" smtClean="0"/>
              <a:t>“ജീവിക്കുന്ന </a:t>
            </a:r>
            <a:r>
              <a:rPr lang="ml-IN" dirty="0"/>
              <a:t>യഹോവ</a:t>
            </a:r>
            <a:r>
              <a:rPr lang="ml-IN" dirty="0" smtClean="0"/>
              <a:t>”</a:t>
            </a:r>
            <a:endParaRPr lang="ml-IN" dirty="0"/>
          </a:p>
          <a:p>
            <a:r>
              <a:rPr lang="ml-IN" b="1" dirty="0"/>
              <a:t>യഹോവ – നക്കാ</a:t>
            </a:r>
            <a:r>
              <a:rPr lang="ml-IN" dirty="0"/>
              <a:t> </a:t>
            </a:r>
            <a:r>
              <a:rPr lang="ml-IN" i="1" dirty="0"/>
              <a:t>(</a:t>
            </a:r>
            <a:r>
              <a:rPr lang="en-IN" i="1" dirty="0"/>
              <a:t>Yahweh – </a:t>
            </a:r>
            <a:r>
              <a:rPr lang="en-IN" i="1" dirty="0" err="1"/>
              <a:t>Nakka</a:t>
            </a:r>
            <a:r>
              <a:rPr lang="en-IN" i="1" dirty="0"/>
              <a:t>, </a:t>
            </a:r>
            <a:r>
              <a:rPr lang="ml-IN" i="1" dirty="0"/>
              <a:t>യേശയ്യാ 58:11)</a:t>
            </a:r>
            <a:r>
              <a:rPr lang="ml-IN" dirty="0"/>
              <a:t/>
            </a:r>
            <a:br>
              <a:rPr lang="ml-IN" dirty="0"/>
            </a:br>
            <a:r>
              <a:rPr lang="en-US" dirty="0" smtClean="0"/>
              <a:t> </a:t>
            </a:r>
            <a:r>
              <a:rPr lang="ml-IN" dirty="0" smtClean="0"/>
              <a:t>നയിക്കുന്ന </a:t>
            </a:r>
            <a:r>
              <a:rPr lang="ml-IN" dirty="0"/>
              <a:t>യഹോവ</a:t>
            </a:r>
          </a:p>
          <a:p>
            <a:r>
              <a:rPr lang="ml-IN" b="1" dirty="0"/>
              <a:t>യഹോവ – ഗാമുലാ</a:t>
            </a:r>
            <a:r>
              <a:rPr lang="ml-IN" dirty="0"/>
              <a:t> </a:t>
            </a:r>
            <a:r>
              <a:rPr lang="ml-IN" i="1" dirty="0"/>
              <a:t>(</a:t>
            </a:r>
            <a:r>
              <a:rPr lang="en-IN" i="1" dirty="0"/>
              <a:t>Yahweh – </a:t>
            </a:r>
            <a:r>
              <a:rPr lang="en-IN" i="1" dirty="0" err="1"/>
              <a:t>Gamula</a:t>
            </a:r>
            <a:r>
              <a:rPr lang="en-IN" i="1" dirty="0"/>
              <a:t>, </a:t>
            </a:r>
            <a:r>
              <a:rPr lang="ml-IN" i="1" dirty="0"/>
              <a:t>യിരെമ്യാവ് 51:56)</a:t>
            </a:r>
            <a:r>
              <a:rPr lang="ml-IN" dirty="0"/>
              <a:t/>
            </a:r>
            <a:br>
              <a:rPr lang="ml-IN" dirty="0"/>
            </a:br>
            <a:r>
              <a:rPr lang="ml-IN" dirty="0" smtClean="0"/>
              <a:t>പ്രതിഫലം </a:t>
            </a:r>
            <a:r>
              <a:rPr lang="ml-IN" dirty="0"/>
              <a:t>കൊടുക്കുന്ന യഹോവ / പ്രതികാരം ചെയ്യുന്നവൻ</a:t>
            </a:r>
          </a:p>
          <a:p>
            <a:r>
              <a:rPr lang="ml-IN" b="1" dirty="0"/>
              <a:t>യഹോവ – യെലോവേക്കാ</a:t>
            </a:r>
            <a:r>
              <a:rPr lang="ml-IN" dirty="0"/>
              <a:t> </a:t>
            </a:r>
            <a:r>
              <a:rPr lang="ml-IN" i="1" dirty="0"/>
              <a:t>(</a:t>
            </a:r>
            <a:r>
              <a:rPr lang="en-IN" i="1" dirty="0"/>
              <a:t>Yahweh – </a:t>
            </a:r>
            <a:r>
              <a:rPr lang="en-IN" i="1" dirty="0" err="1"/>
              <a:t>Yelovekka</a:t>
            </a:r>
            <a:r>
              <a:rPr lang="en-IN" i="1" dirty="0"/>
              <a:t>, </a:t>
            </a:r>
            <a:r>
              <a:rPr lang="ml-IN" dirty="0"/>
              <a:t>പുറപ്പാട്</a:t>
            </a:r>
            <a:r>
              <a:rPr lang="ml-IN" i="1" dirty="0" smtClean="0"/>
              <a:t> </a:t>
            </a:r>
            <a:r>
              <a:rPr lang="ml-IN" i="1" dirty="0"/>
              <a:t>20:2,3)</a:t>
            </a:r>
            <a:r>
              <a:rPr lang="ml-IN" dirty="0"/>
              <a:t/>
            </a:r>
            <a:br>
              <a:rPr lang="ml-IN" dirty="0"/>
            </a:br>
            <a:r>
              <a:rPr lang="en-IN" dirty="0" smtClean="0"/>
              <a:t>“</a:t>
            </a:r>
            <a:r>
              <a:rPr lang="ml-IN" dirty="0"/>
              <a:t>നിന്റെ ദൈവമായ യഹോവ”</a:t>
            </a:r>
          </a:p>
          <a:p>
            <a:r>
              <a:rPr lang="ml-IN" b="1" dirty="0"/>
              <a:t>യഹോവ – എലോഹീം – യിസ്രായേൽ</a:t>
            </a:r>
            <a:r>
              <a:rPr lang="ml-IN" dirty="0"/>
              <a:t/>
            </a:r>
            <a:br>
              <a:rPr lang="ml-IN" dirty="0"/>
            </a:br>
            <a:r>
              <a:rPr lang="ml-IN" dirty="0" smtClean="0"/>
              <a:t>യിസ്രായേലിന്റെ </a:t>
            </a:r>
            <a:r>
              <a:rPr lang="ml-IN" dirty="0"/>
              <a:t>ദൈവമായ യഹോവ</a:t>
            </a:r>
          </a:p>
        </p:txBody>
      </p:sp>
    </p:spTree>
    <p:extLst>
      <p:ext uri="{BB962C8B-B14F-4D97-AF65-F5344CB8AC3E}">
        <p14:creationId xmlns:p14="http://schemas.microsoft.com/office/powerpoint/2010/main" val="56308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240" y="977777"/>
            <a:ext cx="11126708" cy="5225357"/>
          </a:xfrm>
        </p:spPr>
        <p:txBody>
          <a:bodyPr>
            <a:normAutofit/>
          </a:bodyPr>
          <a:lstStyle/>
          <a:p>
            <a:r>
              <a:rPr lang="ml-IN" dirty="0"/>
              <a:t>യഹോവ – കദോഷ് (</a:t>
            </a:r>
            <a:r>
              <a:rPr lang="en-IN" dirty="0"/>
              <a:t>Yahweh – </a:t>
            </a:r>
            <a:r>
              <a:rPr lang="en-IN" dirty="0" err="1"/>
              <a:t>Kadosh</a:t>
            </a:r>
            <a:r>
              <a:rPr lang="en-IN" dirty="0"/>
              <a:t>, </a:t>
            </a:r>
            <a:r>
              <a:rPr lang="ml-IN" dirty="0"/>
              <a:t>യെശയ്യാ 6:3)</a:t>
            </a:r>
            <a:br>
              <a:rPr lang="ml-IN" dirty="0"/>
            </a:br>
            <a:r>
              <a:rPr lang="ml-IN" dirty="0"/>
              <a:t>വിശുദ്ധനായ </a:t>
            </a:r>
            <a:r>
              <a:rPr lang="ml-IN" dirty="0" smtClean="0"/>
              <a:t>യഹോവ</a:t>
            </a:r>
            <a:endParaRPr lang="en-US" dirty="0" smtClean="0"/>
          </a:p>
          <a:p>
            <a:r>
              <a:rPr lang="ml-IN" dirty="0" smtClean="0"/>
              <a:t>യഹോവ </a:t>
            </a:r>
            <a:r>
              <a:rPr lang="ml-IN" dirty="0"/>
              <a:t>– അബിർ (</a:t>
            </a:r>
            <a:r>
              <a:rPr lang="en-IN" dirty="0"/>
              <a:t>Yahweh – </a:t>
            </a:r>
            <a:r>
              <a:rPr lang="en-IN" dirty="0" err="1"/>
              <a:t>Abhir</a:t>
            </a:r>
            <a:r>
              <a:rPr lang="en-IN" dirty="0"/>
              <a:t>, </a:t>
            </a:r>
            <a:r>
              <a:rPr lang="ml-IN" dirty="0"/>
              <a:t>ഉല്പത്തി</a:t>
            </a:r>
            <a:r>
              <a:rPr lang="ml-IN" i="1" dirty="0"/>
              <a:t> </a:t>
            </a:r>
            <a:r>
              <a:rPr lang="ml-IN" dirty="0" smtClean="0"/>
              <a:t>49:24</a:t>
            </a:r>
            <a:r>
              <a:rPr lang="ml-IN" dirty="0"/>
              <a:t>)</a:t>
            </a:r>
            <a:br>
              <a:rPr lang="ml-IN" dirty="0"/>
            </a:br>
            <a:r>
              <a:rPr lang="ml-IN" dirty="0"/>
              <a:t>ശക്തനായ യഹോവ</a:t>
            </a:r>
          </a:p>
          <a:p>
            <a:r>
              <a:rPr lang="ml-IN" dirty="0" smtClean="0"/>
              <a:t>യഹോവ </a:t>
            </a:r>
            <a:r>
              <a:rPr lang="ml-IN" dirty="0"/>
              <a:t>– ഗിബ്ബോർ (</a:t>
            </a:r>
            <a:r>
              <a:rPr lang="en-IN" dirty="0"/>
              <a:t>Yahweh – </a:t>
            </a:r>
            <a:r>
              <a:rPr lang="en-IN" dirty="0" err="1"/>
              <a:t>Gibbor</a:t>
            </a:r>
            <a:r>
              <a:rPr lang="en-IN" dirty="0"/>
              <a:t>, </a:t>
            </a:r>
            <a:r>
              <a:rPr lang="ml-IN" dirty="0"/>
              <a:t>യേശയ്യാ 9:6)</a:t>
            </a:r>
            <a:br>
              <a:rPr lang="ml-IN" dirty="0"/>
            </a:br>
            <a:r>
              <a:rPr lang="ml-IN" dirty="0"/>
              <a:t>വീരനായ </a:t>
            </a:r>
            <a:r>
              <a:rPr lang="ml-IN" dirty="0" smtClean="0"/>
              <a:t>യഹോവ</a:t>
            </a:r>
            <a:endParaRPr lang="en-US" dirty="0" smtClean="0"/>
          </a:p>
          <a:p>
            <a:r>
              <a:rPr lang="ml-IN" dirty="0" smtClean="0"/>
              <a:t>യഹോവ – സദ്ദീക് (</a:t>
            </a:r>
            <a:r>
              <a:rPr lang="en-IN" dirty="0" smtClean="0"/>
              <a:t>Yahweh – </a:t>
            </a:r>
            <a:r>
              <a:rPr lang="en-IN" dirty="0" err="1" smtClean="0"/>
              <a:t>Tsaddiq</a:t>
            </a:r>
            <a:r>
              <a:rPr lang="en-IN" dirty="0" smtClean="0"/>
              <a:t> / </a:t>
            </a:r>
            <a:r>
              <a:rPr lang="en-IN" dirty="0" err="1" smtClean="0"/>
              <a:t>Caddik</a:t>
            </a:r>
            <a:r>
              <a:rPr lang="en-IN" dirty="0" smtClean="0"/>
              <a:t>, </a:t>
            </a:r>
            <a:r>
              <a:rPr lang="ml-IN" dirty="0" smtClean="0"/>
              <a:t>സങ്കീർത്തനം 11:7)</a:t>
            </a:r>
            <a:r>
              <a:rPr lang="ml-IN" dirty="0"/>
              <a:t/>
            </a:r>
            <a:br>
              <a:rPr lang="ml-IN" dirty="0"/>
            </a:br>
            <a:r>
              <a:rPr lang="ml-IN" dirty="0"/>
              <a:t>നീതിമാനായ </a:t>
            </a:r>
            <a:r>
              <a:rPr lang="ml-IN" dirty="0" smtClean="0"/>
              <a:t>യഹോവ</a:t>
            </a:r>
            <a:endParaRPr lang="en-US" dirty="0" smtClean="0"/>
          </a:p>
          <a:p>
            <a:r>
              <a:rPr lang="ml-IN" dirty="0" smtClean="0"/>
              <a:t>യഹോവ – ട്സൂർ (</a:t>
            </a:r>
            <a:r>
              <a:rPr lang="en-IN" dirty="0" smtClean="0"/>
              <a:t>Yahweh -- </a:t>
            </a:r>
            <a:r>
              <a:rPr lang="en-IN" dirty="0" err="1" smtClean="0"/>
              <a:t>Tsur</a:t>
            </a:r>
            <a:r>
              <a:rPr lang="en-IN" dirty="0" smtClean="0"/>
              <a:t>, </a:t>
            </a:r>
            <a:r>
              <a:rPr lang="ml-IN" dirty="0" smtClean="0"/>
              <a:t>ആവർത്തനം</a:t>
            </a:r>
            <a:r>
              <a:rPr lang="en-IN" dirty="0" smtClean="0"/>
              <a:t> 32:4, </a:t>
            </a:r>
            <a:r>
              <a:rPr lang="ml-IN" dirty="0" smtClean="0"/>
              <a:t>സങ്കീർത്തനം</a:t>
            </a:r>
            <a:r>
              <a:rPr lang="en-IN" dirty="0" smtClean="0"/>
              <a:t> 18:2</a:t>
            </a:r>
            <a:r>
              <a:rPr lang="ml-IN" dirty="0" smtClean="0"/>
              <a:t>)</a:t>
            </a:r>
            <a:br>
              <a:rPr lang="ml-IN" dirty="0" smtClean="0"/>
            </a:br>
            <a:r>
              <a:rPr lang="ml-IN" dirty="0" smtClean="0"/>
              <a:t>യഹോവ എന്റെ പാറ</a:t>
            </a:r>
            <a:endParaRPr lang="en-US" dirty="0" smtClean="0"/>
          </a:p>
          <a:p>
            <a:r>
              <a:rPr lang="ml-IN" dirty="0" smtClean="0"/>
              <a:t>യഹോവ – </a:t>
            </a:r>
            <a:r>
              <a:rPr lang="ml-IN" dirty="0"/>
              <a:t>കന്ന</a:t>
            </a:r>
            <a:r>
              <a:rPr lang="en-US" dirty="0"/>
              <a:t> </a:t>
            </a:r>
            <a:r>
              <a:rPr lang="ml-IN" dirty="0" smtClean="0"/>
              <a:t>(</a:t>
            </a:r>
            <a:r>
              <a:rPr lang="en-IN" dirty="0"/>
              <a:t>Yahweh – </a:t>
            </a:r>
            <a:r>
              <a:rPr lang="en-IN" dirty="0" err="1"/>
              <a:t>Qanna</a:t>
            </a:r>
            <a:r>
              <a:rPr lang="en-IN" dirty="0"/>
              <a:t>, </a:t>
            </a:r>
            <a:r>
              <a:rPr lang="ml-IN" dirty="0"/>
              <a:t>പുറപ്പാട്</a:t>
            </a:r>
            <a:r>
              <a:rPr lang="ml-IN" i="1" dirty="0"/>
              <a:t> 20:</a:t>
            </a:r>
            <a:r>
              <a:rPr lang="en-US" i="1" dirty="0"/>
              <a:t>5</a:t>
            </a:r>
            <a:r>
              <a:rPr lang="ml-IN" dirty="0" smtClean="0"/>
              <a:t>)</a:t>
            </a:r>
            <a:br>
              <a:rPr lang="ml-IN" dirty="0" smtClean="0"/>
            </a:br>
            <a:r>
              <a:rPr lang="ml-IN" dirty="0" smtClean="0"/>
              <a:t>തിഷ്ക്ഷണനായ </a:t>
            </a:r>
            <a:r>
              <a:rPr lang="ml-IN" dirty="0"/>
              <a:t>യഹോവ</a:t>
            </a:r>
          </a:p>
        </p:txBody>
      </p:sp>
    </p:spTree>
    <p:extLst>
      <p:ext uri="{BB962C8B-B14F-4D97-AF65-F5344CB8AC3E}">
        <p14:creationId xmlns:p14="http://schemas.microsoft.com/office/powerpoint/2010/main" val="127854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915164" cy="1400530"/>
          </a:xfrm>
        </p:spPr>
        <p:txBody>
          <a:bodyPr/>
          <a:lstStyle/>
          <a:p>
            <a:pPr algn="ctr"/>
            <a:r>
              <a:rPr lang="en-US" sz="5400" b="1" dirty="0" smtClean="0"/>
              <a:t>ADONAI (</a:t>
            </a:r>
            <a:r>
              <a:rPr lang="ml-IN" sz="6000" b="1" dirty="0" smtClean="0"/>
              <a:t>അദോനായി</a:t>
            </a:r>
            <a:r>
              <a:rPr lang="en-US" sz="6000" b="1" dirty="0" smtClean="0"/>
              <a:t>)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Meaning</a:t>
            </a:r>
            <a:r>
              <a:rPr lang="en-US" dirty="0" smtClean="0"/>
              <a:t> / </a:t>
            </a:r>
            <a:r>
              <a:rPr lang="ml-IN" b="1" dirty="0" smtClean="0"/>
              <a:t>അര്‍ത്ഥം</a:t>
            </a:r>
            <a:endParaRPr lang="en-US" dirty="0" smtClean="0"/>
          </a:p>
          <a:p>
            <a:pPr lvl="1"/>
            <a:r>
              <a:rPr lang="ml-IN" b="1" dirty="0" smtClean="0"/>
              <a:t>“കർത്താവ്” </a:t>
            </a:r>
            <a:r>
              <a:rPr lang="ml-IN" b="1" dirty="0"/>
              <a:t>/ “പ്രഭു” </a:t>
            </a:r>
            <a:endParaRPr lang="ml-IN" dirty="0"/>
          </a:p>
          <a:p>
            <a:pPr lvl="1"/>
            <a:r>
              <a:rPr lang="en-IN" i="1" dirty="0" err="1"/>
              <a:t>Adon</a:t>
            </a:r>
            <a:r>
              <a:rPr lang="en-IN" dirty="0"/>
              <a:t> = “</a:t>
            </a:r>
            <a:r>
              <a:rPr lang="ml-IN" dirty="0"/>
              <a:t>യജമാനൻ, ഉടമ”</a:t>
            </a:r>
          </a:p>
          <a:p>
            <a:pPr lvl="1"/>
            <a:r>
              <a:rPr lang="en-IN" i="1" dirty="0" err="1"/>
              <a:t>Adonai</a:t>
            </a:r>
            <a:r>
              <a:rPr lang="en-IN" dirty="0"/>
              <a:t> = </a:t>
            </a:r>
            <a:r>
              <a:rPr lang="ml-IN" dirty="0"/>
              <a:t>ബഹുവചന ബഹുമാനരൂപം → </a:t>
            </a:r>
            <a:endParaRPr lang="en-US" dirty="0" smtClean="0"/>
          </a:p>
          <a:p>
            <a:pPr lvl="2"/>
            <a:r>
              <a:rPr lang="ml-IN" b="1" dirty="0" smtClean="0"/>
              <a:t>“</a:t>
            </a:r>
            <a:r>
              <a:rPr lang="ml-IN" b="1" dirty="0"/>
              <a:t>സർവ്വാധികാരി കർത്താവു</a:t>
            </a:r>
            <a:r>
              <a:rPr lang="ml-IN" b="1" dirty="0" smtClean="0"/>
              <a:t>”</a:t>
            </a:r>
            <a:r>
              <a:rPr lang="en-US" b="1" dirty="0" smtClean="0"/>
              <a:t>/</a:t>
            </a:r>
            <a:r>
              <a:rPr lang="ml-IN" b="1" dirty="0"/>
              <a:t> "എന്റെ </a:t>
            </a:r>
            <a:r>
              <a:rPr lang="ml-IN" b="1" dirty="0" smtClean="0"/>
              <a:t>യജമാനൻ“</a:t>
            </a:r>
            <a:endParaRPr lang="en-US" b="1" dirty="0" smtClean="0"/>
          </a:p>
          <a:p>
            <a:r>
              <a:rPr lang="ml-IN" sz="1600" b="1" dirty="0"/>
              <a:t>പ്രജ </a:t>
            </a:r>
            <a:r>
              <a:rPr lang="ml-IN" sz="1600" b="1" dirty="0" smtClean="0"/>
              <a:t>ചക്രവർത്തിയെ</a:t>
            </a:r>
            <a:r>
              <a:rPr lang="en-US" sz="1600" b="1" dirty="0" smtClean="0"/>
              <a:t> 1Samuel 24: 8 , </a:t>
            </a:r>
            <a:r>
              <a:rPr lang="en-US" sz="1600" b="1" dirty="0" err="1" smtClean="0"/>
              <a:t>Jer</a:t>
            </a:r>
            <a:r>
              <a:rPr lang="en-US" sz="1600" b="1" dirty="0" smtClean="0"/>
              <a:t> 22:18</a:t>
            </a:r>
          </a:p>
          <a:p>
            <a:r>
              <a:rPr lang="ml-IN" sz="1600" b="1" dirty="0" smtClean="0"/>
              <a:t>ഭാര്യ ഭർത്താവിനെ</a:t>
            </a:r>
            <a:r>
              <a:rPr lang="en-US" sz="1600" b="1" dirty="0" smtClean="0"/>
              <a:t> Gen 18:12, 1Pet 3:6</a:t>
            </a:r>
          </a:p>
          <a:p>
            <a:r>
              <a:rPr lang="ml-IN" sz="1600" b="1" dirty="0"/>
              <a:t>മക്കൾ </a:t>
            </a:r>
            <a:r>
              <a:rPr lang="ml-IN" sz="1600" b="1" dirty="0" smtClean="0"/>
              <a:t>പിതാവിനെ</a:t>
            </a:r>
            <a:r>
              <a:rPr lang="en-US" sz="1600" b="1" dirty="0" smtClean="0"/>
              <a:t> Gen 31:35</a:t>
            </a:r>
          </a:p>
          <a:p>
            <a:r>
              <a:rPr lang="ml-IN" sz="1600" b="1" dirty="0"/>
              <a:t>അടിമ </a:t>
            </a:r>
            <a:r>
              <a:rPr lang="ml-IN" sz="1600" b="1" dirty="0" smtClean="0"/>
              <a:t>യജമാനനെ</a:t>
            </a:r>
            <a:r>
              <a:rPr lang="en-US" sz="1600" b="1" dirty="0" smtClean="0"/>
              <a:t> Gen 24:12, </a:t>
            </a:r>
            <a:r>
              <a:rPr lang="en-US" sz="1600" b="1" dirty="0" err="1" smtClean="0"/>
              <a:t>Exo</a:t>
            </a:r>
            <a:r>
              <a:rPr lang="en-US" sz="1600" b="1" dirty="0" smtClean="0"/>
              <a:t> 21:5</a:t>
            </a:r>
          </a:p>
          <a:p>
            <a:r>
              <a:rPr lang="ml-IN" sz="1600" b="1" dirty="0"/>
              <a:t>സർവ്വ ഭൂമിയുടെയും കർത്താവായ യഹോവയാണ് </a:t>
            </a:r>
            <a:r>
              <a:rPr lang="ml-IN" sz="1600" b="1" dirty="0" smtClean="0"/>
              <a:t>അഡോണായി</a:t>
            </a:r>
            <a:endParaRPr lang="en-US" sz="1600" b="1" dirty="0" smtClean="0"/>
          </a:p>
          <a:p>
            <a:pPr lvl="1"/>
            <a:r>
              <a:rPr lang="en-US" sz="1400" b="1" dirty="0" smtClean="0"/>
              <a:t>Joshua 3:11,13 ; Psalms 97:5; Exodus 23:17; Isaiah 1:24</a:t>
            </a:r>
            <a:endParaRPr lang="ml-IN" sz="1400" b="1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85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8000" b="1" dirty="0" smtClean="0"/>
              <a:t>NT</a:t>
            </a:r>
            <a:r>
              <a:rPr lang="en-US" sz="4800" b="1" dirty="0" smtClean="0"/>
              <a:t> NAMES</a:t>
            </a:r>
            <a:endParaRPr lang="en-IN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THEOS          </a:t>
            </a:r>
            <a:r>
              <a:rPr lang="ml-IN" sz="3200" b="1" dirty="0" smtClean="0"/>
              <a:t>ദൈവം</a:t>
            </a:r>
            <a:endParaRPr lang="en-US" sz="3200" b="1" dirty="0" smtClean="0"/>
          </a:p>
          <a:p>
            <a:r>
              <a:rPr lang="en-US" sz="3200" b="1" dirty="0" smtClean="0"/>
              <a:t>KURIOS</a:t>
            </a:r>
            <a:r>
              <a:rPr lang="ml-IN" sz="3200" b="1" dirty="0"/>
              <a:t> </a:t>
            </a:r>
            <a:r>
              <a:rPr lang="en-US" sz="3200" b="1" dirty="0" smtClean="0"/>
              <a:t>       </a:t>
            </a:r>
            <a:r>
              <a:rPr lang="ml-IN" sz="3200" b="1" dirty="0" smtClean="0"/>
              <a:t>കർത്താവ്</a:t>
            </a:r>
            <a:endParaRPr lang="en-US" sz="3200" b="1" dirty="0" smtClean="0"/>
          </a:p>
          <a:p>
            <a:r>
              <a:rPr lang="en-US" sz="3200" b="1" dirty="0" smtClean="0"/>
              <a:t>DESPOTS      </a:t>
            </a:r>
            <a:r>
              <a:rPr lang="ml-IN" sz="3200" b="1" dirty="0" smtClean="0"/>
              <a:t>നാഥൻ</a:t>
            </a:r>
            <a:endParaRPr lang="en-US" sz="3200" b="1" dirty="0" smtClean="0"/>
          </a:p>
          <a:p>
            <a:r>
              <a:rPr lang="en-US" sz="3200" b="1" dirty="0" smtClean="0"/>
              <a:t>PATTER</a:t>
            </a:r>
            <a:r>
              <a:rPr lang="ml-IN" sz="3200" b="1" dirty="0"/>
              <a:t> </a:t>
            </a:r>
            <a:r>
              <a:rPr lang="en-US" sz="3200" b="1" dirty="0" smtClean="0"/>
              <a:t>        </a:t>
            </a:r>
            <a:r>
              <a:rPr lang="ml-IN" sz="3200" b="1" dirty="0" smtClean="0"/>
              <a:t>പിതാവ്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59377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4273990"/>
          </a:xfrm>
        </p:spPr>
        <p:txBody>
          <a:bodyPr/>
          <a:lstStyle/>
          <a:p>
            <a:pPr algn="ctr"/>
            <a:r>
              <a:rPr lang="en-US" sz="6600" b="1" dirty="0" smtClean="0"/>
              <a:t/>
            </a:r>
            <a:br>
              <a:rPr lang="en-US" sz="6600" b="1" dirty="0" smtClean="0"/>
            </a:br>
            <a:r>
              <a:rPr lang="en-US" sz="6600" b="1" dirty="0"/>
              <a:t>Chapter </a:t>
            </a:r>
            <a:r>
              <a:rPr lang="en-US" sz="6600" b="1" dirty="0" smtClean="0"/>
              <a:t>5</a:t>
            </a:r>
            <a:br>
              <a:rPr lang="en-US" sz="6600" b="1" dirty="0" smtClean="0"/>
            </a:br>
            <a:r>
              <a:rPr lang="en-IN" sz="6600" dirty="0"/>
              <a:t/>
            </a:r>
            <a:br>
              <a:rPr lang="en-IN" sz="6600" dirty="0"/>
            </a:br>
            <a:r>
              <a:rPr lang="en-US" sz="6600" b="1" dirty="0" smtClean="0"/>
              <a:t>THE </a:t>
            </a:r>
            <a:r>
              <a:rPr lang="en-US" sz="6600" b="1" dirty="0"/>
              <a:t>WORKS OF </a:t>
            </a:r>
            <a:r>
              <a:rPr lang="en-US" sz="6600" b="1" dirty="0" smtClean="0"/>
              <a:t>GOD</a:t>
            </a:r>
            <a:br>
              <a:rPr lang="en-US" sz="6600" b="1" dirty="0" smtClean="0"/>
            </a:br>
            <a:r>
              <a:rPr lang="ml-IN" sz="6600" b="1" dirty="0"/>
              <a:t>ദൈവത്തിന്റെ പ്രവർത്തനങ്ങൾ</a:t>
            </a:r>
            <a:endParaRPr lang="en-IN" sz="6600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99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dirty="0" smtClean="0"/>
              <a:t>THE WORKS OF GOD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1 . The Decrees of God    (</a:t>
            </a:r>
            <a:r>
              <a:rPr lang="ml-IN" b="1" dirty="0"/>
              <a:t>ദൈവത്തിന്റെ </a:t>
            </a:r>
            <a:r>
              <a:rPr lang="ml-IN" b="1" dirty="0" smtClean="0"/>
              <a:t>നിർണ്ണയങ്ങൾ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smtClean="0"/>
              <a:t>ETSAH -- JOB 38:2; ISAIAH 14:26; 46:11</a:t>
            </a:r>
          </a:p>
          <a:p>
            <a:pPr lvl="1"/>
            <a:r>
              <a:rPr lang="en-US" b="1" dirty="0" smtClean="0"/>
              <a:t>SOD – JEREMIAH 23:18,22</a:t>
            </a:r>
          </a:p>
          <a:p>
            <a:pPr lvl="1"/>
            <a:r>
              <a:rPr lang="en-US" b="1" dirty="0" smtClean="0"/>
              <a:t>MEZIMMAH – JER 4:28, 51:12 </a:t>
            </a:r>
          </a:p>
          <a:p>
            <a:r>
              <a:rPr lang="en-US" b="1" dirty="0" smtClean="0"/>
              <a:t>The Excellences Of Decrees Of God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				(</a:t>
            </a:r>
            <a:r>
              <a:rPr lang="ml-IN" b="1" dirty="0"/>
              <a:t>ദൈവത്തിന്റെ </a:t>
            </a:r>
            <a:r>
              <a:rPr lang="ml-IN" b="1" dirty="0" smtClean="0"/>
              <a:t>നിർണ്ണയങ്ങളുടെ</a:t>
            </a:r>
            <a:r>
              <a:rPr lang="en-US" b="1" dirty="0" smtClean="0"/>
              <a:t> </a:t>
            </a:r>
            <a:r>
              <a:rPr lang="ml-IN" b="1" dirty="0"/>
              <a:t>ശ്രേഷ്ഠത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smtClean="0"/>
              <a:t>Invisible                </a:t>
            </a:r>
            <a:r>
              <a:rPr lang="ml-IN" b="1" dirty="0" smtClean="0"/>
              <a:t>അദൃശ്യം</a:t>
            </a:r>
            <a:endParaRPr lang="en-US" b="1" dirty="0" smtClean="0"/>
          </a:p>
          <a:p>
            <a:pPr lvl="1"/>
            <a:r>
              <a:rPr lang="en-US" b="1" dirty="0" smtClean="0"/>
              <a:t>Divine Wisdom    </a:t>
            </a:r>
            <a:r>
              <a:rPr lang="ml-IN" b="1" dirty="0" smtClean="0"/>
              <a:t>ദൈവിക </a:t>
            </a:r>
            <a:r>
              <a:rPr lang="ml-IN" b="1" dirty="0"/>
              <a:t>ജ്ഞാനം</a:t>
            </a:r>
            <a:endParaRPr lang="en-US" b="1" dirty="0" smtClean="0"/>
          </a:p>
          <a:p>
            <a:pPr lvl="1"/>
            <a:r>
              <a:rPr lang="en-US" b="1" dirty="0" smtClean="0"/>
              <a:t>Eternal</a:t>
            </a:r>
            <a:r>
              <a:rPr lang="en-US" b="1" dirty="0"/>
              <a:t> </a:t>
            </a:r>
            <a:r>
              <a:rPr lang="en-US" b="1" dirty="0" smtClean="0"/>
              <a:t>                 </a:t>
            </a:r>
            <a:r>
              <a:rPr lang="ml-IN" b="1" dirty="0" smtClean="0"/>
              <a:t>നിത്യമായ</a:t>
            </a:r>
            <a:endParaRPr lang="en-US" b="1" dirty="0" smtClean="0"/>
          </a:p>
          <a:p>
            <a:pPr lvl="1"/>
            <a:r>
              <a:rPr lang="en-US" b="1" dirty="0" smtClean="0"/>
              <a:t>Universal              </a:t>
            </a:r>
            <a:r>
              <a:rPr lang="ml-IN" b="1" smtClean="0"/>
              <a:t>സാർവ്വത്രികം</a:t>
            </a:r>
            <a:endParaRPr lang="en-US" b="1" dirty="0" smtClean="0"/>
          </a:p>
          <a:p>
            <a:pPr lvl="1"/>
            <a:r>
              <a:rPr lang="en-US" b="1" dirty="0" smtClean="0"/>
              <a:t>Unchangeable   </a:t>
            </a:r>
            <a:r>
              <a:rPr lang="ml-IN" b="1" dirty="0" smtClean="0"/>
              <a:t>മാറ്റമില്ലാത്തത് </a:t>
            </a:r>
            <a:endParaRPr lang="en-US" b="1" dirty="0" smtClean="0"/>
          </a:p>
          <a:p>
            <a:pPr lvl="1"/>
            <a:r>
              <a:rPr lang="en-US" b="1" dirty="0" smtClean="0"/>
              <a:t>Perfect                 </a:t>
            </a:r>
            <a:r>
              <a:rPr lang="ml-IN" b="1" dirty="0" smtClean="0"/>
              <a:t>പരിപൂർണ്ണം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32360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sz="4800" b="1" dirty="0" smtClean="0"/>
              <a:t>ദൈവത്തിന്റെ </a:t>
            </a:r>
            <a:r>
              <a:rPr lang="ml-IN" sz="4800" b="1" dirty="0"/>
              <a:t>സൃഷ്ടി</a:t>
            </a:r>
            <a:endParaRPr lang="en-IN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2 . The </a:t>
            </a:r>
            <a:r>
              <a:rPr lang="en-US" sz="3600" b="1" dirty="0"/>
              <a:t>Creation of God</a:t>
            </a:r>
          </a:p>
          <a:p>
            <a:pPr lvl="1"/>
            <a:r>
              <a:rPr lang="en-US" sz="3200" b="1" dirty="0"/>
              <a:t>BARA </a:t>
            </a:r>
            <a:r>
              <a:rPr lang="en-US" sz="3200" b="1" dirty="0" smtClean="0"/>
              <a:t>– </a:t>
            </a:r>
            <a:r>
              <a:rPr lang="ml-IN" sz="3200" b="1" dirty="0" smtClean="0"/>
              <a:t>സൃഷ്ടിച്ചു</a:t>
            </a:r>
            <a:r>
              <a:rPr lang="en-US" sz="3200" b="1" dirty="0" smtClean="0"/>
              <a:t> – </a:t>
            </a:r>
            <a:r>
              <a:rPr lang="en-US" sz="3200" b="1" dirty="0"/>
              <a:t>Out Of Nothing He </a:t>
            </a:r>
            <a:r>
              <a:rPr lang="en-US" sz="3200" b="1" dirty="0" smtClean="0"/>
              <a:t>created </a:t>
            </a:r>
            <a:endParaRPr lang="en-US" sz="3200" b="1" dirty="0"/>
          </a:p>
          <a:p>
            <a:pPr lvl="1"/>
            <a:r>
              <a:rPr lang="en-US" sz="3200" b="1" dirty="0" smtClean="0"/>
              <a:t>ASAH – </a:t>
            </a:r>
            <a:r>
              <a:rPr lang="ml-IN" sz="3200" b="1" dirty="0" smtClean="0"/>
              <a:t>ഉണ്ടാക്കി</a:t>
            </a:r>
            <a:r>
              <a:rPr lang="en-US" sz="3200" b="1" dirty="0" smtClean="0"/>
              <a:t>  </a:t>
            </a:r>
            <a:r>
              <a:rPr lang="en-US" sz="3200" b="1" dirty="0"/>
              <a:t>– made</a:t>
            </a:r>
          </a:p>
          <a:p>
            <a:pPr lvl="1"/>
            <a:r>
              <a:rPr lang="en-US" sz="3200" b="1" dirty="0"/>
              <a:t>YATZAR </a:t>
            </a:r>
            <a:r>
              <a:rPr lang="en-US" sz="3200" b="1" dirty="0" smtClean="0"/>
              <a:t>– </a:t>
            </a:r>
            <a:r>
              <a:rPr lang="ml-IN" sz="3200" b="1" dirty="0" smtClean="0"/>
              <a:t>രൂപം</a:t>
            </a:r>
            <a:r>
              <a:rPr lang="en-US" sz="3200" b="1" dirty="0" smtClean="0"/>
              <a:t> </a:t>
            </a:r>
            <a:r>
              <a:rPr lang="ml-IN" sz="3200" b="1" dirty="0" smtClean="0"/>
              <a:t>കൊടുക്കുക</a:t>
            </a:r>
            <a:r>
              <a:rPr lang="en-US" sz="3200" b="1" dirty="0" smtClean="0"/>
              <a:t> – Formed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40922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en-US" sz="3600" b="1" dirty="0"/>
              <a:t>The </a:t>
            </a:r>
            <a:r>
              <a:rPr lang="en-US" sz="3600" b="1" dirty="0" smtClean="0"/>
              <a:t>Preservation – </a:t>
            </a:r>
            <a:r>
              <a:rPr lang="ml-IN" sz="3600" b="1" dirty="0" smtClean="0"/>
              <a:t>സംരക്ഷണം</a:t>
            </a:r>
            <a:endParaRPr lang="en-US" sz="3600" b="1" dirty="0" smtClean="0"/>
          </a:p>
          <a:p>
            <a:pPr marL="1143000" lvl="1" indent="-742950"/>
            <a:r>
              <a:rPr lang="en-US" sz="3400" b="1" dirty="0" smtClean="0"/>
              <a:t>Nehemiah 9:6, Psalm 36:6 </a:t>
            </a:r>
            <a:endParaRPr lang="en-US" sz="3400" b="1" dirty="0"/>
          </a:p>
          <a:p>
            <a:pPr marL="742950" indent="-742950">
              <a:buFont typeface="+mj-lt"/>
              <a:buAutoNum type="arabicPeriod" startAt="3"/>
            </a:pPr>
            <a:r>
              <a:rPr lang="en-US" sz="3600" b="1" dirty="0"/>
              <a:t>The </a:t>
            </a:r>
            <a:r>
              <a:rPr lang="en-US" sz="3600" b="1" dirty="0" smtClean="0"/>
              <a:t>Providence – </a:t>
            </a:r>
            <a:r>
              <a:rPr lang="ml-IN" sz="3600" b="1" dirty="0" smtClean="0"/>
              <a:t>പരിപാലനം</a:t>
            </a:r>
            <a:endParaRPr lang="en-US" sz="3600" b="1" dirty="0"/>
          </a:p>
          <a:p>
            <a:pPr marL="1143000" lvl="1" indent="-742950"/>
            <a:r>
              <a:rPr lang="en-US" sz="3400" b="1" dirty="0" smtClean="0"/>
              <a:t>1Samuel 7:10, Job 9:5-8</a:t>
            </a:r>
            <a:endParaRPr lang="en-US" sz="3400" b="1" dirty="0"/>
          </a:p>
          <a:p>
            <a:pPr marL="742950" indent="-742950">
              <a:buFont typeface="+mj-lt"/>
              <a:buAutoNum type="arabicPeriod" startAt="3"/>
            </a:pPr>
            <a:r>
              <a:rPr lang="en-US" sz="3600" b="1" dirty="0"/>
              <a:t>The </a:t>
            </a:r>
            <a:r>
              <a:rPr lang="en-US" sz="3600" b="1" dirty="0" smtClean="0"/>
              <a:t>Redemption – </a:t>
            </a:r>
            <a:r>
              <a:rPr lang="ml-IN" sz="3600" b="1" dirty="0" smtClean="0"/>
              <a:t>വീണ്ടെടുപ്പ്</a:t>
            </a:r>
            <a:r>
              <a:rPr lang="en-US" sz="3600" b="1" dirty="0" smtClean="0"/>
              <a:t> </a:t>
            </a:r>
            <a:endParaRPr lang="en-US" sz="3600" b="1" dirty="0"/>
          </a:p>
          <a:p>
            <a:pPr marL="742950" indent="-742950">
              <a:buFont typeface="+mj-lt"/>
              <a:buAutoNum type="arabicPeriod" startAt="3"/>
            </a:pPr>
            <a:r>
              <a:rPr lang="en-US" sz="3600" b="1" dirty="0"/>
              <a:t>The New </a:t>
            </a:r>
            <a:r>
              <a:rPr lang="en-US" sz="3600" b="1" dirty="0" smtClean="0"/>
              <a:t>Age – </a:t>
            </a:r>
            <a:r>
              <a:rPr lang="ml-IN" sz="3600" b="1" dirty="0" smtClean="0"/>
              <a:t>നവയുഗം</a:t>
            </a:r>
            <a:r>
              <a:rPr lang="en-US" sz="3600" b="1" dirty="0" smtClean="0"/>
              <a:t> 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7504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600" b="1" dirty="0" smtClean="0"/>
              <a:t>THE TRIUNE GOD</a:t>
            </a:r>
            <a:endParaRPr lang="en-IN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/>
              <a:t>The Old Testament Revelation</a:t>
            </a:r>
          </a:p>
          <a:p>
            <a:r>
              <a:rPr lang="en-US" sz="4000" b="1" dirty="0" smtClean="0"/>
              <a:t>The New Testament Revelation</a:t>
            </a:r>
          </a:p>
          <a:p>
            <a:r>
              <a:rPr lang="en-US" sz="4000" b="1" dirty="0" smtClean="0"/>
              <a:t>The History Of Trinity</a:t>
            </a:r>
          </a:p>
          <a:p>
            <a:r>
              <a:rPr lang="en-US" sz="4000" b="1" dirty="0" smtClean="0"/>
              <a:t>Some False Teaching About Trinity</a:t>
            </a:r>
          </a:p>
          <a:p>
            <a:r>
              <a:rPr lang="en-US" sz="4000" b="1" dirty="0" smtClean="0"/>
              <a:t>Teaching Of Trinity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8171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Acts of The Apostles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Chapter 3</a:t>
            </a:r>
          </a:p>
          <a:p>
            <a:r>
              <a:rPr lang="en-US" dirty="0" smtClean="0"/>
              <a:t>Jesus The Healer</a:t>
            </a:r>
          </a:p>
          <a:p>
            <a:r>
              <a:rPr lang="en-US" dirty="0" smtClean="0"/>
              <a:t>Jesus The Son Of God</a:t>
            </a:r>
          </a:p>
          <a:p>
            <a:r>
              <a:rPr lang="en-US" dirty="0" smtClean="0"/>
              <a:t>Jesus The Savior Of The World                                                     </a:t>
            </a:r>
          </a:p>
          <a:p>
            <a:r>
              <a:rPr lang="en-US" dirty="0" smtClean="0"/>
              <a:t>Chapter 4</a:t>
            </a:r>
          </a:p>
          <a:p>
            <a:r>
              <a:rPr lang="en-US" dirty="0" smtClean="0"/>
              <a:t>Christian Ministers Under Arrest </a:t>
            </a:r>
          </a:p>
          <a:p>
            <a:pPr lvl="1"/>
            <a:r>
              <a:rPr lang="en-US" dirty="0" smtClean="0"/>
              <a:t>The Priest - Religious Leader</a:t>
            </a:r>
          </a:p>
          <a:p>
            <a:pPr lvl="1"/>
            <a:r>
              <a:rPr lang="en-US" dirty="0" smtClean="0"/>
              <a:t>Captain – Right Hand Of The High Priest</a:t>
            </a:r>
          </a:p>
          <a:p>
            <a:pPr lvl="1"/>
            <a:r>
              <a:rPr lang="en-US" dirty="0" err="1" smtClean="0"/>
              <a:t>Sadduces</a:t>
            </a:r>
            <a:r>
              <a:rPr lang="en-US" dirty="0" smtClean="0"/>
              <a:t> – Materialistic Group-</a:t>
            </a:r>
          </a:p>
          <a:p>
            <a:pPr lvl="1"/>
            <a:r>
              <a:rPr lang="en-US" dirty="0" smtClean="0"/>
              <a:t>Now Three Kinds Of People were United Together To Fight Against The Truth.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6036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2663</TotalTime>
  <Words>1497</Words>
  <Application>Microsoft Office PowerPoint</Application>
  <PresentationFormat>Widescreen</PresentationFormat>
  <Paragraphs>297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Century Gothic</vt:lpstr>
      <vt:lpstr>Kartika</vt:lpstr>
      <vt:lpstr>Mangal</vt:lpstr>
      <vt:lpstr>メイリオ</vt:lpstr>
      <vt:lpstr>Wingdings 3</vt:lpstr>
      <vt:lpstr>Ion</vt:lpstr>
      <vt:lpstr>PowerPoint Presentation</vt:lpstr>
      <vt:lpstr>PowerPoint Presentation</vt:lpstr>
      <vt:lpstr>PowerPoint Presentation</vt:lpstr>
      <vt:lpstr>INTRODUCTION</vt:lpstr>
      <vt:lpstr>Chapter -1 Types of God’s believes</vt:lpstr>
      <vt:lpstr>Major Beliefs about God</vt:lpstr>
      <vt:lpstr>ദൈവത്തിന്റെ സ്വഭാവം അനുസരിച്ചുള്ള വിഭജനം </vt:lpstr>
      <vt:lpstr>മറ്റ് പ്രധാനപ്പെട്ട ആശയങ്ങൾ </vt:lpstr>
      <vt:lpstr>PowerPoint Presentation</vt:lpstr>
      <vt:lpstr>PowerPoint Presentation</vt:lpstr>
      <vt:lpstr>OUR BELIEF ABOUT GOD</vt:lpstr>
      <vt:lpstr>Definition God</vt:lpstr>
      <vt:lpstr>Chapter – 2  The Existence of God (ദൈവത്തിന്റെ അസ്തിത്വം)</vt:lpstr>
      <vt:lpstr>Important Arguments   (പ്രധാന തെളിവുകൾ)</vt:lpstr>
      <vt:lpstr>PowerPoint Presentation</vt:lpstr>
      <vt:lpstr>PowerPoint Presentation</vt:lpstr>
      <vt:lpstr>Chapter 3  The Attributes Of God (ദൈവത്തിന്റെ സ്വഭാവസവിശേഷതകൾ) </vt:lpstr>
      <vt:lpstr>Two Types Of Attributes Of God</vt:lpstr>
      <vt:lpstr>പങ്കിടാനാകാത്ത (Incommunicable) ഗുണങ്ങൾ  </vt:lpstr>
      <vt:lpstr>PowerPoint Presentation</vt:lpstr>
      <vt:lpstr>PowerPoint Presentation</vt:lpstr>
      <vt:lpstr>PowerPoint Presentation</vt:lpstr>
      <vt:lpstr>പങ്കിടാവുന്ന (Communicable) ഗുണങ്ങൾ </vt:lpstr>
      <vt:lpstr>PowerPoint Presentation</vt:lpstr>
      <vt:lpstr>Chapter 4  The Names Of God (ദൈവത്തിന്റെ നാമങ്ങൾ ) </vt:lpstr>
      <vt:lpstr>OT NAMES</vt:lpstr>
      <vt:lpstr>1. “El” (എൽ) അടിസ്ഥാനത്തിലുള്ള നാമങ്ങൾ</vt:lpstr>
      <vt:lpstr>PowerPoint Presentation</vt:lpstr>
      <vt:lpstr>YAHWEH (യഹ്‍വെ)</vt:lpstr>
      <vt:lpstr>യഹോവയുടെ സംയുക്ത നാമങ്ങൾ (Compound Names of Yahweh) </vt:lpstr>
      <vt:lpstr>PowerPoint Presentation</vt:lpstr>
      <vt:lpstr>PowerPoint Presentation</vt:lpstr>
      <vt:lpstr>ADONAI (അദോനായി)</vt:lpstr>
      <vt:lpstr>NT NAMES</vt:lpstr>
      <vt:lpstr> Chapter 5  THE WORKS OF GOD ദൈവത്തിന്റെ പ്രവർത്തനങ്ങൾ</vt:lpstr>
      <vt:lpstr>THE WORKS OF GOD</vt:lpstr>
      <vt:lpstr>ദൈവത്തിന്റെ സൃഷ്ടി</vt:lpstr>
      <vt:lpstr>PowerPoint Presentation</vt:lpstr>
      <vt:lpstr>THE TRIUNE GOD</vt:lpstr>
      <vt:lpstr>Acts of The Apostles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87</cp:revision>
  <dcterms:created xsi:type="dcterms:W3CDTF">2025-09-05T08:13:53Z</dcterms:created>
  <dcterms:modified xsi:type="dcterms:W3CDTF">2025-10-04T20:38:01Z</dcterms:modified>
</cp:coreProperties>
</file>