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6" r:id="rId2"/>
    <p:sldId id="267" r:id="rId3"/>
    <p:sldId id="268" r:id="rId4"/>
    <p:sldId id="269" r:id="rId5"/>
    <p:sldId id="270" r:id="rId6"/>
    <p:sldId id="319" r:id="rId7"/>
    <p:sldId id="272" r:id="rId8"/>
    <p:sldId id="257" r:id="rId9"/>
    <p:sldId id="259" r:id="rId10"/>
    <p:sldId id="260" r:id="rId11"/>
    <p:sldId id="277" r:id="rId12"/>
    <p:sldId id="258" r:id="rId13"/>
    <p:sldId id="261" r:id="rId14"/>
    <p:sldId id="262" r:id="rId15"/>
    <p:sldId id="263" r:id="rId16"/>
    <p:sldId id="265" r:id="rId17"/>
    <p:sldId id="273" r:id="rId18"/>
    <p:sldId id="264" r:id="rId19"/>
    <p:sldId id="266" r:id="rId20"/>
    <p:sldId id="274" r:id="rId21"/>
    <p:sldId id="275" r:id="rId22"/>
    <p:sldId id="276" r:id="rId23"/>
    <p:sldId id="278" r:id="rId24"/>
    <p:sldId id="279" r:id="rId25"/>
    <p:sldId id="280" r:id="rId26"/>
    <p:sldId id="281" r:id="rId27"/>
    <p:sldId id="282" r:id="rId28"/>
    <p:sldId id="283" r:id="rId29"/>
    <p:sldId id="284" r:id="rId30"/>
    <p:sldId id="285" r:id="rId31"/>
    <p:sldId id="291" r:id="rId32"/>
    <p:sldId id="290" r:id="rId33"/>
    <p:sldId id="287" r:id="rId34"/>
    <p:sldId id="288" r:id="rId35"/>
    <p:sldId id="292" r:id="rId36"/>
    <p:sldId id="289" r:id="rId37"/>
    <p:sldId id="293" r:id="rId38"/>
    <p:sldId id="294" r:id="rId39"/>
    <p:sldId id="296" r:id="rId40"/>
    <p:sldId id="295" r:id="rId41"/>
    <p:sldId id="297" r:id="rId42"/>
    <p:sldId id="298" r:id="rId43"/>
    <p:sldId id="299" r:id="rId44"/>
    <p:sldId id="300" r:id="rId45"/>
    <p:sldId id="301" r:id="rId46"/>
    <p:sldId id="302" r:id="rId47"/>
    <p:sldId id="303" r:id="rId48"/>
    <p:sldId id="304" r:id="rId49"/>
    <p:sldId id="305" r:id="rId50"/>
    <p:sldId id="306" r:id="rId51"/>
    <p:sldId id="307" r:id="rId52"/>
    <p:sldId id="313" r:id="rId53"/>
    <p:sldId id="308" r:id="rId54"/>
    <p:sldId id="312" r:id="rId55"/>
    <p:sldId id="309" r:id="rId56"/>
    <p:sldId id="310" r:id="rId57"/>
    <p:sldId id="317" r:id="rId58"/>
    <p:sldId id="315" r:id="rId59"/>
    <p:sldId id="323" r:id="rId60"/>
    <p:sldId id="314" r:id="rId61"/>
    <p:sldId id="324" r:id="rId62"/>
    <p:sldId id="325" r:id="rId63"/>
    <p:sldId id="320" r:id="rId64"/>
    <p:sldId id="321" r:id="rId65"/>
    <p:sldId id="322" r:id="rId66"/>
    <p:sldId id="318" r:id="rId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8" d="100"/>
          <a:sy n="98" d="100"/>
        </p:scale>
        <p:origin x="82"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34853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B61BEF0D-F0BB-DE4B-95CE-6DB70DBA9567}" type="datetimeFigureOut">
              <a:rPr lang="en-US" smtClean="0"/>
              <a:pPr/>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81611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8268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77919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38213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B61BEF0D-F0BB-DE4B-95CE-6DB70DBA9567}" type="datetimeFigureOut">
              <a:rPr lang="en-US" smtClean="0"/>
              <a:pPr/>
              <a:t>9/30/2026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76449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61BEF0D-F0BB-DE4B-95CE-6DB70DBA9567}" type="datetimeFigureOut">
              <a:rPr lang="en-US" smtClean="0"/>
              <a:pPr/>
              <a:t>9/30/2026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44186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B61BEF0D-F0BB-DE4B-95CE-6DB70DBA9567}" type="datetimeFigureOut">
              <a:rPr lang="en-US" smtClean="0"/>
              <a:pPr/>
              <a:t>9/30/2026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2258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56669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7799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765635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823285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3353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9/30/2026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70538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9/30/2026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377950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21842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7954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61BEF0D-F0BB-DE4B-95CE-6DB70DBA9567}" type="datetimeFigureOut">
              <a:rPr lang="en-US" smtClean="0"/>
              <a:pPr/>
              <a:t>9/30/2026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7830891"/>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888764"/>
            <a:ext cx="8825658" cy="3888618"/>
          </a:xfrm>
        </p:spPr>
        <p:txBody>
          <a:bodyPr>
            <a:normAutofit/>
          </a:bodyPr>
          <a:lstStyle/>
          <a:p>
            <a:pPr algn="ctr"/>
            <a:r>
              <a:rPr lang="en-US" dirty="0" smtClean="0"/>
              <a:t>Poetical books </a:t>
            </a:r>
            <a:r>
              <a:rPr lang="ml-IN" sz="6600" dirty="0" smtClean="0"/>
              <a:t>പദ്യപുസ്തകങ്ങൾ</a:t>
            </a:r>
            <a:endParaRPr lang="en-IN" sz="6600" dirty="0"/>
          </a:p>
        </p:txBody>
      </p:sp>
      <p:sp>
        <p:nvSpPr>
          <p:cNvPr id="3" name="Subtitle 2"/>
          <p:cNvSpPr>
            <a:spLocks noGrp="1"/>
          </p:cNvSpPr>
          <p:nvPr>
            <p:ph type="subTitle" idx="1"/>
          </p:nvPr>
        </p:nvSpPr>
        <p:spPr/>
        <p:txBody>
          <a:bodyPr/>
          <a:lstStyle/>
          <a:p>
            <a:pPr algn="ctr"/>
            <a:r>
              <a:rPr lang="en-US" dirty="0" smtClean="0"/>
              <a:t>MATHEW P THOMAS</a:t>
            </a:r>
          </a:p>
          <a:p>
            <a:pPr algn="ctr"/>
            <a:r>
              <a:rPr lang="en-US" dirty="0" smtClean="0"/>
              <a:t>MOB: 9446759453</a:t>
            </a:r>
          </a:p>
          <a:p>
            <a:endParaRPr lang="en-IN" dirty="0"/>
          </a:p>
        </p:txBody>
      </p:sp>
    </p:spTree>
    <p:extLst>
      <p:ext uri="{BB962C8B-B14F-4D97-AF65-F5344CB8AC3E}">
        <p14:creationId xmlns:p14="http://schemas.microsoft.com/office/powerpoint/2010/main" val="14674007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55411"/>
          </a:xfrm>
        </p:spPr>
        <p:txBody>
          <a:bodyPr/>
          <a:lstStyle/>
          <a:p>
            <a:pPr algn="ctr"/>
            <a:r>
              <a:rPr lang="en-US" dirty="0" smtClean="0"/>
              <a:t>HISTORY OF BIBLE </a:t>
            </a:r>
            <a:endParaRPr lang="en-IN" dirty="0"/>
          </a:p>
        </p:txBody>
      </p:sp>
      <p:sp>
        <p:nvSpPr>
          <p:cNvPr id="3" name="Content Placeholder 2"/>
          <p:cNvSpPr>
            <a:spLocks noGrp="1"/>
          </p:cNvSpPr>
          <p:nvPr>
            <p:ph idx="1"/>
          </p:nvPr>
        </p:nvSpPr>
        <p:spPr>
          <a:xfrm>
            <a:off x="1103312" y="1301858"/>
            <a:ext cx="8946541" cy="5556142"/>
          </a:xfrm>
        </p:spPr>
        <p:txBody>
          <a:bodyPr>
            <a:noAutofit/>
          </a:bodyPr>
          <a:lstStyle/>
          <a:p>
            <a:r>
              <a:rPr lang="en-US" sz="3200" dirty="0"/>
              <a:t>Word of </a:t>
            </a:r>
            <a:r>
              <a:rPr lang="en-US" sz="3200" dirty="0" smtClean="0"/>
              <a:t>God   </a:t>
            </a:r>
            <a:r>
              <a:rPr lang="ml-IN" sz="3200" dirty="0" smtClean="0"/>
              <a:t>ദൈവ</a:t>
            </a:r>
            <a:r>
              <a:rPr lang="en-US" sz="3200" dirty="0" smtClean="0"/>
              <a:t> </a:t>
            </a:r>
            <a:r>
              <a:rPr lang="ml-IN" sz="3200" dirty="0" smtClean="0"/>
              <a:t>വചന൦</a:t>
            </a:r>
            <a:endParaRPr lang="en-US" sz="3200" dirty="0"/>
          </a:p>
          <a:p>
            <a:r>
              <a:rPr lang="en-US" sz="3200" dirty="0"/>
              <a:t>Four </a:t>
            </a:r>
            <a:r>
              <a:rPr lang="en-US" sz="3200" dirty="0" smtClean="0"/>
              <a:t>Implications  </a:t>
            </a:r>
            <a:r>
              <a:rPr lang="ml-IN" sz="3200" dirty="0" smtClean="0"/>
              <a:t>നാലു</a:t>
            </a:r>
            <a:r>
              <a:rPr lang="en-US" sz="3200" dirty="0" smtClean="0"/>
              <a:t> </a:t>
            </a:r>
            <a:r>
              <a:rPr lang="ml-IN" sz="3200" dirty="0" smtClean="0"/>
              <a:t>വീക്ഷണങ്ങൾ</a:t>
            </a:r>
            <a:endParaRPr lang="en-US" sz="3200" dirty="0"/>
          </a:p>
          <a:p>
            <a:r>
              <a:rPr lang="en-US" sz="3200" dirty="0"/>
              <a:t>1. It has creating </a:t>
            </a:r>
            <a:r>
              <a:rPr lang="en-US" sz="3200" dirty="0" smtClean="0"/>
              <a:t>power  </a:t>
            </a:r>
            <a:r>
              <a:rPr lang="ml-IN" sz="3200" dirty="0" smtClean="0"/>
              <a:t>സൃഷ്ടിക്കുവാനുള്ള</a:t>
            </a:r>
            <a:r>
              <a:rPr lang="en-US" sz="3200" dirty="0" smtClean="0"/>
              <a:t> </a:t>
            </a:r>
            <a:r>
              <a:rPr lang="ml-IN" sz="3200" dirty="0" smtClean="0"/>
              <a:t>ശക്തി</a:t>
            </a:r>
            <a:r>
              <a:rPr lang="en-US" sz="3200" dirty="0" smtClean="0"/>
              <a:t> Genesis 1:1</a:t>
            </a:r>
            <a:endParaRPr lang="en-US" sz="3200" dirty="0"/>
          </a:p>
          <a:p>
            <a:r>
              <a:rPr lang="en-US" sz="3200" dirty="0"/>
              <a:t>2. Jesus </a:t>
            </a:r>
            <a:r>
              <a:rPr lang="en-US" sz="3200" dirty="0" smtClean="0"/>
              <a:t>Christ </a:t>
            </a:r>
            <a:r>
              <a:rPr lang="ml-IN" sz="3200" dirty="0" smtClean="0"/>
              <a:t>യേശുക്രിസ്തു</a:t>
            </a:r>
            <a:r>
              <a:rPr lang="en-US" sz="3200" dirty="0" smtClean="0"/>
              <a:t> John 1:1</a:t>
            </a:r>
            <a:endParaRPr lang="en-US" sz="3200" dirty="0"/>
          </a:p>
          <a:p>
            <a:r>
              <a:rPr lang="en-US" sz="3200" dirty="0"/>
              <a:t>3. </a:t>
            </a:r>
            <a:r>
              <a:rPr lang="en-US" sz="3200" dirty="0" err="1"/>
              <a:t>Goodnews</a:t>
            </a:r>
            <a:r>
              <a:rPr lang="en-US" sz="3200" dirty="0"/>
              <a:t> to the kingdom of </a:t>
            </a:r>
            <a:r>
              <a:rPr lang="en-US" sz="3200" dirty="0" smtClean="0"/>
              <a:t>God </a:t>
            </a:r>
            <a:r>
              <a:rPr lang="ml-IN" sz="3200" dirty="0" smtClean="0"/>
              <a:t>ദൈവരാജ്യത്തിന്റെ</a:t>
            </a:r>
            <a:r>
              <a:rPr lang="en-US" sz="3200" dirty="0" smtClean="0"/>
              <a:t> </a:t>
            </a:r>
            <a:r>
              <a:rPr lang="ml-IN" sz="3200" dirty="0" smtClean="0"/>
              <a:t>സുവിശേഷ൦</a:t>
            </a:r>
            <a:r>
              <a:rPr lang="en-US" sz="3200" dirty="0" smtClean="0"/>
              <a:t> Mathew 13: 19</a:t>
            </a:r>
            <a:endParaRPr lang="en-US" sz="3200" dirty="0"/>
          </a:p>
          <a:p>
            <a:r>
              <a:rPr lang="en-US" sz="3200" dirty="0"/>
              <a:t>4. Written Word of </a:t>
            </a:r>
            <a:r>
              <a:rPr lang="en-US" sz="3200" dirty="0" smtClean="0"/>
              <a:t>God-THE BIBLE </a:t>
            </a:r>
            <a:r>
              <a:rPr lang="ml-IN" sz="3200" dirty="0" smtClean="0"/>
              <a:t>എഴുതപ്പെട്ടവചന൦</a:t>
            </a:r>
            <a:r>
              <a:rPr lang="en-US" sz="3200" dirty="0" smtClean="0"/>
              <a:t> -- </a:t>
            </a:r>
            <a:r>
              <a:rPr lang="ml-IN" sz="3200" dirty="0" smtClean="0"/>
              <a:t>ബൈബിൾ</a:t>
            </a:r>
            <a:endParaRPr lang="en-IN" sz="3200" dirty="0"/>
          </a:p>
        </p:txBody>
      </p:sp>
    </p:spTree>
    <p:extLst>
      <p:ext uri="{BB962C8B-B14F-4D97-AF65-F5344CB8AC3E}">
        <p14:creationId xmlns:p14="http://schemas.microsoft.com/office/powerpoint/2010/main" val="3362056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DEFINITION OF BIBLE</a:t>
            </a:r>
            <a:endParaRPr lang="en-IN" dirty="0"/>
          </a:p>
        </p:txBody>
      </p:sp>
      <p:sp>
        <p:nvSpPr>
          <p:cNvPr id="3" name="Content Placeholder 2"/>
          <p:cNvSpPr>
            <a:spLocks noGrp="1"/>
          </p:cNvSpPr>
          <p:nvPr>
            <p:ph idx="1"/>
          </p:nvPr>
        </p:nvSpPr>
        <p:spPr/>
        <p:txBody>
          <a:bodyPr/>
          <a:lstStyle/>
          <a:p>
            <a:r>
              <a:rPr lang="en-US" dirty="0" smtClean="0"/>
              <a:t>B - Basic</a:t>
            </a:r>
            <a:endParaRPr lang="en-US" dirty="0"/>
          </a:p>
          <a:p>
            <a:r>
              <a:rPr lang="en-US" dirty="0" smtClean="0"/>
              <a:t> I - Instructions</a:t>
            </a:r>
            <a:endParaRPr lang="en-US" dirty="0"/>
          </a:p>
          <a:p>
            <a:r>
              <a:rPr lang="en-US" dirty="0" smtClean="0"/>
              <a:t>B - Before</a:t>
            </a:r>
            <a:endParaRPr lang="en-US" dirty="0"/>
          </a:p>
          <a:p>
            <a:r>
              <a:rPr lang="en-US" dirty="0" smtClean="0"/>
              <a:t>L - Leaving</a:t>
            </a:r>
            <a:endParaRPr lang="en-US" dirty="0"/>
          </a:p>
          <a:p>
            <a:r>
              <a:rPr lang="en-US" dirty="0" smtClean="0"/>
              <a:t>E - Earth</a:t>
            </a:r>
            <a:endParaRPr lang="en-IN" dirty="0"/>
          </a:p>
        </p:txBody>
      </p:sp>
    </p:spTree>
    <p:extLst>
      <p:ext uri="{BB962C8B-B14F-4D97-AF65-F5344CB8AC3E}">
        <p14:creationId xmlns:p14="http://schemas.microsoft.com/office/powerpoint/2010/main" val="1242712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100739"/>
            <a:ext cx="9404723" cy="782664"/>
          </a:xfrm>
        </p:spPr>
        <p:txBody>
          <a:bodyPr/>
          <a:lstStyle/>
          <a:p>
            <a:pPr algn="ctr"/>
            <a:r>
              <a:rPr lang="en-IN" dirty="0" smtClean="0"/>
              <a:t>DIVISIONS OF BOOKS </a:t>
            </a:r>
            <a:endParaRPr lang="en-IN" dirty="0"/>
          </a:p>
        </p:txBody>
      </p:sp>
      <p:sp>
        <p:nvSpPr>
          <p:cNvPr id="3" name="Content Placeholder 2"/>
          <p:cNvSpPr>
            <a:spLocks noGrp="1"/>
          </p:cNvSpPr>
          <p:nvPr>
            <p:ph idx="1"/>
          </p:nvPr>
        </p:nvSpPr>
        <p:spPr>
          <a:xfrm>
            <a:off x="503695" y="999641"/>
            <a:ext cx="10058399" cy="5656881"/>
          </a:xfrm>
        </p:spPr>
        <p:txBody>
          <a:bodyPr>
            <a:normAutofit fontScale="92500" lnSpcReduction="10000"/>
          </a:bodyPr>
          <a:lstStyle/>
          <a:p>
            <a:r>
              <a:rPr lang="en-US" dirty="0" smtClean="0"/>
              <a:t>Total-66 OT-39 NT-27                  </a:t>
            </a:r>
            <a:r>
              <a:rPr lang="ml-IN" dirty="0"/>
              <a:t>ആകെ-</a:t>
            </a:r>
            <a:r>
              <a:rPr lang="en-IN" dirty="0"/>
              <a:t>66 OT-39 </a:t>
            </a:r>
            <a:r>
              <a:rPr lang="en-IN" dirty="0" smtClean="0"/>
              <a:t>NT-27</a:t>
            </a:r>
            <a:endParaRPr lang="en-US" dirty="0" smtClean="0"/>
          </a:p>
          <a:p>
            <a:r>
              <a:rPr lang="en-US" dirty="0" smtClean="0"/>
              <a:t>Luke 24: 44     </a:t>
            </a:r>
            <a:r>
              <a:rPr lang="ml-IN" dirty="0"/>
              <a:t>ലൂക്കോസ് </a:t>
            </a:r>
            <a:r>
              <a:rPr lang="en-IN" dirty="0"/>
              <a:t>24: </a:t>
            </a:r>
            <a:r>
              <a:rPr lang="en-IN" dirty="0" smtClean="0"/>
              <a:t>44</a:t>
            </a:r>
            <a:endParaRPr lang="en-US" dirty="0" smtClean="0"/>
          </a:p>
          <a:p>
            <a:r>
              <a:rPr lang="en-US" dirty="0" smtClean="0"/>
              <a:t>The Scripture {Old Testament} </a:t>
            </a:r>
            <a:r>
              <a:rPr lang="ml-IN" dirty="0"/>
              <a:t>തിരുവെഴുത്ത് </a:t>
            </a:r>
            <a:r>
              <a:rPr lang="en-IN" dirty="0"/>
              <a:t>{</a:t>
            </a:r>
            <a:r>
              <a:rPr lang="ml-IN" dirty="0"/>
              <a:t>പഴയ നിയമം</a:t>
            </a:r>
            <a:r>
              <a:rPr lang="en-IN" dirty="0" smtClean="0"/>
              <a:t>}</a:t>
            </a:r>
            <a:r>
              <a:rPr lang="en-US" dirty="0" smtClean="0"/>
              <a:t>  </a:t>
            </a:r>
          </a:p>
          <a:p>
            <a:r>
              <a:rPr lang="en-US" dirty="0" smtClean="0"/>
              <a:t>Torah : The Law - Genesis to Deuteronomy                                 				        </a:t>
            </a:r>
            <a:r>
              <a:rPr lang="ml-IN" dirty="0" smtClean="0"/>
              <a:t>തോറ</a:t>
            </a:r>
            <a:r>
              <a:rPr lang="ml-IN" dirty="0"/>
              <a:t>: നിയമം - ഉല്പത്തി മുതൽ ആവർത്തനം </a:t>
            </a:r>
            <a:r>
              <a:rPr lang="ml-IN" dirty="0" smtClean="0"/>
              <a:t>വരെ</a:t>
            </a:r>
            <a:endParaRPr lang="en-US" dirty="0" smtClean="0"/>
          </a:p>
          <a:p>
            <a:r>
              <a:rPr lang="en-US" dirty="0" err="1" smtClean="0"/>
              <a:t>Navim</a:t>
            </a:r>
            <a:r>
              <a:rPr lang="en-US" dirty="0" smtClean="0"/>
              <a:t> : The Prophetical Books   </a:t>
            </a:r>
            <a:r>
              <a:rPr lang="ml-IN" dirty="0"/>
              <a:t>നബീം: പ്രവാചക </a:t>
            </a:r>
            <a:r>
              <a:rPr lang="ml-IN" dirty="0" smtClean="0"/>
              <a:t>പുസ്തകങ്ങൾ</a:t>
            </a:r>
            <a:endParaRPr lang="en-US" dirty="0" smtClean="0"/>
          </a:p>
          <a:p>
            <a:pPr lvl="2"/>
            <a:r>
              <a:rPr lang="en-US" dirty="0" smtClean="0"/>
              <a:t>Earlier Prophetical Books - Joshua to Kings  								  </a:t>
            </a:r>
            <a:r>
              <a:rPr lang="ml-IN" dirty="0" smtClean="0"/>
              <a:t>ആദ്യകാല </a:t>
            </a:r>
            <a:r>
              <a:rPr lang="ml-IN" dirty="0"/>
              <a:t>പ്രവാചക പുസ്തകങ്ങൾ - യോശുവ മുതൽ രാജാക്കന്മാർ </a:t>
            </a:r>
            <a:r>
              <a:rPr lang="ml-IN" dirty="0" smtClean="0"/>
              <a:t>വരെ</a:t>
            </a:r>
            <a:endParaRPr lang="en-US" dirty="0" smtClean="0"/>
          </a:p>
          <a:p>
            <a:pPr lvl="1"/>
            <a:r>
              <a:rPr lang="en-IN" dirty="0" smtClean="0"/>
              <a:t>Latter </a:t>
            </a:r>
            <a:r>
              <a:rPr lang="en-US" dirty="0" smtClean="0"/>
              <a:t>Prophetical Books – Isaiah to Ezekiel, Hosea to Malachi 			         </a:t>
            </a:r>
            <a:r>
              <a:rPr lang="ml-IN" dirty="0" smtClean="0"/>
              <a:t>പിന്നീടുള്ള </a:t>
            </a:r>
            <a:r>
              <a:rPr lang="ml-IN" dirty="0"/>
              <a:t>പ്രവാചക പുസ്തകങ്ങൾ - യെശയ്യാവ് മുതൽ യെഹെസ്കേൽ വരെ</a:t>
            </a:r>
            <a:r>
              <a:rPr lang="en-IN" dirty="0"/>
              <a:t>, </a:t>
            </a:r>
            <a:r>
              <a:rPr lang="ml-IN" dirty="0"/>
              <a:t>ഹോശേയ മുതൽ മലാഖി </a:t>
            </a:r>
            <a:r>
              <a:rPr lang="ml-IN" dirty="0" smtClean="0"/>
              <a:t>വരെ</a:t>
            </a:r>
            <a:endParaRPr lang="en-US" dirty="0" smtClean="0"/>
          </a:p>
          <a:p>
            <a:r>
              <a:rPr lang="en-US" dirty="0" err="1" smtClean="0"/>
              <a:t>Ketuvim</a:t>
            </a:r>
            <a:r>
              <a:rPr lang="en-US" dirty="0" smtClean="0"/>
              <a:t> : Writings [Psalms] </a:t>
            </a:r>
            <a:r>
              <a:rPr lang="ml-IN" dirty="0"/>
              <a:t>കെതുവിം: എഴുത്തുകൾ [സങ്കീർത്തനങ്ങൾ</a:t>
            </a:r>
            <a:r>
              <a:rPr lang="ml-IN" dirty="0" smtClean="0"/>
              <a:t>]</a:t>
            </a:r>
            <a:endParaRPr lang="en-US" dirty="0" smtClean="0"/>
          </a:p>
          <a:p>
            <a:pPr lvl="2"/>
            <a:r>
              <a:rPr lang="en-US" dirty="0" smtClean="0"/>
              <a:t>Poetical Writings – Psalms, Proverbs &amp; Job </a:t>
            </a:r>
            <a:r>
              <a:rPr lang="ml-IN" dirty="0"/>
              <a:t>കാവ്യാത്മക എഴുത്തുകൾ - സങ്കീർത്തനങ്ങൾ</a:t>
            </a:r>
            <a:r>
              <a:rPr lang="en-IN" dirty="0"/>
              <a:t>, </a:t>
            </a:r>
            <a:r>
              <a:rPr lang="ml-IN" dirty="0"/>
              <a:t>സദൃശവാക്യങ്ങൾ </a:t>
            </a:r>
            <a:r>
              <a:rPr lang="en-IN" dirty="0"/>
              <a:t>&amp; </a:t>
            </a:r>
            <a:r>
              <a:rPr lang="ml-IN" dirty="0" smtClean="0"/>
              <a:t>ഇയ്യോബ്</a:t>
            </a:r>
            <a:endParaRPr lang="en-US" dirty="0" smtClean="0"/>
          </a:p>
          <a:p>
            <a:pPr lvl="2"/>
            <a:r>
              <a:rPr lang="en-US" dirty="0" err="1" smtClean="0"/>
              <a:t>Megilloth</a:t>
            </a:r>
            <a:r>
              <a:rPr lang="en-US" dirty="0"/>
              <a:t> </a:t>
            </a:r>
            <a:r>
              <a:rPr lang="en-US" dirty="0" smtClean="0"/>
              <a:t>– {5 books} – Ruth, Esther, </a:t>
            </a:r>
            <a:r>
              <a:rPr lang="en-IN" dirty="0"/>
              <a:t>Ecclesiastes</a:t>
            </a:r>
            <a:r>
              <a:rPr lang="en-US" dirty="0" smtClean="0"/>
              <a:t>, Song of Songs &amp; Lamentation   </a:t>
            </a:r>
            <a:r>
              <a:rPr lang="ml-IN" dirty="0"/>
              <a:t>മെഗില്ലോത്ത് – </a:t>
            </a:r>
            <a:r>
              <a:rPr lang="en-IN" dirty="0"/>
              <a:t>{5</a:t>
            </a:r>
            <a:r>
              <a:rPr lang="ml-IN" dirty="0"/>
              <a:t> പുസ്തകങ്ങൾ</a:t>
            </a:r>
            <a:r>
              <a:rPr lang="en-IN" dirty="0"/>
              <a:t>} – </a:t>
            </a:r>
            <a:r>
              <a:rPr lang="ml-IN" dirty="0"/>
              <a:t>രൂത്ത്</a:t>
            </a:r>
            <a:r>
              <a:rPr lang="en-IN" dirty="0"/>
              <a:t>, </a:t>
            </a:r>
            <a:r>
              <a:rPr lang="ml-IN" dirty="0"/>
              <a:t>എസ്ഥേർ</a:t>
            </a:r>
            <a:r>
              <a:rPr lang="en-IN" dirty="0"/>
              <a:t>, </a:t>
            </a:r>
            <a:r>
              <a:rPr lang="ml-IN" dirty="0"/>
              <a:t>സഭാപ്രസംഗി</a:t>
            </a:r>
            <a:r>
              <a:rPr lang="en-IN" dirty="0"/>
              <a:t>, </a:t>
            </a:r>
            <a:r>
              <a:rPr lang="ml-IN" dirty="0"/>
              <a:t>ഗീതങ്ങളുടെ ഗീതം </a:t>
            </a:r>
            <a:r>
              <a:rPr lang="en-IN" dirty="0"/>
              <a:t>&amp; </a:t>
            </a:r>
            <a:r>
              <a:rPr lang="ml-IN" dirty="0" smtClean="0"/>
              <a:t>വിലാപം</a:t>
            </a:r>
            <a:endParaRPr lang="en-US" dirty="0" smtClean="0"/>
          </a:p>
          <a:p>
            <a:pPr lvl="2"/>
            <a:r>
              <a:rPr lang="en-US" dirty="0" smtClean="0"/>
              <a:t>Historical Books – Chronicles, Ezra-Nehemiah &amp; Daniel                                                            </a:t>
            </a:r>
            <a:r>
              <a:rPr lang="ml-IN" dirty="0" smtClean="0"/>
              <a:t>ചരിത്ര </a:t>
            </a:r>
            <a:r>
              <a:rPr lang="ml-IN" dirty="0"/>
              <a:t>പുസ്തകങ്ങൾ - ദിനവൃത്താന്തങ്ങൾ</a:t>
            </a:r>
            <a:r>
              <a:rPr lang="en-IN" dirty="0"/>
              <a:t>, </a:t>
            </a:r>
            <a:r>
              <a:rPr lang="ml-IN" dirty="0"/>
              <a:t>എസ്രാ-നെഹെമ്യാവ് </a:t>
            </a:r>
            <a:r>
              <a:rPr lang="en-IN" dirty="0"/>
              <a:t>&amp; </a:t>
            </a:r>
            <a:r>
              <a:rPr lang="ml-IN" dirty="0"/>
              <a:t>ദാനിയേൽ</a:t>
            </a:r>
            <a:endParaRPr lang="en-IN" dirty="0"/>
          </a:p>
          <a:p>
            <a:pPr lvl="2"/>
            <a:endParaRPr lang="en-US" dirty="0" smtClean="0"/>
          </a:p>
          <a:p>
            <a:pPr lvl="1"/>
            <a:endParaRPr lang="en-US" dirty="0" smtClean="0"/>
          </a:p>
          <a:p>
            <a:pPr lvl="1"/>
            <a:endParaRPr lang="en-US" dirty="0" smtClean="0"/>
          </a:p>
          <a:p>
            <a:pPr marL="914400" lvl="2" indent="0">
              <a:buNone/>
            </a:pPr>
            <a:endParaRPr lang="en-US" dirty="0" smtClean="0"/>
          </a:p>
        </p:txBody>
      </p:sp>
    </p:spTree>
    <p:extLst>
      <p:ext uri="{BB962C8B-B14F-4D97-AF65-F5344CB8AC3E}">
        <p14:creationId xmlns:p14="http://schemas.microsoft.com/office/powerpoint/2010/main" val="2905394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 calcmode="lin" valueType="num">
                                      <p:cBhvr additive="base">
                                        <p:cTn id="4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
                                            <p:txEl>
                                              <p:pRg st="9" end="9"/>
                                            </p:txEl>
                                          </p:spTgt>
                                        </p:tgtEl>
                                        <p:attrNameLst>
                                          <p:attrName>style.visibility</p:attrName>
                                        </p:attrNameLst>
                                      </p:cBhvr>
                                      <p:to>
                                        <p:strVal val="visible"/>
                                      </p:to>
                                    </p:set>
                                    <p:anim calcmode="lin" valueType="num">
                                      <p:cBhvr additive="base">
                                        <p:cTn id="5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 calcmode="lin" valueType="num">
                                      <p:cBhvr additive="base">
                                        <p:cTn id="5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Bible Divisions Today</a:t>
            </a:r>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t>Old Testament</a:t>
            </a:r>
          </a:p>
          <a:p>
            <a:pPr lvl="1"/>
            <a:r>
              <a:rPr lang="en-US" dirty="0" smtClean="0"/>
              <a:t>The Law   </a:t>
            </a:r>
            <a:r>
              <a:rPr lang="ml-IN" dirty="0"/>
              <a:t>ന്യായപ്രമാണം</a:t>
            </a:r>
            <a:endParaRPr lang="en-US" dirty="0" smtClean="0"/>
          </a:p>
          <a:p>
            <a:pPr lvl="1"/>
            <a:r>
              <a:rPr lang="en-US" dirty="0" smtClean="0"/>
              <a:t>Historical Books  </a:t>
            </a:r>
            <a:r>
              <a:rPr lang="ml-IN" dirty="0"/>
              <a:t>ചരിത്രം</a:t>
            </a:r>
            <a:endParaRPr lang="en-US" dirty="0" smtClean="0"/>
          </a:p>
          <a:p>
            <a:pPr lvl="1"/>
            <a:r>
              <a:rPr lang="en-US" dirty="0" smtClean="0"/>
              <a:t>Poetical Books   </a:t>
            </a:r>
            <a:r>
              <a:rPr lang="ml-IN" dirty="0"/>
              <a:t>പദ്യം</a:t>
            </a:r>
            <a:endParaRPr lang="en-US" dirty="0" smtClean="0"/>
          </a:p>
          <a:p>
            <a:pPr lvl="1"/>
            <a:r>
              <a:rPr lang="en-US" dirty="0" smtClean="0"/>
              <a:t>Major Prophetical Books  </a:t>
            </a:r>
            <a:r>
              <a:rPr lang="ml-IN" dirty="0"/>
              <a:t>വലിയ പ്രവാചകന്മാർ</a:t>
            </a:r>
            <a:endParaRPr lang="en-US" dirty="0" smtClean="0"/>
          </a:p>
          <a:p>
            <a:pPr lvl="1"/>
            <a:r>
              <a:rPr lang="en-US" dirty="0" smtClean="0"/>
              <a:t>Minor Prophetical Books  </a:t>
            </a:r>
            <a:r>
              <a:rPr lang="ml-IN" dirty="0"/>
              <a:t>ചെറിയ പ്രവാചകന്മാർ</a:t>
            </a:r>
            <a:endParaRPr lang="en-US" dirty="0" smtClean="0"/>
          </a:p>
          <a:p>
            <a:r>
              <a:rPr lang="en-US" dirty="0" smtClean="0"/>
              <a:t>New Testament</a:t>
            </a:r>
          </a:p>
          <a:p>
            <a:pPr lvl="1"/>
            <a:r>
              <a:rPr lang="en-US" dirty="0" smtClean="0"/>
              <a:t>The Gospels   </a:t>
            </a:r>
            <a:r>
              <a:rPr lang="ml-IN" dirty="0"/>
              <a:t>സുവിശേഷ൦</a:t>
            </a:r>
            <a:endParaRPr lang="en-US" dirty="0" smtClean="0"/>
          </a:p>
          <a:p>
            <a:pPr lvl="1"/>
            <a:r>
              <a:rPr lang="en-US" dirty="0" smtClean="0"/>
              <a:t>Historical Book </a:t>
            </a:r>
            <a:r>
              <a:rPr lang="ml-IN" dirty="0"/>
              <a:t>സുവിശേഷ൦ചരിത്രം</a:t>
            </a:r>
            <a:endParaRPr lang="en-US" dirty="0" smtClean="0"/>
          </a:p>
          <a:p>
            <a:pPr lvl="1"/>
            <a:r>
              <a:rPr lang="en-US" dirty="0" smtClean="0"/>
              <a:t>Pauline Epistles {Letters} </a:t>
            </a:r>
            <a:r>
              <a:rPr lang="ml-IN" dirty="0"/>
              <a:t>പൌലൊസിന്റെ ലേഖനങ്ങൾ</a:t>
            </a:r>
            <a:endParaRPr lang="en-US" dirty="0" smtClean="0"/>
          </a:p>
          <a:p>
            <a:pPr lvl="1"/>
            <a:r>
              <a:rPr lang="en-US" dirty="0" smtClean="0"/>
              <a:t>General Epistles {Letters} </a:t>
            </a:r>
            <a:r>
              <a:rPr lang="ml-IN" dirty="0"/>
              <a:t>പൊതു ലേഖനങ്ങൾ</a:t>
            </a:r>
            <a:endParaRPr lang="en-US" dirty="0" smtClean="0"/>
          </a:p>
          <a:p>
            <a:pPr lvl="1"/>
            <a:r>
              <a:rPr lang="en-US" dirty="0" smtClean="0"/>
              <a:t>Prophetical Book	</a:t>
            </a:r>
            <a:r>
              <a:rPr lang="ml-IN" dirty="0"/>
              <a:t>പ്രവചന൦</a:t>
            </a:r>
            <a:endParaRPr lang="en-IN" dirty="0"/>
          </a:p>
        </p:txBody>
      </p:sp>
    </p:spTree>
    <p:extLst>
      <p:ext uri="{BB962C8B-B14F-4D97-AF65-F5344CB8AC3E}">
        <p14:creationId xmlns:p14="http://schemas.microsoft.com/office/powerpoint/2010/main" val="3761666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 calcmode="lin" valueType="num">
                                      <p:cBhvr additive="base">
                                        <p:cTn id="4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 calcmode="lin" valueType="num">
                                      <p:cBhvr additive="base">
                                        <p:cTn id="4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
                                            <p:txEl>
                                              <p:pRg st="11" end="11"/>
                                            </p:txEl>
                                          </p:spTgt>
                                        </p:tgtEl>
                                        <p:attrNameLst>
                                          <p:attrName>style.visibility</p:attrName>
                                        </p:attrNameLst>
                                      </p:cBhvr>
                                      <p:to>
                                        <p:strVal val="visible"/>
                                      </p:to>
                                    </p:set>
                                    <p:anim calcmode="lin" valueType="num">
                                      <p:cBhvr additive="base">
                                        <p:cTn id="5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POETICAL BOOKS</a:t>
            </a:r>
            <a:endParaRPr lang="en-IN" dirty="0"/>
          </a:p>
        </p:txBody>
      </p:sp>
      <p:sp>
        <p:nvSpPr>
          <p:cNvPr id="3" name="Content Placeholder 2"/>
          <p:cNvSpPr>
            <a:spLocks noGrp="1"/>
          </p:cNvSpPr>
          <p:nvPr>
            <p:ph idx="1"/>
          </p:nvPr>
        </p:nvSpPr>
        <p:spPr>
          <a:xfrm>
            <a:off x="1103312" y="2052918"/>
            <a:ext cx="8946541" cy="2493445"/>
          </a:xfrm>
        </p:spPr>
        <p:txBody>
          <a:bodyPr/>
          <a:lstStyle/>
          <a:p>
            <a:pPr marL="457200" indent="-457200">
              <a:buFont typeface="+mj-lt"/>
              <a:buAutoNum type="arabicPeriod"/>
            </a:pPr>
            <a:r>
              <a:rPr lang="en-US" dirty="0" smtClean="0"/>
              <a:t>JOB</a:t>
            </a:r>
          </a:p>
          <a:p>
            <a:pPr marL="457200" indent="-457200">
              <a:buFont typeface="+mj-lt"/>
              <a:buAutoNum type="arabicPeriod"/>
            </a:pPr>
            <a:r>
              <a:rPr lang="en-US" dirty="0" smtClean="0"/>
              <a:t>PSALMS</a:t>
            </a:r>
          </a:p>
          <a:p>
            <a:pPr marL="457200" indent="-457200">
              <a:buFont typeface="+mj-lt"/>
              <a:buAutoNum type="arabicPeriod"/>
            </a:pPr>
            <a:r>
              <a:rPr lang="en-US" dirty="0" smtClean="0"/>
              <a:t>PROVERBS</a:t>
            </a:r>
          </a:p>
          <a:p>
            <a:pPr marL="457200" indent="-457200">
              <a:buFont typeface="+mj-lt"/>
              <a:buAutoNum type="arabicPeriod"/>
            </a:pPr>
            <a:r>
              <a:rPr lang="en-US" dirty="0" smtClean="0"/>
              <a:t>ECCLESIASTICS</a:t>
            </a:r>
          </a:p>
          <a:p>
            <a:pPr marL="457200" indent="-457200">
              <a:buFont typeface="+mj-lt"/>
              <a:buAutoNum type="arabicPeriod"/>
            </a:pPr>
            <a:r>
              <a:rPr lang="en-US" dirty="0" smtClean="0"/>
              <a:t>SONG OF SONGS</a:t>
            </a:r>
            <a:endParaRPr lang="en-IN" dirty="0"/>
          </a:p>
        </p:txBody>
      </p:sp>
    </p:spTree>
    <p:extLst>
      <p:ext uri="{BB962C8B-B14F-4D97-AF65-F5344CB8AC3E}">
        <p14:creationId xmlns:p14="http://schemas.microsoft.com/office/powerpoint/2010/main" val="1106645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888764"/>
            <a:ext cx="8825658" cy="3888618"/>
          </a:xfrm>
        </p:spPr>
        <p:txBody>
          <a:bodyPr>
            <a:normAutofit/>
          </a:bodyPr>
          <a:lstStyle/>
          <a:p>
            <a:pPr algn="ctr"/>
            <a:r>
              <a:rPr lang="en-US" dirty="0" smtClean="0"/>
              <a:t>The Psalms </a:t>
            </a:r>
            <a:r>
              <a:rPr lang="ml-IN" dirty="0"/>
              <a:t>സങ്കീർത്തനങ്ങൾ</a:t>
            </a:r>
            <a:endParaRPr lang="en-IN" dirty="0"/>
          </a:p>
        </p:txBody>
      </p:sp>
      <p:sp>
        <p:nvSpPr>
          <p:cNvPr id="3" name="Subtitle 2"/>
          <p:cNvSpPr>
            <a:spLocks noGrp="1"/>
          </p:cNvSpPr>
          <p:nvPr>
            <p:ph type="subTitle" idx="1"/>
          </p:nvPr>
        </p:nvSpPr>
        <p:spPr/>
        <p:txBody>
          <a:bodyPr/>
          <a:lstStyle/>
          <a:p>
            <a:pPr algn="ctr"/>
            <a:endParaRPr lang="en-US" dirty="0" smtClean="0"/>
          </a:p>
        </p:txBody>
      </p:sp>
    </p:spTree>
    <p:extLst>
      <p:ext uri="{BB962C8B-B14F-4D97-AF65-F5344CB8AC3E}">
        <p14:creationId xmlns:p14="http://schemas.microsoft.com/office/powerpoint/2010/main" val="18238677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smtClean="0"/>
              <a:t>THE PSALMS  </a:t>
            </a:r>
            <a:r>
              <a:rPr lang="ml-IN" dirty="0"/>
              <a:t>സങ്കീർത്തനങ്ങൾ</a:t>
            </a:r>
            <a:r>
              <a:rPr lang="en-US" dirty="0" smtClean="0"/>
              <a:t> </a:t>
            </a:r>
            <a:endParaRPr lang="en-IN" dirty="0"/>
          </a:p>
        </p:txBody>
      </p:sp>
      <p:sp>
        <p:nvSpPr>
          <p:cNvPr id="5" name="Content Placeholder 4"/>
          <p:cNvSpPr>
            <a:spLocks noGrp="1"/>
          </p:cNvSpPr>
          <p:nvPr>
            <p:ph idx="1"/>
          </p:nvPr>
        </p:nvSpPr>
        <p:spPr/>
        <p:txBody>
          <a:bodyPr>
            <a:normAutofit lnSpcReduction="10000"/>
          </a:bodyPr>
          <a:lstStyle/>
          <a:p>
            <a:r>
              <a:rPr lang="en-US" dirty="0" smtClean="0"/>
              <a:t>Introduction</a:t>
            </a:r>
          </a:p>
          <a:p>
            <a:r>
              <a:rPr lang="en-US" dirty="0" smtClean="0"/>
              <a:t>The Psalm in English corresponding word in Greek ‘</a:t>
            </a:r>
            <a:r>
              <a:rPr lang="en-US" dirty="0" err="1" smtClean="0"/>
              <a:t>Psalmos</a:t>
            </a:r>
            <a:r>
              <a:rPr lang="en-US" dirty="0" smtClean="0"/>
              <a:t>’ meaning – The music of a stringed instrument </a:t>
            </a:r>
            <a:r>
              <a:rPr lang="ml-IN" dirty="0" smtClean="0"/>
              <a:t>കമ്പിനാദങ്ങൾ</a:t>
            </a:r>
            <a:r>
              <a:rPr lang="en-US" dirty="0" smtClean="0"/>
              <a:t>, </a:t>
            </a:r>
            <a:r>
              <a:rPr lang="ml-IN" dirty="0"/>
              <a:t>തന്ത്രിവാദ്യ൦</a:t>
            </a:r>
            <a:r>
              <a:rPr lang="en-US" dirty="0" smtClean="0"/>
              <a:t> ‘</a:t>
            </a:r>
            <a:r>
              <a:rPr lang="en-US" dirty="0" err="1" smtClean="0"/>
              <a:t>Psalmoi</a:t>
            </a:r>
            <a:r>
              <a:rPr lang="en-US" dirty="0" smtClean="0"/>
              <a:t>’ Plural form </a:t>
            </a:r>
            <a:r>
              <a:rPr lang="ml-IN" dirty="0"/>
              <a:t>തന്ത്രിവാദ്യങ്ങൾ</a:t>
            </a:r>
            <a:r>
              <a:rPr lang="en-US" dirty="0" smtClean="0"/>
              <a:t> </a:t>
            </a:r>
          </a:p>
          <a:p>
            <a:r>
              <a:rPr lang="en-US" dirty="0" smtClean="0"/>
              <a:t>Later it came -- The song of praise </a:t>
            </a:r>
            <a:r>
              <a:rPr lang="ml-IN" dirty="0"/>
              <a:t>സ്തുതിഗീതങ്ങൾ</a:t>
            </a:r>
            <a:endParaRPr lang="en-US" dirty="0" smtClean="0"/>
          </a:p>
          <a:p>
            <a:r>
              <a:rPr lang="en-US" dirty="0" smtClean="0"/>
              <a:t>Generally - The songs of praise But there are songs of Lament </a:t>
            </a:r>
            <a:r>
              <a:rPr lang="ml-IN" dirty="0" smtClean="0"/>
              <a:t>സ്തുതിഗീതങ്ങൾ</a:t>
            </a:r>
            <a:r>
              <a:rPr lang="en-US" dirty="0" smtClean="0"/>
              <a:t> </a:t>
            </a:r>
            <a:r>
              <a:rPr lang="ml-IN" dirty="0" smtClean="0"/>
              <a:t>മാത്രമല്ല</a:t>
            </a:r>
            <a:r>
              <a:rPr lang="en-US" dirty="0" smtClean="0"/>
              <a:t> </a:t>
            </a:r>
            <a:r>
              <a:rPr lang="ml-IN" dirty="0" smtClean="0"/>
              <a:t>വിലാപകീർത്തനങ്ങളു൦</a:t>
            </a:r>
            <a:r>
              <a:rPr lang="en-US" dirty="0" smtClean="0"/>
              <a:t> </a:t>
            </a:r>
            <a:r>
              <a:rPr lang="ml-IN" dirty="0" smtClean="0"/>
              <a:t>ഉണ്ട്</a:t>
            </a:r>
            <a:endParaRPr lang="en-US" dirty="0" smtClean="0"/>
          </a:p>
          <a:p>
            <a:r>
              <a:rPr lang="en-US" dirty="0" smtClean="0"/>
              <a:t>In Hebrew ‘</a:t>
            </a:r>
            <a:r>
              <a:rPr lang="en-US" dirty="0" err="1" smtClean="0"/>
              <a:t>Tehillim</a:t>
            </a:r>
            <a:r>
              <a:rPr lang="en-US" dirty="0" smtClean="0"/>
              <a:t>’  means The songs of praise </a:t>
            </a:r>
            <a:r>
              <a:rPr lang="ml-IN" dirty="0" smtClean="0"/>
              <a:t>സ്തുതിഗീതങ്ങൾ</a:t>
            </a:r>
            <a:endParaRPr lang="en-US" dirty="0" smtClean="0"/>
          </a:p>
          <a:p>
            <a:r>
              <a:rPr lang="en-US" dirty="0" smtClean="0"/>
              <a:t>Psalms are often referred to David – Psalms of David</a:t>
            </a:r>
          </a:p>
          <a:p>
            <a:r>
              <a:rPr lang="en-US" dirty="0" smtClean="0"/>
              <a:t>Psalm 42 –Sons of </a:t>
            </a:r>
            <a:r>
              <a:rPr lang="en-US" dirty="0" err="1" smtClean="0"/>
              <a:t>Korah</a:t>
            </a:r>
            <a:r>
              <a:rPr lang="en-US" dirty="0" smtClean="0"/>
              <a:t>,   Ps 72 – Solomon Ps 73 – </a:t>
            </a:r>
            <a:r>
              <a:rPr lang="en-US" dirty="0" err="1" smtClean="0"/>
              <a:t>Asaph</a:t>
            </a:r>
            <a:r>
              <a:rPr lang="en-US" dirty="0" smtClean="0"/>
              <a:t>  </a:t>
            </a:r>
          </a:p>
          <a:p>
            <a:r>
              <a:rPr lang="en-US" dirty="0" smtClean="0"/>
              <a:t>Ps 88 – </a:t>
            </a:r>
            <a:r>
              <a:rPr lang="en-US" dirty="0" err="1" smtClean="0"/>
              <a:t>Heman</a:t>
            </a:r>
            <a:r>
              <a:rPr lang="en-US" dirty="0" smtClean="0"/>
              <a:t>, Ps 89 – Ethan, Ps 90 – Mosses,  </a:t>
            </a:r>
          </a:p>
          <a:p>
            <a:endParaRPr lang="en-IN" dirty="0"/>
          </a:p>
        </p:txBody>
      </p:sp>
    </p:spTree>
    <p:extLst>
      <p:ext uri="{BB962C8B-B14F-4D97-AF65-F5344CB8AC3E}">
        <p14:creationId xmlns:p14="http://schemas.microsoft.com/office/powerpoint/2010/main" val="1105205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7"/>
            <a:ext cx="9404723" cy="1923013"/>
          </a:xfrm>
        </p:spPr>
        <p:txBody>
          <a:bodyPr/>
          <a:lstStyle/>
          <a:p>
            <a:pPr algn="ctr"/>
            <a:r>
              <a:rPr lang="en-US" dirty="0" smtClean="0"/>
              <a:t>REASONS FOR STUDYING PSALMS TODAY </a:t>
            </a:r>
            <a:r>
              <a:rPr lang="ml-IN" dirty="0"/>
              <a:t>സങ്കീർത്തനങ്ങൾ</a:t>
            </a:r>
            <a:r>
              <a:rPr lang="en-US" dirty="0" smtClean="0"/>
              <a:t> </a:t>
            </a:r>
            <a:r>
              <a:rPr lang="ml-IN" dirty="0" smtClean="0"/>
              <a:t>പഠിക്കുന്നതിന്റെ</a:t>
            </a:r>
            <a:r>
              <a:rPr lang="en-US" dirty="0" smtClean="0"/>
              <a:t> </a:t>
            </a:r>
            <a:r>
              <a:rPr lang="ml-IN" dirty="0" smtClean="0"/>
              <a:t>ആവശ്യകത</a:t>
            </a:r>
            <a:endParaRPr lang="en-IN" dirty="0"/>
          </a:p>
        </p:txBody>
      </p:sp>
      <p:sp>
        <p:nvSpPr>
          <p:cNvPr id="3" name="Content Placeholder 2"/>
          <p:cNvSpPr>
            <a:spLocks noGrp="1"/>
          </p:cNvSpPr>
          <p:nvPr>
            <p:ph idx="1"/>
          </p:nvPr>
        </p:nvSpPr>
        <p:spPr>
          <a:xfrm>
            <a:off x="1103312" y="2461189"/>
            <a:ext cx="8946541" cy="3787210"/>
          </a:xfrm>
        </p:spPr>
        <p:txBody>
          <a:bodyPr>
            <a:normAutofit lnSpcReduction="10000"/>
          </a:bodyPr>
          <a:lstStyle/>
          <a:p>
            <a:r>
              <a:rPr lang="en-US" dirty="0" smtClean="0"/>
              <a:t>Jesus obviously valued the Psalms and therefore we should Ps 22</a:t>
            </a:r>
          </a:p>
          <a:p>
            <a:r>
              <a:rPr lang="ml-IN" dirty="0" smtClean="0"/>
              <a:t>യേശുക്രിസ്തു</a:t>
            </a:r>
            <a:r>
              <a:rPr lang="en-US" dirty="0" smtClean="0"/>
              <a:t> </a:t>
            </a:r>
            <a:r>
              <a:rPr lang="ml-IN" dirty="0" smtClean="0"/>
              <a:t>സങ്കീർത്തനങ്ങൾക്ക്</a:t>
            </a:r>
            <a:r>
              <a:rPr lang="en-US" dirty="0" smtClean="0"/>
              <a:t> </a:t>
            </a:r>
            <a:r>
              <a:rPr lang="ml-IN" dirty="0" smtClean="0"/>
              <a:t>വില</a:t>
            </a:r>
            <a:r>
              <a:rPr lang="en-US" dirty="0" smtClean="0"/>
              <a:t> </a:t>
            </a:r>
            <a:r>
              <a:rPr lang="ml-IN" dirty="0" smtClean="0"/>
              <a:t>കല്പിച്ചതുകൊണ്ട്</a:t>
            </a:r>
            <a:endParaRPr lang="en-US" dirty="0" smtClean="0"/>
          </a:p>
          <a:p>
            <a:r>
              <a:rPr lang="en-US" dirty="0" smtClean="0"/>
              <a:t>In the NT the Psalms are used as an important sources of information concerning Christ and Christian doctrine. </a:t>
            </a:r>
          </a:p>
          <a:p>
            <a:r>
              <a:rPr lang="ml-IN" dirty="0" smtClean="0"/>
              <a:t>ക്രിസ്തുവിനെ</a:t>
            </a:r>
            <a:r>
              <a:rPr lang="en-US" dirty="0" smtClean="0"/>
              <a:t> </a:t>
            </a:r>
            <a:r>
              <a:rPr lang="ml-IN" dirty="0" smtClean="0"/>
              <a:t>കുറിച്ചു൦</a:t>
            </a:r>
            <a:r>
              <a:rPr lang="en-US" dirty="0" smtClean="0"/>
              <a:t> </a:t>
            </a:r>
            <a:r>
              <a:rPr lang="ml-IN" dirty="0" smtClean="0"/>
              <a:t>ക്രിസ്തുവിന്റെ ഉപദേശത്തെക്കുറിച്ചു൦</a:t>
            </a:r>
            <a:r>
              <a:rPr lang="en-US" dirty="0" smtClean="0"/>
              <a:t> </a:t>
            </a:r>
            <a:r>
              <a:rPr lang="ml-IN" dirty="0" smtClean="0"/>
              <a:t>സങ്കീർത്തനം</a:t>
            </a:r>
            <a:r>
              <a:rPr lang="en-US" dirty="0" smtClean="0"/>
              <a:t> </a:t>
            </a:r>
            <a:r>
              <a:rPr lang="ml-IN" dirty="0" smtClean="0"/>
              <a:t>ആണ് പുതിയനിയമത്തിന്റെ</a:t>
            </a:r>
            <a:r>
              <a:rPr lang="en-US" dirty="0" smtClean="0"/>
              <a:t> </a:t>
            </a:r>
            <a:r>
              <a:rPr lang="ml-IN" dirty="0" smtClean="0"/>
              <a:t>പ്രധാന</a:t>
            </a:r>
            <a:r>
              <a:rPr lang="en-US" dirty="0" smtClean="0"/>
              <a:t> </a:t>
            </a:r>
            <a:r>
              <a:rPr lang="ml-IN" dirty="0" smtClean="0"/>
              <a:t>ഉറവിടമായിരിക്കുന്നത്</a:t>
            </a:r>
            <a:r>
              <a:rPr lang="en-US" dirty="0" smtClean="0"/>
              <a:t> Psalm 2, 8, 22, 69,89, 110, 118. Ps 95 used in Hebrews 3-4, Ps 16 by Peter and Paul in Acts 2, and 13 etc..</a:t>
            </a:r>
          </a:p>
          <a:p>
            <a:r>
              <a:rPr lang="en-US" dirty="0" smtClean="0"/>
              <a:t>The Psalms contain much valuable teaching E.g. Ps 86</a:t>
            </a:r>
          </a:p>
          <a:p>
            <a:r>
              <a:rPr lang="ml-IN" dirty="0" smtClean="0"/>
              <a:t>വിലയേറിയ</a:t>
            </a:r>
            <a:r>
              <a:rPr lang="en-US" dirty="0" smtClean="0"/>
              <a:t> </a:t>
            </a:r>
            <a:r>
              <a:rPr lang="ml-IN" dirty="0" smtClean="0"/>
              <a:t>പഠനങ്ങൾ</a:t>
            </a:r>
            <a:r>
              <a:rPr lang="en-US" dirty="0" smtClean="0"/>
              <a:t> </a:t>
            </a:r>
            <a:r>
              <a:rPr lang="ml-IN" dirty="0" smtClean="0"/>
              <a:t>സങ്കീർത്തനങ്ങളിൽ</a:t>
            </a:r>
            <a:r>
              <a:rPr lang="en-US" dirty="0" smtClean="0"/>
              <a:t> </a:t>
            </a:r>
            <a:r>
              <a:rPr lang="ml-IN" dirty="0" smtClean="0"/>
              <a:t>ഉണ്ട്</a:t>
            </a:r>
            <a:r>
              <a:rPr lang="en-US" dirty="0" smtClean="0"/>
              <a:t> </a:t>
            </a:r>
            <a:endParaRPr lang="en-IN" dirty="0"/>
          </a:p>
        </p:txBody>
      </p:sp>
    </p:spTree>
    <p:extLst>
      <p:ext uri="{BB962C8B-B14F-4D97-AF65-F5344CB8AC3E}">
        <p14:creationId xmlns:p14="http://schemas.microsoft.com/office/powerpoint/2010/main" val="203616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dirty="0" smtClean="0"/>
              <a:t>Difference between</a:t>
            </a:r>
            <a:br>
              <a:rPr lang="en-US" sz="3600" dirty="0" smtClean="0"/>
            </a:br>
            <a:r>
              <a:rPr lang="en-US" sz="3600" dirty="0" smtClean="0"/>
              <a:t>Roman Catholic Bible &amp; Protestant Bible</a:t>
            </a:r>
            <a:endParaRPr lang="en-IN" sz="3600" dirty="0"/>
          </a:p>
        </p:txBody>
      </p:sp>
      <p:sp>
        <p:nvSpPr>
          <p:cNvPr id="3" name="Content Placeholder 2"/>
          <p:cNvSpPr>
            <a:spLocks noGrp="1"/>
          </p:cNvSpPr>
          <p:nvPr>
            <p:ph idx="1"/>
          </p:nvPr>
        </p:nvSpPr>
        <p:spPr/>
        <p:txBody>
          <a:bodyPr>
            <a:normAutofit fontScale="92500" lnSpcReduction="20000"/>
          </a:bodyPr>
          <a:lstStyle/>
          <a:p>
            <a:r>
              <a:rPr lang="en-US" dirty="0" smtClean="0"/>
              <a:t>Protestant            Roman Catholic</a:t>
            </a:r>
          </a:p>
          <a:p>
            <a:r>
              <a:rPr lang="en-US" dirty="0" smtClean="0"/>
              <a:t>8                             8</a:t>
            </a:r>
          </a:p>
          <a:p>
            <a:r>
              <a:rPr lang="en-US" dirty="0" smtClean="0"/>
              <a:t>9+10                       9</a:t>
            </a:r>
          </a:p>
          <a:p>
            <a:r>
              <a:rPr lang="en-US" dirty="0" smtClean="0"/>
              <a:t>11                           10</a:t>
            </a:r>
          </a:p>
          <a:p>
            <a:r>
              <a:rPr lang="en-US" dirty="0" smtClean="0"/>
              <a:t>37                           36</a:t>
            </a:r>
          </a:p>
          <a:p>
            <a:r>
              <a:rPr lang="en-US" dirty="0" smtClean="0"/>
              <a:t>136                         135</a:t>
            </a:r>
          </a:p>
          <a:p>
            <a:r>
              <a:rPr lang="en-US" dirty="0" smtClean="0"/>
              <a:t>147                         146+147</a:t>
            </a:r>
          </a:p>
          <a:p>
            <a:r>
              <a:rPr lang="en-US" dirty="0" smtClean="0"/>
              <a:t>148                         148</a:t>
            </a:r>
          </a:p>
          <a:p>
            <a:r>
              <a:rPr lang="en-US" dirty="0" smtClean="0"/>
              <a:t>150                         150 </a:t>
            </a:r>
          </a:p>
          <a:p>
            <a:r>
              <a:rPr lang="en-US" dirty="0" smtClean="0"/>
              <a:t>Which numbers are common ? 1 -8, 148-150</a:t>
            </a:r>
          </a:p>
          <a:p>
            <a:r>
              <a:rPr lang="en-US" dirty="0" smtClean="0"/>
              <a:t>Hebrew Bible assigns a verse number to the tittle. Long tittle is counted as two verses.</a:t>
            </a:r>
            <a:endParaRPr lang="en-IN" dirty="0"/>
          </a:p>
        </p:txBody>
      </p:sp>
    </p:spTree>
    <p:extLst>
      <p:ext uri="{BB962C8B-B14F-4D97-AF65-F5344CB8AC3E}">
        <p14:creationId xmlns:p14="http://schemas.microsoft.com/office/powerpoint/2010/main" val="3311984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Collection based on Books</a:t>
            </a:r>
            <a:endParaRPr lang="en-IN" dirty="0"/>
          </a:p>
        </p:txBody>
      </p:sp>
      <p:sp>
        <p:nvSpPr>
          <p:cNvPr id="3" name="Content Placeholder 2"/>
          <p:cNvSpPr>
            <a:spLocks noGrp="1"/>
          </p:cNvSpPr>
          <p:nvPr>
            <p:ph idx="1"/>
          </p:nvPr>
        </p:nvSpPr>
        <p:spPr>
          <a:xfrm>
            <a:off x="1103312" y="2052918"/>
            <a:ext cx="8946541" cy="3305295"/>
          </a:xfrm>
        </p:spPr>
        <p:txBody>
          <a:bodyPr/>
          <a:lstStyle/>
          <a:p>
            <a:r>
              <a:rPr lang="en-US" dirty="0" smtClean="0"/>
              <a:t>There are 5 books.</a:t>
            </a:r>
          </a:p>
          <a:p>
            <a:r>
              <a:rPr lang="en-US" dirty="0" smtClean="0"/>
              <a:t>Ps 01 – 41   1</a:t>
            </a:r>
            <a:r>
              <a:rPr lang="en-US" baseline="30000" dirty="0" smtClean="0"/>
              <a:t>st</a:t>
            </a:r>
            <a:r>
              <a:rPr lang="en-US" dirty="0" smtClean="0"/>
              <a:t> book</a:t>
            </a:r>
          </a:p>
          <a:p>
            <a:r>
              <a:rPr lang="en-US" dirty="0" smtClean="0"/>
              <a:t>Ps 42 - 72    2</a:t>
            </a:r>
            <a:r>
              <a:rPr lang="en-US" baseline="30000" dirty="0" smtClean="0"/>
              <a:t>nd</a:t>
            </a:r>
            <a:r>
              <a:rPr lang="en-US" dirty="0" smtClean="0"/>
              <a:t> book</a:t>
            </a:r>
          </a:p>
          <a:p>
            <a:r>
              <a:rPr lang="en-US" dirty="0" smtClean="0"/>
              <a:t>Ps 73 - 89    3</a:t>
            </a:r>
            <a:r>
              <a:rPr lang="en-US" baseline="30000" dirty="0" smtClean="0"/>
              <a:t>rd</a:t>
            </a:r>
            <a:r>
              <a:rPr lang="en-US" dirty="0" smtClean="0"/>
              <a:t> book</a:t>
            </a:r>
          </a:p>
          <a:p>
            <a:r>
              <a:rPr lang="en-US" dirty="0" smtClean="0"/>
              <a:t>Ps 90 – 106  4</a:t>
            </a:r>
            <a:r>
              <a:rPr lang="en-US" baseline="30000" dirty="0" smtClean="0"/>
              <a:t>th</a:t>
            </a:r>
            <a:r>
              <a:rPr lang="en-US" dirty="0" smtClean="0"/>
              <a:t> book</a:t>
            </a:r>
          </a:p>
          <a:p>
            <a:r>
              <a:rPr lang="en-US" dirty="0" smtClean="0"/>
              <a:t>Ps 107 –150 5</a:t>
            </a:r>
            <a:r>
              <a:rPr lang="en-US" baseline="30000" dirty="0" smtClean="0"/>
              <a:t>th</a:t>
            </a:r>
            <a:r>
              <a:rPr lang="en-US" dirty="0" smtClean="0"/>
              <a:t> book</a:t>
            </a:r>
            <a:endParaRPr lang="en-IN" dirty="0"/>
          </a:p>
        </p:txBody>
      </p:sp>
    </p:spTree>
    <p:extLst>
      <p:ext uri="{BB962C8B-B14F-4D97-AF65-F5344CB8AC3E}">
        <p14:creationId xmlns:p14="http://schemas.microsoft.com/office/powerpoint/2010/main" val="3347154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3311" y="452718"/>
            <a:ext cx="9014909" cy="940246"/>
          </a:xfrm>
        </p:spPr>
        <p:txBody>
          <a:bodyPr/>
          <a:lstStyle/>
          <a:p>
            <a:pPr algn="ctr"/>
            <a:r>
              <a:rPr lang="en-US" sz="3600" dirty="0" smtClean="0"/>
              <a:t>Collections of Psalms based on Authors </a:t>
            </a:r>
            <a:endParaRPr lang="en-IN" sz="3600" dirty="0"/>
          </a:p>
        </p:txBody>
      </p:sp>
      <p:sp>
        <p:nvSpPr>
          <p:cNvPr id="3" name="Content Placeholder 2"/>
          <p:cNvSpPr>
            <a:spLocks noGrp="1"/>
          </p:cNvSpPr>
          <p:nvPr>
            <p:ph idx="1"/>
          </p:nvPr>
        </p:nvSpPr>
        <p:spPr/>
        <p:txBody>
          <a:bodyPr>
            <a:normAutofit/>
          </a:bodyPr>
          <a:lstStyle/>
          <a:p>
            <a:r>
              <a:rPr lang="en-US" dirty="0" smtClean="0"/>
              <a:t>Five books      </a:t>
            </a:r>
            <a:r>
              <a:rPr lang="ml-IN" dirty="0" smtClean="0"/>
              <a:t>അഞ്ച്</a:t>
            </a:r>
            <a:r>
              <a:rPr lang="en-US" dirty="0" smtClean="0"/>
              <a:t> </a:t>
            </a:r>
            <a:r>
              <a:rPr lang="ml-IN" dirty="0" smtClean="0"/>
              <a:t>പുസ്തകങ്ങൾ</a:t>
            </a:r>
            <a:endParaRPr lang="en-US" dirty="0" smtClean="0"/>
          </a:p>
          <a:p>
            <a:r>
              <a:rPr lang="en-US" dirty="0" smtClean="0"/>
              <a:t>1 – 41 , 42 – 72, 73 – 89, 90 – 106, 107 – 150</a:t>
            </a:r>
          </a:p>
          <a:p>
            <a:r>
              <a:rPr lang="en-US" dirty="0" smtClean="0"/>
              <a:t>Collections based on the names</a:t>
            </a:r>
          </a:p>
          <a:p>
            <a:r>
              <a:rPr lang="en-US" dirty="0" smtClean="0"/>
              <a:t> 1. Davidic Collections </a:t>
            </a:r>
            <a:r>
              <a:rPr lang="ml-IN" dirty="0" smtClean="0"/>
              <a:t>ദാവീദിന്റെ</a:t>
            </a:r>
            <a:r>
              <a:rPr lang="en-US" dirty="0" smtClean="0"/>
              <a:t> </a:t>
            </a:r>
            <a:r>
              <a:rPr lang="ml-IN" dirty="0" smtClean="0"/>
              <a:t>സങ്കീർത്തനങ്ങൾ</a:t>
            </a:r>
            <a:r>
              <a:rPr lang="en-US" dirty="0" smtClean="0"/>
              <a:t> 1- 41</a:t>
            </a:r>
          </a:p>
          <a:p>
            <a:r>
              <a:rPr lang="en-US" dirty="0" smtClean="0"/>
              <a:t>2. (Sons of </a:t>
            </a:r>
            <a:r>
              <a:rPr lang="en-US" dirty="0" err="1" smtClean="0"/>
              <a:t>Korah</a:t>
            </a:r>
            <a:r>
              <a:rPr lang="en-US" dirty="0" smtClean="0"/>
              <a:t>) Korahites Collections </a:t>
            </a:r>
            <a:r>
              <a:rPr lang="ml-IN" dirty="0"/>
              <a:t>കോരഹ്</a:t>
            </a:r>
            <a:r>
              <a:rPr lang="en-US" dirty="0" smtClean="0"/>
              <a:t> </a:t>
            </a:r>
            <a:r>
              <a:rPr lang="ml-IN" dirty="0" smtClean="0"/>
              <a:t>പുത്രൻമാരുടെ</a:t>
            </a:r>
            <a:r>
              <a:rPr lang="en-US" dirty="0"/>
              <a:t> </a:t>
            </a:r>
            <a:r>
              <a:rPr lang="ml-IN" dirty="0" smtClean="0"/>
              <a:t>സങ്കീർത്തനങ്ങൾ</a:t>
            </a:r>
            <a:r>
              <a:rPr lang="en-US" dirty="0" smtClean="0"/>
              <a:t>  42 - 49</a:t>
            </a:r>
          </a:p>
          <a:p>
            <a:r>
              <a:rPr lang="en-US" dirty="0" smtClean="0"/>
              <a:t>3. </a:t>
            </a:r>
            <a:r>
              <a:rPr lang="en-US" dirty="0" err="1" smtClean="0"/>
              <a:t>Asaphites</a:t>
            </a:r>
            <a:r>
              <a:rPr lang="en-US" dirty="0"/>
              <a:t> </a:t>
            </a:r>
            <a:r>
              <a:rPr lang="en-US" dirty="0" smtClean="0"/>
              <a:t>Collections </a:t>
            </a:r>
            <a:r>
              <a:rPr lang="ml-IN" dirty="0" smtClean="0"/>
              <a:t>ആസാഫിന്റെ</a:t>
            </a:r>
            <a:r>
              <a:rPr lang="en-US" dirty="0" smtClean="0"/>
              <a:t> </a:t>
            </a:r>
            <a:r>
              <a:rPr lang="ml-IN" dirty="0" smtClean="0"/>
              <a:t>സങ്കീർത്തനങ്ങൾ</a:t>
            </a:r>
            <a:r>
              <a:rPr lang="en-US" dirty="0" smtClean="0"/>
              <a:t> 50,73 - 83</a:t>
            </a:r>
          </a:p>
          <a:p>
            <a:r>
              <a:rPr lang="en-US" dirty="0" smtClean="0"/>
              <a:t>Collections based on Tradition of Jews</a:t>
            </a:r>
          </a:p>
          <a:p>
            <a:r>
              <a:rPr lang="en-US" dirty="0" smtClean="0"/>
              <a:t>4. Songs of Ascents </a:t>
            </a:r>
            <a:r>
              <a:rPr lang="ml-IN" dirty="0" smtClean="0"/>
              <a:t>ആരോഹണഗീതങ്ങൾ</a:t>
            </a:r>
            <a:r>
              <a:rPr lang="en-US" dirty="0" smtClean="0"/>
              <a:t> 120 - 134                      </a:t>
            </a:r>
          </a:p>
          <a:p>
            <a:endParaRPr lang="en-US" dirty="0" smtClean="0"/>
          </a:p>
          <a:p>
            <a:endParaRPr lang="en-IN" dirty="0"/>
          </a:p>
        </p:txBody>
      </p:sp>
    </p:spTree>
    <p:extLst>
      <p:ext uri="{BB962C8B-B14F-4D97-AF65-F5344CB8AC3E}">
        <p14:creationId xmlns:p14="http://schemas.microsoft.com/office/powerpoint/2010/main" val="191793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COLLECTIONS OF PSALMS </a:t>
            </a:r>
            <a:r>
              <a:rPr lang="ml-IN" dirty="0" smtClean="0"/>
              <a:t>സങ്കീർത്തന</a:t>
            </a:r>
            <a:r>
              <a:rPr lang="en-US" dirty="0" smtClean="0"/>
              <a:t> </a:t>
            </a:r>
            <a:r>
              <a:rPr lang="ml-IN" dirty="0"/>
              <a:t>ശേഖരങ്ങൾ</a:t>
            </a:r>
            <a:endParaRPr lang="en-IN" dirty="0"/>
          </a:p>
        </p:txBody>
      </p:sp>
      <p:sp>
        <p:nvSpPr>
          <p:cNvPr id="3" name="Content Placeholder 2"/>
          <p:cNvSpPr>
            <a:spLocks noGrp="1"/>
          </p:cNvSpPr>
          <p:nvPr>
            <p:ph idx="1"/>
          </p:nvPr>
        </p:nvSpPr>
        <p:spPr/>
        <p:txBody>
          <a:bodyPr/>
          <a:lstStyle/>
          <a:p>
            <a:r>
              <a:rPr lang="en-US" dirty="0" smtClean="0"/>
              <a:t>David : </a:t>
            </a:r>
            <a:r>
              <a:rPr lang="en-US" dirty="0" err="1" smtClean="0"/>
              <a:t>Pss</a:t>
            </a:r>
            <a:r>
              <a:rPr lang="en-US" dirty="0" smtClean="0"/>
              <a:t> 3- 41, 51- 65, 68-70, 86, 101,103, 108-110, 138- 145</a:t>
            </a:r>
          </a:p>
          <a:p>
            <a:r>
              <a:rPr lang="en-US" dirty="0" smtClean="0"/>
              <a:t>Sons of </a:t>
            </a:r>
            <a:r>
              <a:rPr lang="en-US" dirty="0" err="1" smtClean="0"/>
              <a:t>Korah</a:t>
            </a:r>
            <a:r>
              <a:rPr lang="en-US" dirty="0" smtClean="0"/>
              <a:t> : </a:t>
            </a:r>
            <a:r>
              <a:rPr lang="en-US" dirty="0" err="1" smtClean="0"/>
              <a:t>Pss</a:t>
            </a:r>
            <a:r>
              <a:rPr lang="en-US" dirty="0" smtClean="0"/>
              <a:t> 42, 44 - 49, 84- 85, 87,  </a:t>
            </a:r>
          </a:p>
          <a:p>
            <a:r>
              <a:rPr lang="en-US" dirty="0" err="1" smtClean="0"/>
              <a:t>Asaph</a:t>
            </a:r>
            <a:r>
              <a:rPr lang="en-US" dirty="0" smtClean="0"/>
              <a:t> : 50, 73- 83, </a:t>
            </a:r>
          </a:p>
          <a:p>
            <a:r>
              <a:rPr lang="en-US" dirty="0" smtClean="0"/>
              <a:t>Solomon : 72,</a:t>
            </a:r>
          </a:p>
          <a:p>
            <a:r>
              <a:rPr lang="en-US" dirty="0" err="1" smtClean="0"/>
              <a:t>Heman</a:t>
            </a:r>
            <a:r>
              <a:rPr lang="en-US" dirty="0" smtClean="0"/>
              <a:t> : 88, </a:t>
            </a:r>
          </a:p>
          <a:p>
            <a:r>
              <a:rPr lang="en-US" dirty="0" smtClean="0"/>
              <a:t>Ethan : 89</a:t>
            </a:r>
          </a:p>
          <a:p>
            <a:r>
              <a:rPr lang="en-US" dirty="0" smtClean="0"/>
              <a:t>Mosses : 90,   </a:t>
            </a:r>
          </a:p>
          <a:p>
            <a:r>
              <a:rPr lang="en-US" dirty="0" smtClean="0"/>
              <a:t>Songs of Ascents : 120- 134</a:t>
            </a:r>
          </a:p>
          <a:p>
            <a:r>
              <a:rPr lang="en-US" dirty="0" smtClean="0"/>
              <a:t>Unknown : 1, 2, 43, 66, 67, 71, 91- 100, 102, 104- 107, 111- 119, 135-137, 146- 150</a:t>
            </a:r>
            <a:endParaRPr lang="en-IN" dirty="0"/>
          </a:p>
        </p:txBody>
      </p:sp>
    </p:spTree>
    <p:extLst>
      <p:ext uri="{BB962C8B-B14F-4D97-AF65-F5344CB8AC3E}">
        <p14:creationId xmlns:p14="http://schemas.microsoft.com/office/powerpoint/2010/main" val="242755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SUBJECT-MATTER OF THE PSALMS </a:t>
            </a:r>
            <a:br>
              <a:rPr lang="en-US" dirty="0" smtClean="0"/>
            </a:br>
            <a:r>
              <a:rPr lang="ml-IN" dirty="0" smtClean="0"/>
              <a:t>സങ്കീർത്തന</a:t>
            </a:r>
            <a:r>
              <a:rPr lang="en-US" dirty="0" smtClean="0"/>
              <a:t> </a:t>
            </a:r>
            <a:r>
              <a:rPr lang="ml-IN" dirty="0"/>
              <a:t>ഉള്ളടക്കം</a:t>
            </a:r>
            <a:endParaRPr lang="en-IN" dirty="0"/>
          </a:p>
        </p:txBody>
      </p:sp>
      <p:sp>
        <p:nvSpPr>
          <p:cNvPr id="3" name="Content Placeholder 2"/>
          <p:cNvSpPr>
            <a:spLocks noGrp="1"/>
          </p:cNvSpPr>
          <p:nvPr>
            <p:ph idx="1"/>
          </p:nvPr>
        </p:nvSpPr>
        <p:spPr/>
        <p:txBody>
          <a:bodyPr>
            <a:normAutofit fontScale="92500" lnSpcReduction="10000"/>
          </a:bodyPr>
          <a:lstStyle/>
          <a:p>
            <a:r>
              <a:rPr lang="en-US" dirty="0" smtClean="0"/>
              <a:t>Why the Psalms were arranged in five books – we don’t know       </a:t>
            </a:r>
            <a:r>
              <a:rPr lang="ml-IN" dirty="0" smtClean="0"/>
              <a:t>അഞ്ചു </a:t>
            </a:r>
            <a:r>
              <a:rPr lang="ml-IN" dirty="0"/>
              <a:t>പുസ്തകങ്ങൾ എന്തിനെന്ന് </a:t>
            </a:r>
            <a:r>
              <a:rPr lang="ml-IN" dirty="0" smtClean="0"/>
              <a:t>നമുക്കറിയില്ല</a:t>
            </a:r>
            <a:endParaRPr lang="en-US" dirty="0" smtClean="0"/>
          </a:p>
          <a:p>
            <a:r>
              <a:rPr lang="en-US" dirty="0" smtClean="0"/>
              <a:t>One suggestion – Five fold response of the congregation to the Word of God in the five books of Mosses. Psalms basically people talking to God. </a:t>
            </a:r>
            <a:r>
              <a:rPr lang="ml-IN" dirty="0" smtClean="0"/>
              <a:t>മോശയുടെ</a:t>
            </a:r>
            <a:r>
              <a:rPr lang="en-US" dirty="0" smtClean="0"/>
              <a:t> </a:t>
            </a:r>
            <a:r>
              <a:rPr lang="ml-IN" dirty="0" smtClean="0"/>
              <a:t>പഞ്ചഗ്രന്ഥങ്ങളുമായി ബന്ധപ്പെട്ടതാണന്ന്</a:t>
            </a:r>
            <a:r>
              <a:rPr lang="en-US" dirty="0" smtClean="0"/>
              <a:t> </a:t>
            </a:r>
            <a:r>
              <a:rPr lang="ml-IN" dirty="0" smtClean="0"/>
              <a:t>ഒരു</a:t>
            </a:r>
            <a:r>
              <a:rPr lang="en-US" dirty="0" smtClean="0"/>
              <a:t> </a:t>
            </a:r>
            <a:r>
              <a:rPr lang="ml-IN" dirty="0" smtClean="0"/>
              <a:t>അഭിപ്രായം</a:t>
            </a:r>
            <a:r>
              <a:rPr lang="en-US" dirty="0" smtClean="0"/>
              <a:t> </a:t>
            </a:r>
            <a:r>
              <a:rPr lang="ml-IN" dirty="0" smtClean="0"/>
              <a:t>ഉണ്ട്</a:t>
            </a:r>
            <a:r>
              <a:rPr lang="en-US" dirty="0" smtClean="0"/>
              <a:t>. </a:t>
            </a:r>
            <a:r>
              <a:rPr lang="ml-IN" dirty="0"/>
              <a:t>ജനങ്ങൾക്ക് </a:t>
            </a:r>
            <a:r>
              <a:rPr lang="ml-IN" dirty="0" smtClean="0"/>
              <a:t>ദൈവവുമായി</a:t>
            </a:r>
            <a:r>
              <a:rPr lang="en-US" dirty="0" smtClean="0"/>
              <a:t> </a:t>
            </a:r>
            <a:r>
              <a:rPr lang="ml-IN" dirty="0" smtClean="0"/>
              <a:t>ബന്ധപ്പെടാനുള്ള</a:t>
            </a:r>
            <a:r>
              <a:rPr lang="en-US" dirty="0" smtClean="0"/>
              <a:t> </a:t>
            </a:r>
            <a:r>
              <a:rPr lang="ml-IN" dirty="0" smtClean="0"/>
              <a:t>മാർഗ്ഗമായിരുന്നു.</a:t>
            </a:r>
            <a:endParaRPr lang="en-US" dirty="0" smtClean="0"/>
          </a:p>
          <a:p>
            <a:r>
              <a:rPr lang="ml-IN" dirty="0"/>
              <a:t>എന്നാൽ ദൈവ൦ സംസാരിക്കുന്ന ഭാഗങ്ങളും, പിൻഗാമികളോട് സംസാരിക്കുന്ന കാര്യങ്ങളും </a:t>
            </a:r>
            <a:r>
              <a:rPr lang="ml-IN" dirty="0" smtClean="0"/>
              <a:t>ഉണ്ട്</a:t>
            </a:r>
            <a:r>
              <a:rPr lang="en-US" dirty="0" smtClean="0"/>
              <a:t>.          We will find the words that comes from God, and words to his fellow worshippers or the rest of the congregation.</a:t>
            </a:r>
          </a:p>
          <a:p>
            <a:r>
              <a:rPr lang="en-US" dirty="0" smtClean="0"/>
              <a:t>Psalms contain Facts, Feelings, Prayer. </a:t>
            </a:r>
            <a:r>
              <a:rPr lang="ml-IN" dirty="0"/>
              <a:t>സങ്കീർത്തനങ്ങളിൽ യാഥാർത്ഥ്യങ്ങളു൦, </a:t>
            </a:r>
            <a:r>
              <a:rPr lang="ml-IN" dirty="0" smtClean="0"/>
              <a:t>വികാരങ്ങളു൦</a:t>
            </a:r>
            <a:r>
              <a:rPr lang="ml-IN" dirty="0"/>
              <a:t>, പ്രാർത്ഥനകളു൦  </a:t>
            </a:r>
            <a:r>
              <a:rPr lang="ml-IN" dirty="0" smtClean="0"/>
              <a:t>ഉൾക്കൊണ്ടിരിക്കുന്നു</a:t>
            </a:r>
            <a:r>
              <a:rPr lang="en-US" dirty="0" smtClean="0"/>
              <a:t>.</a:t>
            </a:r>
            <a:endParaRPr lang="en-IN" dirty="0"/>
          </a:p>
        </p:txBody>
      </p:sp>
    </p:spTree>
    <p:extLst>
      <p:ext uri="{BB962C8B-B14F-4D97-AF65-F5344CB8AC3E}">
        <p14:creationId xmlns:p14="http://schemas.microsoft.com/office/powerpoint/2010/main" val="2083468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TITLES OF THE PSALM      </a:t>
            </a:r>
            <a:r>
              <a:rPr lang="ml-IN" dirty="0" smtClean="0"/>
              <a:t>സങ്കീർത്തന</a:t>
            </a:r>
            <a:r>
              <a:rPr lang="en-US" dirty="0" smtClean="0"/>
              <a:t> </a:t>
            </a:r>
            <a:r>
              <a:rPr lang="ml-IN" dirty="0" smtClean="0"/>
              <a:t>ശീർഷകങ്ങൾ</a:t>
            </a:r>
            <a:endParaRPr lang="en-IN" dirty="0"/>
          </a:p>
        </p:txBody>
      </p:sp>
      <p:sp>
        <p:nvSpPr>
          <p:cNvPr id="3" name="Content Placeholder 2"/>
          <p:cNvSpPr>
            <a:spLocks noGrp="1"/>
          </p:cNvSpPr>
          <p:nvPr>
            <p:ph idx="1"/>
          </p:nvPr>
        </p:nvSpPr>
        <p:spPr/>
        <p:txBody>
          <a:bodyPr>
            <a:normAutofit fontScale="92500"/>
          </a:bodyPr>
          <a:lstStyle/>
          <a:p>
            <a:r>
              <a:rPr lang="en-US" dirty="0" smtClean="0"/>
              <a:t>Titles were mentioned about situation or context </a:t>
            </a:r>
            <a:r>
              <a:rPr lang="ml-IN" dirty="0"/>
              <a:t>ശീർഷകങ്ങളിലൂടെ സങ്കീർത്തന പശ്ചാത്തല൦ നമുക്ക് ലഭിക്കുന്നു.</a:t>
            </a:r>
            <a:endParaRPr lang="en-US" dirty="0" smtClean="0"/>
          </a:p>
          <a:p>
            <a:r>
              <a:rPr lang="en-US" dirty="0" smtClean="0"/>
              <a:t>Two reasons against the reliability of the Psalm title</a:t>
            </a:r>
          </a:p>
          <a:p>
            <a:pPr lvl="1"/>
            <a:r>
              <a:rPr lang="en-US" dirty="0" smtClean="0"/>
              <a:t>Titles may have been added later by someone </a:t>
            </a:r>
            <a:r>
              <a:rPr lang="ml-IN" dirty="0"/>
              <a:t>ശീർഷകങ്ങൾ പിന്നീട് കൂട്ടിചേർത്തവയാണ്</a:t>
            </a:r>
            <a:endParaRPr lang="en-US" dirty="0" smtClean="0"/>
          </a:p>
          <a:p>
            <a:pPr lvl="1"/>
            <a:r>
              <a:rPr lang="en-US" dirty="0" smtClean="0"/>
              <a:t>Titles of some Psalms do not fit the content </a:t>
            </a:r>
            <a:r>
              <a:rPr lang="ml-IN" dirty="0"/>
              <a:t>ചില സങ്കീർത്തനങ്ങളിലെ ആശയങ്ങളുമായി യാതൊരു പൊരുത്തവും ശീർഷകങ്ങൾക്ക് ഇല്ല.</a:t>
            </a:r>
            <a:endParaRPr lang="en-US" dirty="0" smtClean="0"/>
          </a:p>
          <a:p>
            <a:r>
              <a:rPr lang="en-US" dirty="0" smtClean="0"/>
              <a:t>Two reasons for the reliability of Psalm title</a:t>
            </a:r>
          </a:p>
          <a:p>
            <a:pPr lvl="1"/>
            <a:r>
              <a:rPr lang="en-US" dirty="0" smtClean="0"/>
              <a:t>Part of O T text </a:t>
            </a:r>
            <a:r>
              <a:rPr lang="ml-IN" dirty="0"/>
              <a:t>പഴയനിയമ ഭാഗമാണ്</a:t>
            </a:r>
            <a:endParaRPr lang="en-US" dirty="0" smtClean="0"/>
          </a:p>
          <a:p>
            <a:pPr lvl="1"/>
            <a:r>
              <a:rPr lang="en-US" dirty="0" smtClean="0"/>
              <a:t>Titles not commonly used in later times </a:t>
            </a:r>
            <a:r>
              <a:rPr lang="ml-IN" dirty="0"/>
              <a:t>പിൻകാലത്തു ശീർഷകങ്ങൾ സാധാരണ ഗതിയിൽ ഉപയോഗിച്ചിരുന്നില്ല</a:t>
            </a:r>
            <a:endParaRPr lang="en-US" dirty="0" smtClean="0"/>
          </a:p>
          <a:p>
            <a:endParaRPr lang="en-IN" dirty="0"/>
          </a:p>
        </p:txBody>
      </p:sp>
    </p:spTree>
    <p:extLst>
      <p:ext uri="{BB962C8B-B14F-4D97-AF65-F5344CB8AC3E}">
        <p14:creationId xmlns:p14="http://schemas.microsoft.com/office/powerpoint/2010/main" val="109176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ml-IN" dirty="0"/>
              <a:t>ശീർഷകങ്ങൾ</a:t>
            </a:r>
            <a:endParaRPr lang="en-IN" dirty="0"/>
          </a:p>
        </p:txBody>
      </p:sp>
      <p:sp>
        <p:nvSpPr>
          <p:cNvPr id="3" name="Content Placeholder 2"/>
          <p:cNvSpPr>
            <a:spLocks noGrp="1"/>
          </p:cNvSpPr>
          <p:nvPr>
            <p:ph idx="1"/>
          </p:nvPr>
        </p:nvSpPr>
        <p:spPr>
          <a:xfrm>
            <a:off x="646111" y="1204957"/>
            <a:ext cx="9557567" cy="5503491"/>
          </a:xfrm>
        </p:spPr>
        <p:txBody>
          <a:bodyPr>
            <a:normAutofit fontScale="92500" lnSpcReduction="20000"/>
          </a:bodyPr>
          <a:lstStyle/>
          <a:p>
            <a:r>
              <a:rPr lang="en-US" dirty="0" smtClean="0"/>
              <a:t> </a:t>
            </a:r>
            <a:r>
              <a:rPr lang="ml-IN" dirty="0" smtClean="0"/>
              <a:t>മുഖവുര</a:t>
            </a:r>
            <a:r>
              <a:rPr lang="en-US" dirty="0" smtClean="0"/>
              <a:t> INTRODUCTION</a:t>
            </a:r>
          </a:p>
          <a:p>
            <a:pPr lvl="1"/>
            <a:r>
              <a:rPr lang="en-US" dirty="0" smtClean="0"/>
              <a:t> </a:t>
            </a:r>
            <a:r>
              <a:rPr lang="ml-IN" dirty="0" smtClean="0"/>
              <a:t>സങ്കീർത്തനങ്ങളുടെ</a:t>
            </a:r>
            <a:r>
              <a:rPr lang="en-US" dirty="0" smtClean="0"/>
              <a:t> </a:t>
            </a:r>
            <a:r>
              <a:rPr lang="ml-IN" dirty="0" smtClean="0"/>
              <a:t>ശീർഷകങ്ങൾ</a:t>
            </a:r>
            <a:r>
              <a:rPr lang="en-US" dirty="0" smtClean="0"/>
              <a:t> </a:t>
            </a:r>
            <a:r>
              <a:rPr lang="ml-IN" dirty="0" smtClean="0"/>
              <a:t>പാടെ</a:t>
            </a:r>
            <a:r>
              <a:rPr lang="en-US" dirty="0" smtClean="0"/>
              <a:t> </a:t>
            </a:r>
            <a:r>
              <a:rPr lang="ml-IN" dirty="0" smtClean="0"/>
              <a:t>തള്ളിക്കളയുന്നതു൦ അവ</a:t>
            </a:r>
            <a:r>
              <a:rPr lang="en-US" dirty="0" smtClean="0"/>
              <a:t> </a:t>
            </a:r>
            <a:r>
              <a:rPr lang="ml-IN" dirty="0" smtClean="0"/>
              <a:t>തിരുവെഴുത്തുകളുടെ</a:t>
            </a:r>
            <a:r>
              <a:rPr lang="en-US" dirty="0" smtClean="0"/>
              <a:t> </a:t>
            </a:r>
            <a:r>
              <a:rPr lang="ml-IN" dirty="0" smtClean="0"/>
              <a:t>ഭാഗമായി</a:t>
            </a:r>
            <a:r>
              <a:rPr lang="en-US" dirty="0" smtClean="0"/>
              <a:t> </a:t>
            </a:r>
            <a:r>
              <a:rPr lang="ml-IN" dirty="0" smtClean="0"/>
              <a:t>സ്വീകരിക്കുന്നതു൦</a:t>
            </a:r>
            <a:r>
              <a:rPr lang="en-US" dirty="0" smtClean="0"/>
              <a:t> </a:t>
            </a:r>
            <a:r>
              <a:rPr lang="ml-IN" dirty="0" smtClean="0"/>
              <a:t>ഒരു പോലെ</a:t>
            </a:r>
            <a:r>
              <a:rPr lang="en-US" dirty="0" smtClean="0"/>
              <a:t> </a:t>
            </a:r>
            <a:r>
              <a:rPr lang="ml-IN" dirty="0" smtClean="0"/>
              <a:t>പിശകാണ്.</a:t>
            </a:r>
            <a:endParaRPr lang="en-US" dirty="0" smtClean="0"/>
          </a:p>
          <a:p>
            <a:pPr marL="457200" indent="-457200"/>
            <a:r>
              <a:rPr lang="ml-IN" dirty="0" smtClean="0"/>
              <a:t>കവിതയുടെ സ്വഭാവ൦</a:t>
            </a:r>
            <a:r>
              <a:rPr lang="en-US" dirty="0" smtClean="0"/>
              <a:t> </a:t>
            </a:r>
          </a:p>
          <a:p>
            <a:pPr marL="857250" lvl="1" indent="-457200"/>
            <a:r>
              <a:rPr lang="ml-IN" dirty="0" smtClean="0"/>
              <a:t>സങ്കീർത്തന൦</a:t>
            </a:r>
            <a:r>
              <a:rPr lang="en-US" dirty="0" smtClean="0"/>
              <a:t>, </a:t>
            </a:r>
            <a:r>
              <a:rPr lang="ml-IN" dirty="0" smtClean="0"/>
              <a:t>ഗീത൦</a:t>
            </a:r>
            <a:r>
              <a:rPr lang="en-US" dirty="0" smtClean="0"/>
              <a:t>, </a:t>
            </a:r>
            <a:r>
              <a:rPr lang="ml-IN" dirty="0" smtClean="0"/>
              <a:t>മസ്കിൽ</a:t>
            </a:r>
            <a:r>
              <a:rPr lang="en-US" dirty="0" smtClean="0"/>
              <a:t>, </a:t>
            </a:r>
            <a:r>
              <a:rPr lang="ml-IN" dirty="0" smtClean="0"/>
              <a:t>ധ്യാനം</a:t>
            </a:r>
            <a:r>
              <a:rPr lang="en-US" dirty="0" smtClean="0"/>
              <a:t>, </a:t>
            </a:r>
            <a:r>
              <a:rPr lang="ml-IN" dirty="0" smtClean="0"/>
              <a:t>സ്വർണ്ണഗീത൦</a:t>
            </a:r>
            <a:r>
              <a:rPr lang="en-US" dirty="0" smtClean="0"/>
              <a:t>, </a:t>
            </a:r>
            <a:r>
              <a:rPr lang="ml-IN" dirty="0" smtClean="0"/>
              <a:t>വിഭ്രമ ഗീത൦</a:t>
            </a:r>
            <a:r>
              <a:rPr lang="en-US" dirty="0" smtClean="0"/>
              <a:t>, </a:t>
            </a:r>
            <a:r>
              <a:rPr lang="ml-IN" dirty="0" smtClean="0"/>
              <a:t>ഒരു</a:t>
            </a:r>
            <a:r>
              <a:rPr lang="en-US" dirty="0" smtClean="0"/>
              <a:t> </a:t>
            </a:r>
            <a:r>
              <a:rPr lang="ml-IN" dirty="0" smtClean="0"/>
              <a:t>പ്രാർത്ഥന</a:t>
            </a:r>
            <a:r>
              <a:rPr lang="en-US" dirty="0" smtClean="0"/>
              <a:t>.</a:t>
            </a:r>
          </a:p>
          <a:p>
            <a:pPr marL="457200" indent="-457200"/>
            <a:r>
              <a:rPr lang="ml-IN" dirty="0" smtClean="0"/>
              <a:t>സംഗീത വിന്യാസം സംബന്ധിച്ചുള്ളത്</a:t>
            </a:r>
            <a:endParaRPr lang="en-US" dirty="0" smtClean="0"/>
          </a:p>
          <a:p>
            <a:pPr marL="857250" lvl="1" indent="-457200"/>
            <a:r>
              <a:rPr lang="ml-IN" dirty="0" smtClean="0"/>
              <a:t>സംഗീത</a:t>
            </a:r>
            <a:r>
              <a:rPr lang="en-US" dirty="0" smtClean="0"/>
              <a:t> </a:t>
            </a:r>
            <a:r>
              <a:rPr lang="ml-IN" dirty="0" smtClean="0"/>
              <a:t>പ്രമാണിക്ക്</a:t>
            </a:r>
            <a:r>
              <a:rPr lang="en-US" dirty="0" smtClean="0"/>
              <a:t>, </a:t>
            </a:r>
            <a:r>
              <a:rPr lang="ml-IN" dirty="0" smtClean="0"/>
              <a:t>സേല</a:t>
            </a:r>
            <a:r>
              <a:rPr lang="en-US" dirty="0" smtClean="0"/>
              <a:t>, </a:t>
            </a:r>
          </a:p>
          <a:p>
            <a:r>
              <a:rPr lang="en-US" dirty="0" smtClean="0"/>
              <a:t>  </a:t>
            </a:r>
            <a:r>
              <a:rPr lang="ml-IN" dirty="0" smtClean="0"/>
              <a:t>ഉപകരണങ്ങളോട്</a:t>
            </a:r>
            <a:r>
              <a:rPr lang="en-US" dirty="0" smtClean="0"/>
              <a:t> </a:t>
            </a:r>
            <a:r>
              <a:rPr lang="ml-IN" dirty="0" smtClean="0"/>
              <a:t>ബന്ധപ്പെട്ട്</a:t>
            </a:r>
            <a:endParaRPr lang="en-US" dirty="0" smtClean="0"/>
          </a:p>
          <a:p>
            <a:pPr lvl="1"/>
            <a:r>
              <a:rPr lang="en-US" dirty="0" smtClean="0"/>
              <a:t> </a:t>
            </a:r>
            <a:r>
              <a:rPr lang="ml-IN" dirty="0" smtClean="0"/>
              <a:t>തന്ത്രിനാദ൦</a:t>
            </a:r>
            <a:r>
              <a:rPr lang="en-US" dirty="0" smtClean="0"/>
              <a:t>, </a:t>
            </a:r>
            <a:r>
              <a:rPr lang="ml-IN" dirty="0" smtClean="0"/>
              <a:t>വേണുനാദ൦</a:t>
            </a:r>
            <a:r>
              <a:rPr lang="en-US" dirty="0" smtClean="0"/>
              <a:t>, </a:t>
            </a:r>
            <a:r>
              <a:rPr lang="ml-IN" dirty="0" smtClean="0"/>
              <a:t>കന്യകമാർ</a:t>
            </a:r>
            <a:r>
              <a:rPr lang="en-US" dirty="0" smtClean="0"/>
              <a:t>, </a:t>
            </a:r>
            <a:r>
              <a:rPr lang="ml-IN" dirty="0" smtClean="0"/>
              <a:t>അഷ്ടമരാഗ൦</a:t>
            </a:r>
            <a:r>
              <a:rPr lang="en-US" dirty="0" smtClean="0"/>
              <a:t>, </a:t>
            </a:r>
            <a:r>
              <a:rPr lang="ml-IN" dirty="0" smtClean="0"/>
              <a:t>ഗത്യരാഗ൦</a:t>
            </a:r>
            <a:r>
              <a:rPr lang="en-US" dirty="0" smtClean="0"/>
              <a:t>, </a:t>
            </a:r>
            <a:r>
              <a:rPr lang="ml-IN" dirty="0" smtClean="0"/>
              <a:t>യെദൂഥൂൻ</a:t>
            </a:r>
            <a:r>
              <a:rPr lang="en-US" dirty="0" smtClean="0"/>
              <a:t>, </a:t>
            </a:r>
            <a:r>
              <a:rPr lang="ml-IN" dirty="0" smtClean="0"/>
              <a:t>പുത്രമരണ</a:t>
            </a:r>
            <a:r>
              <a:rPr lang="en-US" dirty="0" smtClean="0"/>
              <a:t> </a:t>
            </a:r>
            <a:r>
              <a:rPr lang="ml-IN" dirty="0" smtClean="0"/>
              <a:t>രാഗ൦</a:t>
            </a:r>
            <a:r>
              <a:rPr lang="en-US" dirty="0" smtClean="0"/>
              <a:t>, </a:t>
            </a:r>
            <a:r>
              <a:rPr lang="ml-IN" dirty="0" smtClean="0"/>
              <a:t>ഉഷസ്സിൻ</a:t>
            </a:r>
            <a:r>
              <a:rPr lang="en-US" dirty="0" smtClean="0"/>
              <a:t> </a:t>
            </a:r>
            <a:r>
              <a:rPr lang="ml-IN" dirty="0" smtClean="0"/>
              <a:t>മാൻപേട</a:t>
            </a:r>
            <a:r>
              <a:rPr lang="en-US" dirty="0" smtClean="0"/>
              <a:t>, </a:t>
            </a:r>
            <a:r>
              <a:rPr lang="ml-IN" dirty="0"/>
              <a:t>സാരസ </a:t>
            </a:r>
            <a:r>
              <a:rPr lang="ml-IN" dirty="0" smtClean="0"/>
              <a:t>രാഗ൦</a:t>
            </a:r>
            <a:r>
              <a:rPr lang="en-US" dirty="0" smtClean="0"/>
              <a:t>, </a:t>
            </a:r>
            <a:r>
              <a:rPr lang="ml-IN" dirty="0" smtClean="0"/>
              <a:t>ദൂരസ്ഥൻമാരുടെ</a:t>
            </a:r>
            <a:r>
              <a:rPr lang="en-US" dirty="0" smtClean="0"/>
              <a:t> </a:t>
            </a:r>
            <a:r>
              <a:rPr lang="ml-IN" dirty="0" smtClean="0"/>
              <a:t>ഇടയിൽ</a:t>
            </a:r>
            <a:r>
              <a:rPr lang="en-US" dirty="0" smtClean="0"/>
              <a:t> </a:t>
            </a:r>
            <a:r>
              <a:rPr lang="ml-IN" dirty="0" smtClean="0"/>
              <a:t>മിണ്ടാത്ത</a:t>
            </a:r>
            <a:r>
              <a:rPr lang="en-US" dirty="0" smtClean="0"/>
              <a:t> </a:t>
            </a:r>
            <a:r>
              <a:rPr lang="ml-IN" dirty="0" smtClean="0"/>
              <a:t>പ്രാവ്</a:t>
            </a:r>
            <a:r>
              <a:rPr lang="en-US" dirty="0" smtClean="0"/>
              <a:t>, </a:t>
            </a:r>
            <a:r>
              <a:rPr lang="ml-IN" dirty="0"/>
              <a:t>നശിപ്പിക്കരുതേ</a:t>
            </a:r>
            <a:r>
              <a:rPr lang="en-US" dirty="0" smtClean="0"/>
              <a:t> </a:t>
            </a:r>
            <a:r>
              <a:rPr lang="ml-IN" dirty="0" smtClean="0"/>
              <a:t> </a:t>
            </a:r>
            <a:r>
              <a:rPr lang="en-US" dirty="0" smtClean="0"/>
              <a:t>																	</a:t>
            </a:r>
          </a:p>
          <a:p>
            <a:pPr marL="457200" indent="-457200"/>
            <a:r>
              <a:rPr lang="ml-IN" dirty="0" smtClean="0"/>
              <a:t>ആരാധനാ സൂചിതമായത്</a:t>
            </a:r>
            <a:r>
              <a:rPr lang="en-US" dirty="0" smtClean="0"/>
              <a:t> </a:t>
            </a:r>
          </a:p>
          <a:p>
            <a:pPr marL="857250" lvl="1" indent="-457200"/>
            <a:r>
              <a:rPr lang="ml-IN" dirty="0"/>
              <a:t>ശബ്ബത്ത് </a:t>
            </a:r>
            <a:r>
              <a:rPr lang="ml-IN" dirty="0" smtClean="0"/>
              <a:t>നാൾക്കുള്ളത്</a:t>
            </a:r>
            <a:endParaRPr lang="en-US" dirty="0"/>
          </a:p>
          <a:p>
            <a:r>
              <a:rPr lang="en-US" dirty="0"/>
              <a:t> </a:t>
            </a:r>
            <a:r>
              <a:rPr lang="en-US" dirty="0" smtClean="0"/>
              <a:t> </a:t>
            </a:r>
            <a:r>
              <a:rPr lang="ml-IN" dirty="0" smtClean="0"/>
              <a:t>ചരിത്രസന്ദർഭസൂചിത൦</a:t>
            </a:r>
            <a:endParaRPr lang="en-US" dirty="0" smtClean="0"/>
          </a:p>
          <a:p>
            <a:pPr marL="457200" indent="-457200"/>
            <a:r>
              <a:rPr lang="ml-IN" dirty="0" smtClean="0"/>
              <a:t>ഗ്രന്ഥ കർത്തൃത്വം സൂചിപ്പിക്കുന്നവകൾ</a:t>
            </a:r>
            <a:endParaRPr lang="en-IN" dirty="0"/>
          </a:p>
        </p:txBody>
      </p:sp>
    </p:spTree>
    <p:extLst>
      <p:ext uri="{BB962C8B-B14F-4D97-AF65-F5344CB8AC3E}">
        <p14:creationId xmlns:p14="http://schemas.microsoft.com/office/powerpoint/2010/main" val="2794346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additive="base">
                                        <p:cTn id="4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anim calcmode="lin" valueType="num">
                                      <p:cBhvr additive="base">
                                        <p:cTn id="5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 calcmode="lin" valueType="num">
                                      <p:cBhvr additive="base">
                                        <p:cTn id="5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3">
                                            <p:txEl>
                                              <p:pRg st="11" end="11"/>
                                            </p:txEl>
                                          </p:spTgt>
                                        </p:tgtEl>
                                        <p:attrNameLst>
                                          <p:attrName>style.visibility</p:attrName>
                                        </p:attrNameLst>
                                      </p:cBhvr>
                                      <p:to>
                                        <p:strVal val="visible"/>
                                      </p:to>
                                    </p:set>
                                    <p:anim calcmode="lin" valueType="num">
                                      <p:cBhvr additive="base">
                                        <p:cTn id="6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190102"/>
          </a:xfrm>
        </p:spPr>
        <p:txBody>
          <a:bodyPr/>
          <a:lstStyle/>
          <a:p>
            <a:pPr algn="ctr"/>
            <a:r>
              <a:rPr lang="en-US" dirty="0" smtClean="0"/>
              <a:t>Characteristics of Hebrew Poetry </a:t>
            </a:r>
            <a:r>
              <a:rPr lang="ml-IN" sz="3200" dirty="0" smtClean="0"/>
              <a:t>എബ്രായകവിതയുടെ</a:t>
            </a:r>
            <a:r>
              <a:rPr lang="en-US" sz="3200" dirty="0" smtClean="0"/>
              <a:t> </a:t>
            </a:r>
            <a:r>
              <a:rPr lang="ml-IN" sz="3200" dirty="0" smtClean="0"/>
              <a:t>സവിശേഷതകൾ</a:t>
            </a:r>
            <a:endParaRPr lang="en-IN" sz="3200" dirty="0"/>
          </a:p>
        </p:txBody>
      </p:sp>
      <p:sp>
        <p:nvSpPr>
          <p:cNvPr id="3" name="Content Placeholder 2"/>
          <p:cNvSpPr>
            <a:spLocks noGrp="1"/>
          </p:cNvSpPr>
          <p:nvPr>
            <p:ph idx="1"/>
          </p:nvPr>
        </p:nvSpPr>
        <p:spPr/>
        <p:txBody>
          <a:bodyPr>
            <a:normAutofit/>
          </a:bodyPr>
          <a:lstStyle/>
          <a:p>
            <a:r>
              <a:rPr lang="en-US" dirty="0" smtClean="0"/>
              <a:t>Rhythm </a:t>
            </a:r>
            <a:r>
              <a:rPr lang="ml-IN" dirty="0" smtClean="0"/>
              <a:t>താള൦ </a:t>
            </a:r>
            <a:r>
              <a:rPr lang="ml-IN" dirty="0"/>
              <a:t>(</a:t>
            </a:r>
            <a:r>
              <a:rPr lang="ml-IN" dirty="0" smtClean="0"/>
              <a:t>ലയ൦)</a:t>
            </a:r>
            <a:r>
              <a:rPr lang="en-US" dirty="0" smtClean="0"/>
              <a:t> </a:t>
            </a:r>
          </a:p>
          <a:p>
            <a:r>
              <a:rPr lang="en-US" dirty="0" smtClean="0"/>
              <a:t>Parallelism </a:t>
            </a:r>
            <a:r>
              <a:rPr lang="ml-IN" dirty="0" smtClean="0"/>
              <a:t>സമാന്തരത്വ൦</a:t>
            </a:r>
            <a:endParaRPr lang="en-US" dirty="0" smtClean="0"/>
          </a:p>
          <a:p>
            <a:pPr marL="857250" lvl="1" indent="-457200">
              <a:buAutoNum type="arabicPeriod"/>
            </a:pPr>
            <a:r>
              <a:rPr lang="en-US" dirty="0" smtClean="0"/>
              <a:t>Complete Parallelism      </a:t>
            </a:r>
            <a:r>
              <a:rPr lang="ml-IN" dirty="0" smtClean="0"/>
              <a:t>സമ്പൂർണ്ണ</a:t>
            </a:r>
            <a:r>
              <a:rPr lang="en-US" dirty="0" smtClean="0"/>
              <a:t> </a:t>
            </a:r>
            <a:r>
              <a:rPr lang="ml-IN" dirty="0" smtClean="0"/>
              <a:t>സമാന്തരത്വ൦</a:t>
            </a:r>
            <a:endParaRPr lang="en-US" dirty="0" smtClean="0"/>
          </a:p>
          <a:p>
            <a:pPr marL="857250" lvl="1" indent="-457200">
              <a:buAutoNum type="arabicPeriod"/>
            </a:pPr>
            <a:r>
              <a:rPr lang="en-US" dirty="0" smtClean="0"/>
              <a:t>Antithetic Parallelism       </a:t>
            </a:r>
            <a:r>
              <a:rPr lang="ml-IN" dirty="0" smtClean="0"/>
              <a:t>വിപരീത</a:t>
            </a:r>
            <a:r>
              <a:rPr lang="en-US" dirty="0" smtClean="0"/>
              <a:t> </a:t>
            </a:r>
            <a:r>
              <a:rPr lang="ml-IN" dirty="0" smtClean="0"/>
              <a:t>സമാന്തരത്വ൦</a:t>
            </a:r>
            <a:endParaRPr lang="en-US" dirty="0" smtClean="0"/>
          </a:p>
          <a:p>
            <a:pPr marL="857250" lvl="1" indent="-457200">
              <a:buAutoNum type="arabicPeriod"/>
            </a:pPr>
            <a:r>
              <a:rPr lang="en-US" dirty="0" smtClean="0"/>
              <a:t>Synonymous Parallelism  </a:t>
            </a:r>
            <a:r>
              <a:rPr lang="ml-IN" dirty="0" smtClean="0"/>
              <a:t>ആവർത്തന</a:t>
            </a:r>
            <a:r>
              <a:rPr lang="en-US" dirty="0" smtClean="0"/>
              <a:t> </a:t>
            </a:r>
            <a:r>
              <a:rPr lang="ml-IN" dirty="0"/>
              <a:t>സമാന്തരത്വ൦</a:t>
            </a:r>
            <a:endParaRPr lang="en-US" dirty="0" smtClean="0"/>
          </a:p>
          <a:p>
            <a:pPr marL="857250" lvl="1" indent="-457200">
              <a:buAutoNum type="arabicPeriod"/>
            </a:pPr>
            <a:r>
              <a:rPr lang="en-US" dirty="0" smtClean="0"/>
              <a:t>Synthetic Parallelism        </a:t>
            </a:r>
            <a:r>
              <a:rPr lang="ml-IN" dirty="0"/>
              <a:t>സ൦ശ്ലേഷണ</a:t>
            </a:r>
            <a:r>
              <a:rPr lang="en-US" dirty="0" smtClean="0"/>
              <a:t>  </a:t>
            </a:r>
            <a:r>
              <a:rPr lang="ml-IN" dirty="0" smtClean="0"/>
              <a:t>സമാന്തരത്വ൦</a:t>
            </a:r>
            <a:endParaRPr lang="en-US" dirty="0" smtClean="0"/>
          </a:p>
          <a:p>
            <a:pPr marL="857250" lvl="1" indent="-457200">
              <a:buAutoNum type="arabicPeriod"/>
            </a:pPr>
            <a:r>
              <a:rPr lang="en-US" dirty="0" smtClean="0"/>
              <a:t>Incomplete Parallelism    </a:t>
            </a:r>
            <a:r>
              <a:rPr lang="ml-IN" dirty="0"/>
              <a:t>അപൂർണ്ണ</a:t>
            </a:r>
            <a:r>
              <a:rPr lang="en-US" dirty="0" smtClean="0"/>
              <a:t> </a:t>
            </a:r>
            <a:r>
              <a:rPr lang="ml-IN" dirty="0"/>
              <a:t>സമാന്തരത്വ൦</a:t>
            </a:r>
            <a:endParaRPr lang="en-US" dirty="0" smtClean="0"/>
          </a:p>
          <a:p>
            <a:pPr marL="857250" lvl="1" indent="-457200">
              <a:buAutoNum type="arabicPeriod"/>
            </a:pPr>
            <a:r>
              <a:rPr lang="en-US" dirty="0" smtClean="0"/>
              <a:t>Climatic Parallelism          </a:t>
            </a:r>
            <a:r>
              <a:rPr lang="ml-IN" dirty="0"/>
              <a:t>പരമകാഷ്ഠോന്മുഖ</a:t>
            </a:r>
            <a:r>
              <a:rPr lang="en-US" dirty="0" smtClean="0"/>
              <a:t> </a:t>
            </a:r>
            <a:r>
              <a:rPr lang="ml-IN" dirty="0"/>
              <a:t>സമാന്തരത്വ൦</a:t>
            </a:r>
            <a:endParaRPr lang="en-US" dirty="0" smtClean="0"/>
          </a:p>
          <a:p>
            <a:r>
              <a:rPr lang="en-US" dirty="0"/>
              <a:t> </a:t>
            </a:r>
            <a:r>
              <a:rPr lang="en-US" dirty="0" smtClean="0"/>
              <a:t> Structure   </a:t>
            </a:r>
            <a:r>
              <a:rPr lang="ml-IN" dirty="0"/>
              <a:t>ഘടന</a:t>
            </a:r>
            <a:endParaRPr lang="en-US" dirty="0" smtClean="0"/>
          </a:p>
          <a:p>
            <a:r>
              <a:rPr lang="en-US" dirty="0" smtClean="0"/>
              <a:t>  Acrostics  Psalm  </a:t>
            </a:r>
            <a:r>
              <a:rPr lang="ml-IN" dirty="0" smtClean="0"/>
              <a:t>അക്ഷരമാലാക്രമത്തിലുള്ള</a:t>
            </a:r>
            <a:r>
              <a:rPr lang="en-US" dirty="0" smtClean="0"/>
              <a:t> </a:t>
            </a:r>
            <a:r>
              <a:rPr lang="ml-IN" dirty="0"/>
              <a:t>സങ്കീർത്തനങ്ങൾ</a:t>
            </a:r>
            <a:endParaRPr lang="en-IN" dirty="0"/>
          </a:p>
        </p:txBody>
      </p:sp>
    </p:spTree>
    <p:extLst>
      <p:ext uri="{BB962C8B-B14F-4D97-AF65-F5344CB8AC3E}">
        <p14:creationId xmlns:p14="http://schemas.microsoft.com/office/powerpoint/2010/main" val="1911124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ELEMENTS OF WORSHIP</a:t>
            </a:r>
            <a:endParaRPr lang="en-IN" dirty="0"/>
          </a:p>
        </p:txBody>
      </p:sp>
      <p:sp>
        <p:nvSpPr>
          <p:cNvPr id="3" name="Content Placeholder 2"/>
          <p:cNvSpPr>
            <a:spLocks noGrp="1"/>
          </p:cNvSpPr>
          <p:nvPr>
            <p:ph idx="1"/>
          </p:nvPr>
        </p:nvSpPr>
        <p:spPr/>
        <p:txBody>
          <a:bodyPr/>
          <a:lstStyle/>
          <a:p>
            <a:pPr marL="457200" indent="-457200">
              <a:buFont typeface="+mj-lt"/>
              <a:buAutoNum type="arabicPeriod"/>
            </a:pPr>
            <a:r>
              <a:rPr lang="en-US" dirty="0" smtClean="0"/>
              <a:t>God should be in the Centre </a:t>
            </a:r>
            <a:r>
              <a:rPr lang="ml-IN" dirty="0"/>
              <a:t>ദൈവമാണ് കേന്ദ്രം</a:t>
            </a:r>
            <a:endParaRPr lang="en-US" dirty="0" smtClean="0"/>
          </a:p>
          <a:p>
            <a:pPr marL="457200" indent="-457200">
              <a:buFont typeface="+mj-lt"/>
              <a:buAutoNum type="arabicPeriod"/>
            </a:pPr>
            <a:r>
              <a:rPr lang="en-US" dirty="0" smtClean="0"/>
              <a:t>We should be completely frank </a:t>
            </a:r>
            <a:r>
              <a:rPr lang="ml-IN" dirty="0" smtClean="0"/>
              <a:t>നമ്മൾക്ക്</a:t>
            </a:r>
            <a:r>
              <a:rPr lang="en-US" dirty="0" smtClean="0"/>
              <a:t> </a:t>
            </a:r>
            <a:r>
              <a:rPr lang="ml-IN" dirty="0" smtClean="0"/>
              <a:t>വളരെ സുതാര്യമായി</a:t>
            </a:r>
            <a:r>
              <a:rPr lang="en-US" dirty="0" smtClean="0"/>
              <a:t> </a:t>
            </a:r>
            <a:r>
              <a:rPr lang="ml-IN" dirty="0" smtClean="0"/>
              <a:t>ആരാധനയിൽ</a:t>
            </a:r>
            <a:r>
              <a:rPr lang="en-US" dirty="0" smtClean="0"/>
              <a:t> </a:t>
            </a:r>
            <a:r>
              <a:rPr lang="ml-IN" dirty="0" smtClean="0"/>
              <a:t>പങ്കാളികൾ</a:t>
            </a:r>
            <a:r>
              <a:rPr lang="en-US" dirty="0" smtClean="0"/>
              <a:t> </a:t>
            </a:r>
            <a:r>
              <a:rPr lang="ml-IN" dirty="0" smtClean="0"/>
              <a:t>ആകുവാൻ</a:t>
            </a:r>
            <a:r>
              <a:rPr lang="en-US" dirty="0" smtClean="0"/>
              <a:t> </a:t>
            </a:r>
            <a:r>
              <a:rPr lang="ml-IN" dirty="0" smtClean="0"/>
              <a:t>സാധിക്കുന്നു.</a:t>
            </a:r>
            <a:endParaRPr lang="en-US" dirty="0" smtClean="0"/>
          </a:p>
          <a:p>
            <a:pPr marL="0" indent="0">
              <a:buNone/>
            </a:pPr>
            <a:r>
              <a:rPr lang="en-US" dirty="0"/>
              <a:t> </a:t>
            </a:r>
            <a:r>
              <a:rPr lang="en-US" dirty="0" smtClean="0"/>
              <a:t>  </a:t>
            </a:r>
            <a:endParaRPr lang="en-US" sz="2800" dirty="0" smtClean="0"/>
          </a:p>
          <a:p>
            <a:pPr marL="400050" lvl="1" indent="0">
              <a:buNone/>
            </a:pPr>
            <a:r>
              <a:rPr lang="en-US" sz="2600" dirty="0" smtClean="0"/>
              <a:t>  </a:t>
            </a:r>
            <a:r>
              <a:rPr lang="en-US" sz="2600" dirty="0"/>
              <a:t>PLEASE MAKE AN ASSIGNMENT ABOUT TITLES. </a:t>
            </a:r>
            <a:endParaRPr lang="en-US" sz="2600" dirty="0" smtClean="0"/>
          </a:p>
          <a:p>
            <a:pPr marL="400050" lvl="1" indent="0">
              <a:buNone/>
            </a:pPr>
            <a:r>
              <a:rPr lang="en-US" sz="2600" dirty="0"/>
              <a:t> </a:t>
            </a:r>
            <a:r>
              <a:rPr lang="ml-IN" sz="2600" dirty="0" smtClean="0"/>
              <a:t>ശീർഷകങ്ങളെക്കുറിച്ച്</a:t>
            </a:r>
            <a:r>
              <a:rPr lang="en-US" sz="2600" dirty="0" smtClean="0"/>
              <a:t> </a:t>
            </a:r>
            <a:r>
              <a:rPr lang="ml-IN" sz="2600" dirty="0" smtClean="0"/>
              <a:t>ഒരു</a:t>
            </a:r>
            <a:r>
              <a:rPr lang="en-US" sz="2600" dirty="0" smtClean="0"/>
              <a:t> </a:t>
            </a:r>
            <a:r>
              <a:rPr lang="ml-IN" sz="2600" dirty="0" smtClean="0"/>
              <a:t>അസ്സൈൻമെന്റ് </a:t>
            </a:r>
            <a:r>
              <a:rPr lang="ml-IN" sz="2600" dirty="0"/>
              <a:t>തയ്യാറാക്കുക.</a:t>
            </a:r>
            <a:endParaRPr lang="en-IN" sz="2600" dirty="0"/>
          </a:p>
        </p:txBody>
      </p:sp>
    </p:spTree>
    <p:extLst>
      <p:ext uri="{BB962C8B-B14F-4D97-AF65-F5344CB8AC3E}">
        <p14:creationId xmlns:p14="http://schemas.microsoft.com/office/powerpoint/2010/main" val="13150770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ml-IN" dirty="0"/>
              <a:t>സങ്കീർത്തനങ്ങളിലെ സാഹിത്യ </a:t>
            </a:r>
            <a:r>
              <a:rPr lang="ml-IN" dirty="0" smtClean="0"/>
              <a:t>രൂപങ്ങൾ</a:t>
            </a:r>
            <a:endParaRPr lang="en-IN" dirty="0"/>
          </a:p>
        </p:txBody>
      </p:sp>
      <p:sp>
        <p:nvSpPr>
          <p:cNvPr id="3" name="Content Placeholder 2"/>
          <p:cNvSpPr>
            <a:spLocks noGrp="1"/>
          </p:cNvSpPr>
          <p:nvPr>
            <p:ph idx="1"/>
          </p:nvPr>
        </p:nvSpPr>
        <p:spPr>
          <a:xfrm>
            <a:off x="1034946" y="1734796"/>
            <a:ext cx="8946541" cy="4811282"/>
          </a:xfrm>
        </p:spPr>
        <p:txBody>
          <a:bodyPr>
            <a:normAutofit fontScale="85000" lnSpcReduction="20000"/>
          </a:bodyPr>
          <a:lstStyle/>
          <a:p>
            <a:r>
              <a:rPr lang="en-US" dirty="0" smtClean="0"/>
              <a:t>Different Types of Psalms</a:t>
            </a:r>
          </a:p>
          <a:p>
            <a:r>
              <a:rPr lang="en-US" dirty="0" smtClean="0"/>
              <a:t>1. Hymn  - (A Psalm of praise) </a:t>
            </a:r>
            <a:r>
              <a:rPr lang="ml-IN" dirty="0" smtClean="0"/>
              <a:t>കീർത്തനങ്ങൾ,ഗീതങ്ങൾ</a:t>
            </a:r>
            <a:r>
              <a:rPr lang="en-US" dirty="0" smtClean="0"/>
              <a:t>, </a:t>
            </a:r>
            <a:r>
              <a:rPr lang="ml-IN" dirty="0"/>
              <a:t>മലയാളത്തിൽ </a:t>
            </a:r>
            <a:r>
              <a:rPr lang="en-IN" b="1" dirty="0"/>
              <a:t>HYMN</a:t>
            </a:r>
            <a:r>
              <a:rPr lang="en-IN" dirty="0"/>
              <a:t> (</a:t>
            </a:r>
            <a:r>
              <a:rPr lang="ml-IN" dirty="0"/>
              <a:t>ഹിം) എന്നാൽ </a:t>
            </a:r>
            <a:r>
              <a:rPr lang="ml-IN" b="1" dirty="0"/>
              <a:t>സ്തോത്രം</a:t>
            </a:r>
            <a:r>
              <a:rPr lang="ml-IN" dirty="0"/>
              <a:t>, </a:t>
            </a:r>
            <a:r>
              <a:rPr lang="ml-IN" b="1" dirty="0"/>
              <a:t>ഭക്തിഗാനം</a:t>
            </a:r>
            <a:r>
              <a:rPr lang="ml-IN" dirty="0"/>
              <a:t>, അല്ലെങ്കിൽ </a:t>
            </a:r>
            <a:r>
              <a:rPr lang="ml-IN" b="1" dirty="0"/>
              <a:t>കീർത്തനം</a:t>
            </a:r>
            <a:r>
              <a:rPr lang="ml-IN" dirty="0"/>
              <a:t> എന്നാണ് അർത്ഥം. ദൈവത്തെയോ പ്രകൃതിയെയോ സ്തുതിച്ച് പാടുന്ന ഗാനങ്ങളെയാണ് ഇങ്ങനെ വിളിക്കുന്നത്.</a:t>
            </a:r>
            <a:endParaRPr lang="en-US" dirty="0" smtClean="0"/>
          </a:p>
          <a:p>
            <a:r>
              <a:rPr lang="en-US" dirty="0" smtClean="0"/>
              <a:t>A descriptive Psalm of praise </a:t>
            </a:r>
            <a:endParaRPr lang="en-US" dirty="0"/>
          </a:p>
          <a:p>
            <a:pPr lvl="1"/>
            <a:r>
              <a:rPr lang="ml-IN" dirty="0"/>
              <a:t>ദൈവത്തിന്റെ സ്വഭാവത്തെയും മഹിമയെയും വർണ്ണിക്കുന്ന </a:t>
            </a:r>
            <a:r>
              <a:rPr lang="ml-IN" dirty="0" smtClean="0"/>
              <a:t>സങ്കീർത്തനങ്ങളെയാണ്.അതായത്</a:t>
            </a:r>
            <a:r>
              <a:rPr lang="ml-IN" dirty="0"/>
              <a:t>, ദൈവത്തിന്റെ വലിയ പ്രവൃത്തികൾ മാത്രമല്ല, അവിടുത്തെ സ്വഭാവം, കാരുണ്യം, വിശ്വസ്തത എന്നിവയെക്കുറിച്ചെല്ലാം പാടിപ്പുകഴ്ത്തുന്ന ഭാഗങ്ങളെയാണ് അങ്ങനെ വിശേഷിപ്പിക്കുന്നത്. മലയാളത്തിൽ ഇതിനെ ദൈവത്തിന്റെ മഹിമയെ വർണ്ണിക്കുന്ന സ്തുതിസങ്കീർത്തനം എന്ന് </a:t>
            </a:r>
            <a:r>
              <a:rPr lang="ml-IN" dirty="0" smtClean="0"/>
              <a:t>പറയാം</a:t>
            </a:r>
            <a:r>
              <a:rPr lang="en-US" dirty="0"/>
              <a:t>.</a:t>
            </a:r>
            <a:endParaRPr lang="en-US" dirty="0" smtClean="0"/>
          </a:p>
          <a:p>
            <a:r>
              <a:rPr lang="en-US" dirty="0" smtClean="0"/>
              <a:t>Construction of Hymn</a:t>
            </a:r>
            <a:r>
              <a:rPr lang="en-IN" dirty="0"/>
              <a:t> </a:t>
            </a:r>
            <a:r>
              <a:rPr lang="en-IN" dirty="0" smtClean="0"/>
              <a:t> : two basic elements</a:t>
            </a:r>
          </a:p>
          <a:p>
            <a:pPr marL="457200" indent="-457200">
              <a:buFont typeface="+mj-lt"/>
              <a:buAutoNum type="arabicPeriod"/>
            </a:pPr>
            <a:r>
              <a:rPr lang="en-US" dirty="0" smtClean="0"/>
              <a:t>Call to worship : </a:t>
            </a:r>
            <a:r>
              <a:rPr lang="ml-IN" dirty="0"/>
              <a:t>ആരാധനയ്ക്കായിട്ടുള്ള </a:t>
            </a:r>
            <a:r>
              <a:rPr lang="ml-IN" dirty="0" smtClean="0"/>
              <a:t>ആഹ്വാന൦</a:t>
            </a:r>
            <a:endParaRPr lang="en-US" dirty="0" smtClean="0"/>
          </a:p>
          <a:p>
            <a:pPr marL="457200" indent="-457200">
              <a:buFont typeface="+mj-lt"/>
              <a:buAutoNum type="arabicPeriod"/>
            </a:pPr>
            <a:r>
              <a:rPr lang="en-US" dirty="0" smtClean="0"/>
              <a:t>Description of What God has done and What God is like                                                          </a:t>
            </a:r>
            <a:r>
              <a:rPr lang="ml-IN" dirty="0" smtClean="0"/>
              <a:t>ദൈവ൦ </a:t>
            </a:r>
            <a:r>
              <a:rPr lang="ml-IN" dirty="0"/>
              <a:t>എന്തു </a:t>
            </a:r>
            <a:r>
              <a:rPr lang="ml-IN" dirty="0" smtClean="0"/>
              <a:t>ചെയ്തു</a:t>
            </a:r>
            <a:r>
              <a:rPr lang="en-US" dirty="0" smtClean="0"/>
              <a:t> / </a:t>
            </a:r>
            <a:r>
              <a:rPr lang="ml-IN" dirty="0"/>
              <a:t>ദൈവം </a:t>
            </a:r>
            <a:r>
              <a:rPr lang="ml-IN" dirty="0" smtClean="0"/>
              <a:t>എന്തായിരിക്കുന്നു</a:t>
            </a:r>
            <a:r>
              <a:rPr lang="en-US" dirty="0" smtClean="0"/>
              <a:t>   example Ps 103.</a:t>
            </a:r>
          </a:p>
          <a:p>
            <a:r>
              <a:rPr lang="en-US" dirty="0" smtClean="0"/>
              <a:t>Call to worship 103: 1- 2, </a:t>
            </a:r>
          </a:p>
          <a:p>
            <a:r>
              <a:rPr lang="en-US" dirty="0" smtClean="0"/>
              <a:t>What God has done 3 – 5</a:t>
            </a:r>
          </a:p>
          <a:p>
            <a:pPr marL="0" indent="0">
              <a:buNone/>
            </a:pPr>
            <a:endParaRPr lang="en-US" dirty="0" smtClean="0"/>
          </a:p>
          <a:p>
            <a:endParaRPr lang="en-US" dirty="0" smtClean="0"/>
          </a:p>
          <a:p>
            <a:endParaRPr lang="en-US" dirty="0" smtClean="0"/>
          </a:p>
        </p:txBody>
      </p:sp>
    </p:spTree>
    <p:extLst>
      <p:ext uri="{BB962C8B-B14F-4D97-AF65-F5344CB8AC3E}">
        <p14:creationId xmlns:p14="http://schemas.microsoft.com/office/powerpoint/2010/main" val="2668427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 calcmode="lin" valueType="num">
                                      <p:cBhvr additive="base">
                                        <p:cTn id="5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189248"/>
            <a:ext cx="9404723" cy="973126"/>
          </a:xfrm>
        </p:spPr>
        <p:txBody>
          <a:bodyPr/>
          <a:lstStyle/>
          <a:p>
            <a:pPr algn="ctr"/>
            <a:r>
              <a:rPr lang="en-US" dirty="0" smtClean="0"/>
              <a:t>Example for Hymn (Basic Elements)</a:t>
            </a:r>
            <a:endParaRPr lang="en-IN" dirty="0"/>
          </a:p>
        </p:txBody>
      </p:sp>
      <p:sp>
        <p:nvSpPr>
          <p:cNvPr id="3" name="Content Placeholder 2"/>
          <p:cNvSpPr>
            <a:spLocks noGrp="1"/>
          </p:cNvSpPr>
          <p:nvPr>
            <p:ph idx="1"/>
          </p:nvPr>
        </p:nvSpPr>
        <p:spPr/>
        <p:txBody>
          <a:bodyPr/>
          <a:lstStyle/>
          <a:p>
            <a:r>
              <a:rPr lang="en-US" dirty="0" smtClean="0"/>
              <a:t>Call to worship</a:t>
            </a:r>
          </a:p>
          <a:p>
            <a:r>
              <a:rPr lang="en-US" dirty="0" smtClean="0"/>
              <a:t>105</a:t>
            </a:r>
          </a:p>
          <a:p>
            <a:r>
              <a:rPr lang="en-US" dirty="0" smtClean="0"/>
              <a:t>105 : 1-6</a:t>
            </a:r>
          </a:p>
          <a:p>
            <a:r>
              <a:rPr lang="en-US" dirty="0" smtClean="0"/>
              <a:t>29</a:t>
            </a:r>
          </a:p>
          <a:p>
            <a:r>
              <a:rPr lang="en-US" dirty="0" err="1" smtClean="0"/>
              <a:t>Vss</a:t>
            </a:r>
            <a:r>
              <a:rPr lang="en-US" dirty="0" smtClean="0"/>
              <a:t> 1,2.   God’s work 3 - 11</a:t>
            </a:r>
          </a:p>
          <a:p>
            <a:r>
              <a:rPr lang="en-US" dirty="0" smtClean="0"/>
              <a:t>33: 1 – 3                      4 - 7</a:t>
            </a:r>
          </a:p>
          <a:p>
            <a:r>
              <a:rPr lang="en-US" dirty="0" smtClean="0"/>
              <a:t>47 : 1                           2 - 5</a:t>
            </a:r>
          </a:p>
          <a:p>
            <a:endParaRPr lang="en-IN" dirty="0"/>
          </a:p>
        </p:txBody>
      </p:sp>
    </p:spTree>
    <p:extLst>
      <p:ext uri="{BB962C8B-B14F-4D97-AF65-F5344CB8AC3E}">
        <p14:creationId xmlns:p14="http://schemas.microsoft.com/office/powerpoint/2010/main" val="720034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Attributes of God mentioned in the following Psalms</a:t>
            </a:r>
            <a:endParaRPr lang="en-IN" dirty="0"/>
          </a:p>
        </p:txBody>
      </p:sp>
      <p:sp>
        <p:nvSpPr>
          <p:cNvPr id="3" name="Content Placeholder 2"/>
          <p:cNvSpPr>
            <a:spLocks noGrp="1"/>
          </p:cNvSpPr>
          <p:nvPr>
            <p:ph idx="1"/>
          </p:nvPr>
        </p:nvSpPr>
        <p:spPr/>
        <p:txBody>
          <a:bodyPr/>
          <a:lstStyle/>
          <a:p>
            <a:r>
              <a:rPr lang="en-US" dirty="0" smtClean="0"/>
              <a:t>96</a:t>
            </a:r>
          </a:p>
          <a:p>
            <a:r>
              <a:rPr lang="en-US" dirty="0" smtClean="0"/>
              <a:t>99</a:t>
            </a:r>
          </a:p>
          <a:p>
            <a:r>
              <a:rPr lang="en-US" dirty="0" smtClean="0"/>
              <a:t>136</a:t>
            </a:r>
          </a:p>
          <a:p>
            <a:r>
              <a:rPr lang="en-US" dirty="0" smtClean="0"/>
              <a:t>105 – 107</a:t>
            </a:r>
          </a:p>
          <a:p>
            <a:endParaRPr lang="en-IN" dirty="0"/>
          </a:p>
        </p:txBody>
      </p:sp>
    </p:spTree>
    <p:extLst>
      <p:ext uri="{BB962C8B-B14F-4D97-AF65-F5344CB8AC3E}">
        <p14:creationId xmlns:p14="http://schemas.microsoft.com/office/powerpoint/2010/main" val="479769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EXPOSITION OF PSALMS </a:t>
            </a:r>
            <a:br>
              <a:rPr lang="en-US" dirty="0" smtClean="0"/>
            </a:br>
            <a:r>
              <a:rPr lang="ml-IN" sz="3200" dirty="0" smtClean="0"/>
              <a:t>സങ്കീർത്തന൦</a:t>
            </a:r>
            <a:r>
              <a:rPr lang="en-US" sz="3200" dirty="0" smtClean="0"/>
              <a:t> </a:t>
            </a:r>
            <a:r>
              <a:rPr lang="ml-IN" sz="3200" dirty="0" smtClean="0"/>
              <a:t>വിശദീകരിക്കുന്ന</a:t>
            </a:r>
            <a:r>
              <a:rPr lang="en-US" sz="3200" dirty="0" smtClean="0"/>
              <a:t> </a:t>
            </a:r>
            <a:r>
              <a:rPr lang="ml-IN" sz="3200" dirty="0" smtClean="0"/>
              <a:t>വിധം</a:t>
            </a:r>
            <a:endParaRPr lang="en-IN" sz="3200" dirty="0"/>
          </a:p>
        </p:txBody>
      </p:sp>
      <p:sp>
        <p:nvSpPr>
          <p:cNvPr id="3" name="Content Placeholder 2"/>
          <p:cNvSpPr>
            <a:spLocks noGrp="1"/>
          </p:cNvSpPr>
          <p:nvPr>
            <p:ph idx="1"/>
          </p:nvPr>
        </p:nvSpPr>
        <p:spPr>
          <a:xfrm>
            <a:off x="1104293" y="2138376"/>
            <a:ext cx="8946541" cy="3818043"/>
          </a:xfrm>
        </p:spPr>
        <p:txBody>
          <a:bodyPr>
            <a:normAutofit/>
          </a:bodyPr>
          <a:lstStyle/>
          <a:p>
            <a:r>
              <a:rPr lang="en-US" dirty="0" smtClean="0"/>
              <a:t>Psalms 8 and 19</a:t>
            </a:r>
          </a:p>
          <a:p>
            <a:r>
              <a:rPr lang="en-US" dirty="0" smtClean="0"/>
              <a:t>Call to worship is missing in both Psalms</a:t>
            </a:r>
          </a:p>
          <a:p>
            <a:r>
              <a:rPr lang="en-US" dirty="0" smtClean="0"/>
              <a:t>How to expound a Psalm  </a:t>
            </a:r>
            <a:r>
              <a:rPr lang="ml-IN" dirty="0" smtClean="0"/>
              <a:t>സങ്കീർത്തന൦</a:t>
            </a:r>
            <a:r>
              <a:rPr lang="en-US" dirty="0" smtClean="0"/>
              <a:t> </a:t>
            </a:r>
            <a:r>
              <a:rPr lang="ml-IN" dirty="0" smtClean="0"/>
              <a:t>വിശദീകരിക്കുന്ന</a:t>
            </a:r>
            <a:r>
              <a:rPr lang="en-US" dirty="0" smtClean="0"/>
              <a:t> </a:t>
            </a:r>
            <a:r>
              <a:rPr lang="ml-IN" dirty="0" smtClean="0"/>
              <a:t>വിധം</a:t>
            </a:r>
            <a:endParaRPr lang="en-US" dirty="0" smtClean="0"/>
          </a:p>
          <a:p>
            <a:r>
              <a:rPr lang="ml-IN" dirty="0" smtClean="0"/>
              <a:t>നാലു</a:t>
            </a:r>
            <a:r>
              <a:rPr lang="en-US" dirty="0" smtClean="0"/>
              <a:t> </a:t>
            </a:r>
            <a:r>
              <a:rPr lang="ml-IN" dirty="0" smtClean="0"/>
              <a:t>പ്രധാന</a:t>
            </a:r>
            <a:r>
              <a:rPr lang="en-US" dirty="0" smtClean="0"/>
              <a:t> </a:t>
            </a:r>
            <a:r>
              <a:rPr lang="ml-IN" dirty="0" smtClean="0"/>
              <a:t>ഘടകങ്ങൾ</a:t>
            </a:r>
            <a:endParaRPr lang="en-US" dirty="0" smtClean="0"/>
          </a:p>
          <a:p>
            <a:pPr marL="457200" indent="-457200">
              <a:buFont typeface="+mj-lt"/>
              <a:buAutoNum type="arabicPeriod"/>
            </a:pPr>
            <a:r>
              <a:rPr lang="en-US" dirty="0" smtClean="0"/>
              <a:t>Life Situation     </a:t>
            </a:r>
            <a:r>
              <a:rPr lang="ml-IN" dirty="0" smtClean="0"/>
              <a:t>ജീവിത/ചരിത്ര</a:t>
            </a:r>
            <a:r>
              <a:rPr lang="en-US" dirty="0" smtClean="0"/>
              <a:t> </a:t>
            </a:r>
            <a:r>
              <a:rPr lang="ml-IN" dirty="0" smtClean="0"/>
              <a:t>പശ്ചാത്തലം</a:t>
            </a:r>
            <a:r>
              <a:rPr lang="en-US" dirty="0"/>
              <a:t> </a:t>
            </a:r>
            <a:r>
              <a:rPr lang="en-US" dirty="0" smtClean="0"/>
              <a:t>                                “</a:t>
            </a:r>
            <a:r>
              <a:rPr lang="en-US" dirty="0" err="1" smtClean="0"/>
              <a:t>Sitz</a:t>
            </a:r>
            <a:r>
              <a:rPr lang="en-US" dirty="0" smtClean="0"/>
              <a:t> </a:t>
            </a:r>
            <a:r>
              <a:rPr lang="en-US" dirty="0" err="1" smtClean="0"/>
              <a:t>im</a:t>
            </a:r>
            <a:r>
              <a:rPr lang="en-US" dirty="0" smtClean="0"/>
              <a:t> </a:t>
            </a:r>
            <a:r>
              <a:rPr lang="en-US" dirty="0" err="1" smtClean="0"/>
              <a:t>Leben</a:t>
            </a:r>
            <a:r>
              <a:rPr lang="en-US" dirty="0" smtClean="0"/>
              <a:t>” (German Phrase)  meaning “Setting in life” </a:t>
            </a:r>
          </a:p>
          <a:p>
            <a:pPr marL="457200" indent="-457200">
              <a:buFont typeface="+mj-lt"/>
              <a:buAutoNum type="arabicPeriod"/>
            </a:pPr>
            <a:r>
              <a:rPr lang="en-US" dirty="0" smtClean="0"/>
              <a:t>Main Intent       </a:t>
            </a:r>
            <a:r>
              <a:rPr lang="ml-IN" dirty="0" smtClean="0"/>
              <a:t>പ്രധാന</a:t>
            </a:r>
            <a:r>
              <a:rPr lang="en-US" dirty="0" smtClean="0"/>
              <a:t> </a:t>
            </a:r>
            <a:r>
              <a:rPr lang="ml-IN" dirty="0" smtClean="0"/>
              <a:t>ഉദ്ദേശം</a:t>
            </a:r>
            <a:endParaRPr lang="en-US" dirty="0" smtClean="0"/>
          </a:p>
          <a:p>
            <a:pPr marL="457200" indent="-457200">
              <a:buFont typeface="+mj-lt"/>
              <a:buAutoNum type="arabicPeriod"/>
            </a:pPr>
            <a:r>
              <a:rPr lang="en-US" dirty="0" smtClean="0"/>
              <a:t>Detailed Study </a:t>
            </a:r>
            <a:r>
              <a:rPr lang="ml-IN" dirty="0" smtClean="0"/>
              <a:t>വിശദമായ</a:t>
            </a:r>
            <a:r>
              <a:rPr lang="en-US" dirty="0" smtClean="0"/>
              <a:t> </a:t>
            </a:r>
            <a:r>
              <a:rPr lang="ml-IN" dirty="0" smtClean="0"/>
              <a:t>പഠനം</a:t>
            </a:r>
            <a:endParaRPr lang="en-US" dirty="0" smtClean="0"/>
          </a:p>
          <a:p>
            <a:pPr marL="457200" indent="-457200">
              <a:buFont typeface="+mj-lt"/>
              <a:buAutoNum type="arabicPeriod"/>
            </a:pPr>
            <a:r>
              <a:rPr lang="en-US" dirty="0" smtClean="0"/>
              <a:t>Application      </a:t>
            </a:r>
            <a:r>
              <a:rPr lang="ml-IN" dirty="0" smtClean="0"/>
              <a:t>വർത്തമാനകാല</a:t>
            </a:r>
            <a:r>
              <a:rPr lang="en-US" dirty="0" smtClean="0"/>
              <a:t> </a:t>
            </a:r>
            <a:r>
              <a:rPr lang="ml-IN" dirty="0" smtClean="0"/>
              <a:t>ബദ്ധ൦</a:t>
            </a:r>
            <a:endParaRPr lang="en-IN" dirty="0"/>
          </a:p>
        </p:txBody>
      </p:sp>
    </p:spTree>
    <p:extLst>
      <p:ext uri="{BB962C8B-B14F-4D97-AF65-F5344CB8AC3E}">
        <p14:creationId xmlns:p14="http://schemas.microsoft.com/office/powerpoint/2010/main" val="3954266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Explanation of Psalms</a:t>
            </a:r>
            <a:endParaRPr lang="en-IN" dirty="0"/>
          </a:p>
        </p:txBody>
      </p:sp>
      <p:sp>
        <p:nvSpPr>
          <p:cNvPr id="3" name="Content Placeholder 2"/>
          <p:cNvSpPr>
            <a:spLocks noGrp="1"/>
          </p:cNvSpPr>
          <p:nvPr>
            <p:ph idx="1"/>
          </p:nvPr>
        </p:nvSpPr>
        <p:spPr/>
        <p:txBody>
          <a:bodyPr/>
          <a:lstStyle/>
          <a:p>
            <a:r>
              <a:rPr lang="en-US" dirty="0" smtClean="0"/>
              <a:t>Life Situation</a:t>
            </a:r>
          </a:p>
          <a:p>
            <a:r>
              <a:rPr lang="en-US" dirty="0" smtClean="0"/>
              <a:t>Main Intent </a:t>
            </a:r>
          </a:p>
          <a:p>
            <a:r>
              <a:rPr lang="en-US" dirty="0" smtClean="0"/>
              <a:t>Detailed Study</a:t>
            </a:r>
          </a:p>
          <a:p>
            <a:r>
              <a:rPr lang="en-US" dirty="0" smtClean="0"/>
              <a:t>Application</a:t>
            </a:r>
          </a:p>
          <a:p>
            <a:r>
              <a:rPr lang="en-US" smtClean="0"/>
              <a:t>Methods</a:t>
            </a:r>
          </a:p>
          <a:p>
            <a:r>
              <a:rPr lang="en-US" dirty="0" smtClean="0"/>
              <a:t>Own Thinking</a:t>
            </a:r>
          </a:p>
          <a:p>
            <a:r>
              <a:rPr lang="en-US" dirty="0" smtClean="0"/>
              <a:t>Different Versions</a:t>
            </a:r>
          </a:p>
          <a:p>
            <a:r>
              <a:rPr lang="en-US" dirty="0" smtClean="0"/>
              <a:t>Dictionary </a:t>
            </a:r>
          </a:p>
          <a:p>
            <a:r>
              <a:rPr lang="en-US" dirty="0" smtClean="0"/>
              <a:t>Commentary</a:t>
            </a:r>
          </a:p>
          <a:p>
            <a:endParaRPr lang="en-IN" dirty="0"/>
          </a:p>
        </p:txBody>
      </p:sp>
    </p:spTree>
    <p:extLst>
      <p:ext uri="{BB962C8B-B14F-4D97-AF65-F5344CB8AC3E}">
        <p14:creationId xmlns:p14="http://schemas.microsoft.com/office/powerpoint/2010/main" val="1090818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EXPOSITION : 103</a:t>
            </a:r>
            <a:endParaRPr lang="en-IN" dirty="0"/>
          </a:p>
        </p:txBody>
      </p:sp>
      <p:sp>
        <p:nvSpPr>
          <p:cNvPr id="3" name="Content Placeholder 2"/>
          <p:cNvSpPr>
            <a:spLocks noGrp="1"/>
          </p:cNvSpPr>
          <p:nvPr>
            <p:ph idx="1"/>
          </p:nvPr>
        </p:nvSpPr>
        <p:spPr/>
        <p:txBody>
          <a:bodyPr>
            <a:normAutofit fontScale="92500" lnSpcReduction="10000"/>
          </a:bodyPr>
          <a:lstStyle/>
          <a:p>
            <a:r>
              <a:rPr lang="en-US" dirty="0" smtClean="0"/>
              <a:t>Verses 1 – </a:t>
            </a:r>
            <a:r>
              <a:rPr lang="en-US" sz="2400" dirty="0" smtClean="0"/>
              <a:t>2 : Call to worship</a:t>
            </a:r>
          </a:p>
          <a:p>
            <a:r>
              <a:rPr lang="en-US" sz="2400" dirty="0" smtClean="0"/>
              <a:t>Whom does the psalmist address</a:t>
            </a:r>
          </a:p>
          <a:p>
            <a:r>
              <a:rPr lang="en-US" sz="2400" dirty="0" smtClean="0"/>
              <a:t>Himself</a:t>
            </a:r>
          </a:p>
          <a:p>
            <a:r>
              <a:rPr lang="en-US" sz="2400" dirty="0" smtClean="0"/>
              <a:t>What </a:t>
            </a:r>
            <a:r>
              <a:rPr lang="en-US" dirty="0" smtClean="0"/>
              <a:t>do you think is the best title for this psalm</a:t>
            </a:r>
          </a:p>
          <a:p>
            <a:r>
              <a:rPr lang="en-US" dirty="0" smtClean="0"/>
              <a:t>The steadfast love of God</a:t>
            </a:r>
          </a:p>
          <a:p>
            <a:r>
              <a:rPr lang="en-US" dirty="0" smtClean="0"/>
              <a:t>In what verses does the word  “steadfast love” occur</a:t>
            </a:r>
          </a:p>
          <a:p>
            <a:r>
              <a:rPr lang="en-US" dirty="0" smtClean="0"/>
              <a:t>4,</a:t>
            </a:r>
          </a:p>
          <a:p>
            <a:r>
              <a:rPr lang="en-US" dirty="0" smtClean="0"/>
              <a:t>8,</a:t>
            </a:r>
          </a:p>
          <a:p>
            <a:r>
              <a:rPr lang="en-US" dirty="0" smtClean="0"/>
              <a:t>11,</a:t>
            </a:r>
          </a:p>
          <a:p>
            <a:r>
              <a:rPr lang="en-US" dirty="0" smtClean="0"/>
              <a:t>17                                                                                                            </a:t>
            </a:r>
          </a:p>
        </p:txBody>
      </p:sp>
    </p:spTree>
    <p:extLst>
      <p:ext uri="{BB962C8B-B14F-4D97-AF65-F5344CB8AC3E}">
        <p14:creationId xmlns:p14="http://schemas.microsoft.com/office/powerpoint/2010/main" val="3839894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817685"/>
            <a:ext cx="8946541" cy="5430715"/>
          </a:xfrm>
        </p:spPr>
        <p:txBody>
          <a:bodyPr>
            <a:normAutofit lnSpcReduction="10000"/>
          </a:bodyPr>
          <a:lstStyle/>
          <a:p>
            <a:r>
              <a:rPr lang="en-US" dirty="0" smtClean="0"/>
              <a:t>Next find Life Situation?</a:t>
            </a:r>
          </a:p>
          <a:p>
            <a:r>
              <a:rPr lang="en-US" dirty="0" smtClean="0"/>
              <a:t>We find very little information about the life situation of the writer.</a:t>
            </a:r>
          </a:p>
          <a:p>
            <a:r>
              <a:rPr lang="en-US" dirty="0" smtClean="0"/>
              <a:t>In fact psalm is very general and could be used by anyone at any time. Scholars think that the language would fit the time just after Israel returned from exile. If so, it could not be by David. </a:t>
            </a:r>
          </a:p>
          <a:p>
            <a:r>
              <a:rPr lang="en-US" dirty="0" smtClean="0"/>
              <a:t>Next  find Intent of the Psalm ?</a:t>
            </a:r>
          </a:p>
          <a:p>
            <a:r>
              <a:rPr lang="en-US" dirty="0" smtClean="0"/>
              <a:t>The psalmist recalls his own experience of God’s steadfast love and praises God by telling it out.</a:t>
            </a:r>
          </a:p>
          <a:p>
            <a:r>
              <a:rPr lang="en-US" dirty="0" smtClean="0"/>
              <a:t>Next detail study</a:t>
            </a:r>
          </a:p>
          <a:p>
            <a:r>
              <a:rPr lang="en-US" dirty="0" err="1"/>
              <a:t>v</a:t>
            </a:r>
            <a:r>
              <a:rPr lang="en-US" dirty="0" err="1" smtClean="0"/>
              <a:t>v</a:t>
            </a:r>
            <a:r>
              <a:rPr lang="en-US" dirty="0" smtClean="0"/>
              <a:t> 1 - 5  The psalmist address himself</a:t>
            </a:r>
          </a:p>
          <a:p>
            <a:r>
              <a:rPr lang="en-US" dirty="0" err="1"/>
              <a:t>v</a:t>
            </a:r>
            <a:r>
              <a:rPr lang="en-US" dirty="0" err="1" smtClean="0"/>
              <a:t>v</a:t>
            </a:r>
            <a:r>
              <a:rPr lang="en-US" dirty="0" smtClean="0"/>
              <a:t>  6 – 14 Description of love and his deeds of love</a:t>
            </a:r>
          </a:p>
          <a:p>
            <a:r>
              <a:rPr lang="en-US" dirty="0" err="1"/>
              <a:t>v</a:t>
            </a:r>
            <a:r>
              <a:rPr lang="en-US" dirty="0" err="1" smtClean="0"/>
              <a:t>v</a:t>
            </a:r>
            <a:r>
              <a:rPr lang="en-US" dirty="0" smtClean="0"/>
              <a:t> 15 – 18 Contrast between transient man and God’s everlasting love</a:t>
            </a:r>
          </a:p>
          <a:p>
            <a:r>
              <a:rPr lang="en-US" dirty="0" err="1"/>
              <a:t>v</a:t>
            </a:r>
            <a:r>
              <a:rPr lang="en-US" dirty="0" err="1" smtClean="0"/>
              <a:t>v</a:t>
            </a:r>
            <a:r>
              <a:rPr lang="en-US" dirty="0" smtClean="0"/>
              <a:t> 19 - 22 Description of God as King , and call to worship.</a:t>
            </a:r>
          </a:p>
        </p:txBody>
      </p:sp>
    </p:spTree>
    <p:extLst>
      <p:ext uri="{BB962C8B-B14F-4D97-AF65-F5344CB8AC3E}">
        <p14:creationId xmlns:p14="http://schemas.microsoft.com/office/powerpoint/2010/main" val="546653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Music For Worship</a:t>
            </a:r>
            <a:endParaRPr lang="en-IN" dirty="0"/>
          </a:p>
        </p:txBody>
      </p:sp>
      <p:sp>
        <p:nvSpPr>
          <p:cNvPr id="3" name="Content Placeholder 2"/>
          <p:cNvSpPr>
            <a:spLocks noGrp="1"/>
          </p:cNvSpPr>
          <p:nvPr>
            <p:ph idx="1"/>
          </p:nvPr>
        </p:nvSpPr>
        <p:spPr/>
        <p:txBody>
          <a:bodyPr/>
          <a:lstStyle/>
          <a:p>
            <a:r>
              <a:rPr lang="en-US" dirty="0" smtClean="0"/>
              <a:t>The Psalms were originally for singing.</a:t>
            </a:r>
          </a:p>
          <a:p>
            <a:r>
              <a:rPr lang="en-US" dirty="0" smtClean="0"/>
              <a:t>Psalm 81: 1- 3 </a:t>
            </a:r>
          </a:p>
          <a:p>
            <a:r>
              <a:rPr lang="en-US" dirty="0" smtClean="0"/>
              <a:t>Psalm 47</a:t>
            </a:r>
          </a:p>
          <a:p>
            <a:r>
              <a:rPr lang="en-US" dirty="0" smtClean="0"/>
              <a:t>Psalm 150</a:t>
            </a:r>
          </a:p>
          <a:p>
            <a:r>
              <a:rPr lang="en-US" dirty="0" smtClean="0"/>
              <a:t>Shouting, Clapping,  </a:t>
            </a:r>
            <a:r>
              <a:rPr lang="en-US" dirty="0" err="1" smtClean="0"/>
              <a:t>etc</a:t>
            </a:r>
            <a:endParaRPr lang="en-US" dirty="0" smtClean="0"/>
          </a:p>
          <a:p>
            <a:r>
              <a:rPr lang="en-US" dirty="0" smtClean="0"/>
              <a:t>1. Enjoyable  2. Possible to worship through it 3. Familiarity</a:t>
            </a:r>
          </a:p>
          <a:p>
            <a:r>
              <a:rPr lang="en-US" dirty="0" smtClean="0"/>
              <a:t>Five ways of singing</a:t>
            </a:r>
          </a:p>
          <a:p>
            <a:r>
              <a:rPr lang="en-US" dirty="0" smtClean="0"/>
              <a:t>1. Chanting 2. Metrical Psalms 3. Metrical Psalms without rhyming</a:t>
            </a:r>
          </a:p>
          <a:p>
            <a:r>
              <a:rPr lang="en-US" dirty="0" smtClean="0"/>
              <a:t>4. Gelineau Psalms 5. Special settings</a:t>
            </a:r>
            <a:endParaRPr lang="en-IN" dirty="0"/>
          </a:p>
        </p:txBody>
      </p:sp>
    </p:spTree>
    <p:extLst>
      <p:ext uri="{BB962C8B-B14F-4D97-AF65-F5344CB8AC3E}">
        <p14:creationId xmlns:p14="http://schemas.microsoft.com/office/powerpoint/2010/main" val="3341440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256441"/>
          </a:xfrm>
        </p:spPr>
        <p:txBody>
          <a:bodyPr/>
          <a:lstStyle/>
          <a:p>
            <a:pPr algn="ctr"/>
            <a:r>
              <a:rPr lang="en-US" dirty="0" smtClean="0"/>
              <a:t>PSALMS OF LAMENT             </a:t>
            </a:r>
            <a:r>
              <a:rPr lang="ml-IN" dirty="0" smtClean="0"/>
              <a:t>വിലാപ </a:t>
            </a:r>
            <a:r>
              <a:rPr lang="ml-IN" dirty="0"/>
              <a:t>കീർത്തനങ്ങൾ</a:t>
            </a:r>
            <a:endParaRPr lang="en-IN" dirty="0"/>
          </a:p>
        </p:txBody>
      </p:sp>
      <p:sp>
        <p:nvSpPr>
          <p:cNvPr id="3" name="Content Placeholder 2"/>
          <p:cNvSpPr>
            <a:spLocks noGrp="1"/>
          </p:cNvSpPr>
          <p:nvPr>
            <p:ph idx="1"/>
          </p:nvPr>
        </p:nvSpPr>
        <p:spPr>
          <a:xfrm>
            <a:off x="646111" y="1709159"/>
            <a:ext cx="9549022" cy="4777099"/>
          </a:xfrm>
        </p:spPr>
        <p:txBody>
          <a:bodyPr>
            <a:normAutofit fontScale="92500" lnSpcReduction="10000"/>
          </a:bodyPr>
          <a:lstStyle/>
          <a:p>
            <a:r>
              <a:rPr lang="en-US" dirty="0" smtClean="0"/>
              <a:t>There are two types  </a:t>
            </a:r>
            <a:r>
              <a:rPr lang="ml-IN" dirty="0" smtClean="0"/>
              <a:t>രണ്ടുവിധ൦</a:t>
            </a:r>
            <a:r>
              <a:rPr lang="en-US" dirty="0" smtClean="0"/>
              <a:t> </a:t>
            </a:r>
          </a:p>
          <a:p>
            <a:r>
              <a:rPr lang="en-US" dirty="0" smtClean="0"/>
              <a:t>Individual lament and Community lament</a:t>
            </a:r>
          </a:p>
          <a:p>
            <a:r>
              <a:rPr lang="ml-IN" dirty="0" smtClean="0"/>
              <a:t>വ്യക്തിപരമായ</a:t>
            </a:r>
            <a:r>
              <a:rPr lang="en-US" dirty="0" smtClean="0"/>
              <a:t> </a:t>
            </a:r>
            <a:r>
              <a:rPr lang="ml-IN" dirty="0" smtClean="0"/>
              <a:t>വിലാപ</a:t>
            </a:r>
            <a:r>
              <a:rPr lang="en-US" dirty="0" smtClean="0"/>
              <a:t> </a:t>
            </a:r>
            <a:r>
              <a:rPr lang="ml-IN" dirty="0" smtClean="0"/>
              <a:t>കീർത്തനങ്ങൾ</a:t>
            </a:r>
            <a:endParaRPr lang="en-US" dirty="0" smtClean="0"/>
          </a:p>
          <a:p>
            <a:r>
              <a:rPr lang="ml-IN" dirty="0" smtClean="0"/>
              <a:t>സാമൂഹ്യപരമായ</a:t>
            </a:r>
            <a:r>
              <a:rPr lang="en-US" dirty="0" smtClean="0"/>
              <a:t> </a:t>
            </a:r>
            <a:r>
              <a:rPr lang="ml-IN" dirty="0" smtClean="0"/>
              <a:t>വിലാപ</a:t>
            </a:r>
            <a:r>
              <a:rPr lang="en-US" dirty="0" smtClean="0"/>
              <a:t> </a:t>
            </a:r>
            <a:r>
              <a:rPr lang="ml-IN" dirty="0" smtClean="0"/>
              <a:t>കീർത്തനങ്ങൾ</a:t>
            </a:r>
            <a:endParaRPr lang="en-US" dirty="0" smtClean="0"/>
          </a:p>
          <a:p>
            <a:r>
              <a:rPr lang="en-US" dirty="0" smtClean="0"/>
              <a:t>Structure of Lament </a:t>
            </a:r>
            <a:r>
              <a:rPr lang="ml-IN" dirty="0" smtClean="0"/>
              <a:t>വിലാപ</a:t>
            </a:r>
            <a:r>
              <a:rPr lang="en-US" dirty="0" smtClean="0"/>
              <a:t> </a:t>
            </a:r>
            <a:r>
              <a:rPr lang="ml-IN" dirty="0" smtClean="0"/>
              <a:t>കീർത്തനങ്ങളുടെ</a:t>
            </a:r>
            <a:r>
              <a:rPr lang="en-US" dirty="0" smtClean="0"/>
              <a:t> </a:t>
            </a:r>
            <a:r>
              <a:rPr lang="ml-IN" dirty="0" smtClean="0"/>
              <a:t>ഘടന</a:t>
            </a:r>
            <a:endParaRPr lang="en-US" dirty="0" smtClean="0"/>
          </a:p>
          <a:p>
            <a:r>
              <a:rPr lang="en-US" dirty="0" smtClean="0"/>
              <a:t>Invocation : Direct address to God  </a:t>
            </a:r>
            <a:r>
              <a:rPr lang="ml-IN" dirty="0" smtClean="0"/>
              <a:t>ദൈവത്തെ</a:t>
            </a:r>
            <a:r>
              <a:rPr lang="en-US" dirty="0" smtClean="0"/>
              <a:t> </a:t>
            </a:r>
            <a:r>
              <a:rPr lang="ml-IN" dirty="0" smtClean="0"/>
              <a:t>അഭിസംബോധന</a:t>
            </a:r>
            <a:r>
              <a:rPr lang="en-US" dirty="0" smtClean="0"/>
              <a:t> </a:t>
            </a:r>
            <a:r>
              <a:rPr lang="ml-IN" dirty="0" smtClean="0"/>
              <a:t>ചെയ്യുക</a:t>
            </a:r>
            <a:endParaRPr lang="en-US" dirty="0" smtClean="0"/>
          </a:p>
          <a:p>
            <a:r>
              <a:rPr lang="en-US" dirty="0" smtClean="0"/>
              <a:t>Lamentation : </a:t>
            </a:r>
            <a:r>
              <a:rPr lang="ml-IN" dirty="0" smtClean="0"/>
              <a:t>വിലാപങ്ങൾ</a:t>
            </a:r>
            <a:endParaRPr lang="en-US" dirty="0" smtClean="0"/>
          </a:p>
          <a:p>
            <a:r>
              <a:rPr lang="en-US" dirty="0" smtClean="0"/>
              <a:t>Petition : </a:t>
            </a:r>
            <a:r>
              <a:rPr lang="ml-IN" dirty="0"/>
              <a:t>പരാതി, പ്രാർത്ഥന</a:t>
            </a:r>
            <a:endParaRPr lang="en-US" dirty="0" smtClean="0"/>
          </a:p>
          <a:p>
            <a:r>
              <a:rPr lang="en-US" dirty="0" smtClean="0"/>
              <a:t>Reason why God should answer : Motivation </a:t>
            </a:r>
            <a:r>
              <a:rPr lang="ml-IN" dirty="0"/>
              <a:t>പ്രചോദനം</a:t>
            </a:r>
            <a:endParaRPr lang="en-US" dirty="0" smtClean="0"/>
          </a:p>
          <a:p>
            <a:r>
              <a:rPr lang="en-US" dirty="0" smtClean="0"/>
              <a:t>Vow : Oath </a:t>
            </a:r>
            <a:r>
              <a:rPr lang="ml-IN" dirty="0"/>
              <a:t>പ്രതിജ്ഞ</a:t>
            </a:r>
            <a:endParaRPr lang="en-US" dirty="0" smtClean="0"/>
          </a:p>
          <a:p>
            <a:r>
              <a:rPr lang="en-US" dirty="0" smtClean="0"/>
              <a:t>Divine response : </a:t>
            </a:r>
            <a:r>
              <a:rPr lang="ml-IN" dirty="0"/>
              <a:t>ദൈവത്തിന്റെ പ്രതികരണ൦</a:t>
            </a:r>
            <a:endParaRPr lang="en-US" dirty="0" smtClean="0"/>
          </a:p>
          <a:p>
            <a:r>
              <a:rPr lang="en-US" dirty="0" smtClean="0"/>
              <a:t>Expression of confidence : </a:t>
            </a:r>
            <a:r>
              <a:rPr lang="ml-IN" dirty="0"/>
              <a:t>ആത്മധൈര്യത്തിന്റെ വാക്കുകൾ</a:t>
            </a:r>
            <a:endParaRPr lang="en-US" dirty="0" smtClean="0"/>
          </a:p>
          <a:p>
            <a:endParaRPr lang="en-US" dirty="0" smtClean="0"/>
          </a:p>
          <a:p>
            <a:endParaRPr lang="en-IN" dirty="0"/>
          </a:p>
        </p:txBody>
      </p:sp>
    </p:spTree>
    <p:extLst>
      <p:ext uri="{BB962C8B-B14F-4D97-AF65-F5344CB8AC3E}">
        <p14:creationId xmlns:p14="http://schemas.microsoft.com/office/powerpoint/2010/main" val="4292817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Psalm 22</a:t>
            </a:r>
            <a:endParaRPr lang="en-IN" dirty="0"/>
          </a:p>
        </p:txBody>
      </p:sp>
      <p:sp>
        <p:nvSpPr>
          <p:cNvPr id="3" name="Content Placeholder 2"/>
          <p:cNvSpPr>
            <a:spLocks noGrp="1"/>
          </p:cNvSpPr>
          <p:nvPr>
            <p:ph idx="1"/>
          </p:nvPr>
        </p:nvSpPr>
        <p:spPr/>
        <p:txBody>
          <a:bodyPr/>
          <a:lstStyle/>
          <a:p>
            <a:r>
              <a:rPr lang="en-US" dirty="0" smtClean="0"/>
              <a:t>Verses 1-5   Invocation</a:t>
            </a:r>
          </a:p>
          <a:p>
            <a:r>
              <a:rPr lang="en-US" dirty="0"/>
              <a:t> </a:t>
            </a:r>
            <a:r>
              <a:rPr lang="en-US" dirty="0" smtClean="0"/>
              <a:t>         6-18   Lamentation</a:t>
            </a:r>
          </a:p>
          <a:p>
            <a:r>
              <a:rPr lang="en-US" dirty="0"/>
              <a:t> </a:t>
            </a:r>
            <a:r>
              <a:rPr lang="en-US" dirty="0" smtClean="0"/>
              <a:t>  11, 19-21  Petition</a:t>
            </a:r>
          </a:p>
          <a:p>
            <a:r>
              <a:rPr lang="en-US" dirty="0"/>
              <a:t> </a:t>
            </a:r>
            <a:r>
              <a:rPr lang="en-US" dirty="0" smtClean="0"/>
              <a:t>          11b   Motivation</a:t>
            </a:r>
          </a:p>
          <a:p>
            <a:r>
              <a:rPr lang="en-US" dirty="0"/>
              <a:t> </a:t>
            </a:r>
            <a:r>
              <a:rPr lang="en-US" dirty="0" smtClean="0"/>
              <a:t>      22- 25   Vow</a:t>
            </a:r>
          </a:p>
          <a:p>
            <a:r>
              <a:rPr lang="en-US" dirty="0" smtClean="0"/>
              <a:t>                    No divine response</a:t>
            </a:r>
          </a:p>
          <a:p>
            <a:r>
              <a:rPr lang="en-US" dirty="0"/>
              <a:t> </a:t>
            </a:r>
            <a:r>
              <a:rPr lang="en-US" dirty="0" smtClean="0"/>
              <a:t>      26 -31   Expression of confidence</a:t>
            </a:r>
          </a:p>
          <a:p>
            <a:endParaRPr lang="en-IN" dirty="0"/>
          </a:p>
        </p:txBody>
      </p:sp>
    </p:spTree>
    <p:extLst>
      <p:ext uri="{BB962C8B-B14F-4D97-AF65-F5344CB8AC3E}">
        <p14:creationId xmlns:p14="http://schemas.microsoft.com/office/powerpoint/2010/main" val="2647898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COMMUNITY LAMENT   </a:t>
            </a:r>
            <a:br>
              <a:rPr lang="en-US" dirty="0" smtClean="0"/>
            </a:br>
            <a:r>
              <a:rPr lang="ml-IN" sz="3600" dirty="0" smtClean="0"/>
              <a:t>സാമൂഹ്യ</a:t>
            </a:r>
            <a:r>
              <a:rPr lang="en-US" sz="3600" dirty="0" smtClean="0"/>
              <a:t> </a:t>
            </a:r>
            <a:r>
              <a:rPr lang="ml-IN" sz="3600" dirty="0" smtClean="0"/>
              <a:t>വിലാപ</a:t>
            </a:r>
            <a:r>
              <a:rPr lang="en-US" sz="3600" dirty="0" smtClean="0"/>
              <a:t> </a:t>
            </a:r>
            <a:r>
              <a:rPr lang="ml-IN" sz="3600" dirty="0" smtClean="0"/>
              <a:t>കീർത്തനങ്ങൾ</a:t>
            </a:r>
            <a:endParaRPr lang="en-IN" sz="3600" dirty="0"/>
          </a:p>
        </p:txBody>
      </p:sp>
      <p:sp>
        <p:nvSpPr>
          <p:cNvPr id="3" name="Content Placeholder 2"/>
          <p:cNvSpPr>
            <a:spLocks noGrp="1"/>
          </p:cNvSpPr>
          <p:nvPr>
            <p:ph idx="1"/>
          </p:nvPr>
        </p:nvSpPr>
        <p:spPr/>
        <p:txBody>
          <a:bodyPr>
            <a:normAutofit fontScale="92500" lnSpcReduction="20000"/>
          </a:bodyPr>
          <a:lstStyle/>
          <a:p>
            <a:r>
              <a:rPr lang="en-US" dirty="0" smtClean="0"/>
              <a:t>PSALM 44</a:t>
            </a:r>
          </a:p>
          <a:p>
            <a:r>
              <a:rPr lang="en-US" dirty="0" smtClean="0"/>
              <a:t>INVOCATION VERSES 1 – 8</a:t>
            </a:r>
          </a:p>
          <a:p>
            <a:r>
              <a:rPr lang="en-US" dirty="0" smtClean="0"/>
              <a:t>LAMENTATION VERSES 9 – 22, 25</a:t>
            </a:r>
          </a:p>
          <a:p>
            <a:r>
              <a:rPr lang="en-US" dirty="0" smtClean="0"/>
              <a:t>PETITION, PRAYER VV  23 - 26</a:t>
            </a:r>
          </a:p>
          <a:p>
            <a:r>
              <a:rPr lang="en-US" dirty="0" smtClean="0"/>
              <a:t>MOTIVATION VERSE   26</a:t>
            </a:r>
          </a:p>
          <a:p>
            <a:r>
              <a:rPr lang="en-US" dirty="0" smtClean="0"/>
              <a:t>Heading  </a:t>
            </a:r>
            <a:r>
              <a:rPr lang="ml-IN" dirty="0" smtClean="0"/>
              <a:t>ഉറങ്ങുന്ന</a:t>
            </a:r>
            <a:r>
              <a:rPr lang="en-US" dirty="0" smtClean="0"/>
              <a:t> </a:t>
            </a:r>
            <a:r>
              <a:rPr lang="ml-IN" dirty="0" smtClean="0"/>
              <a:t>ദൈവ൦</a:t>
            </a:r>
            <a:endParaRPr lang="en-US" dirty="0" smtClean="0"/>
          </a:p>
          <a:p>
            <a:r>
              <a:rPr lang="en-US" dirty="0" smtClean="0"/>
              <a:t>Exodus 32: 1 – 9, Isaiah 44 : 12- 17 1Kings 18 : 27</a:t>
            </a:r>
          </a:p>
          <a:p>
            <a:r>
              <a:rPr lang="en-US" dirty="0" smtClean="0"/>
              <a:t>Psalm 121: 4</a:t>
            </a:r>
          </a:p>
          <a:p>
            <a:r>
              <a:rPr lang="en-US" dirty="0" smtClean="0"/>
              <a:t>Life Situation, </a:t>
            </a:r>
          </a:p>
          <a:p>
            <a:r>
              <a:rPr lang="en-US" dirty="0" smtClean="0"/>
              <a:t>Main Intent</a:t>
            </a:r>
          </a:p>
          <a:p>
            <a:r>
              <a:rPr lang="en-US" dirty="0" smtClean="0"/>
              <a:t>Detailed study and Application</a:t>
            </a:r>
          </a:p>
          <a:p>
            <a:endParaRPr lang="en-IN" dirty="0"/>
          </a:p>
        </p:txBody>
      </p:sp>
    </p:spTree>
    <p:extLst>
      <p:ext uri="{BB962C8B-B14F-4D97-AF65-F5344CB8AC3E}">
        <p14:creationId xmlns:p14="http://schemas.microsoft.com/office/powerpoint/2010/main" val="3645547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LIFE SITUATION</a:t>
            </a:r>
            <a:endParaRPr lang="en-IN" dirty="0"/>
          </a:p>
        </p:txBody>
      </p:sp>
      <p:sp>
        <p:nvSpPr>
          <p:cNvPr id="3" name="Content Placeholder 2"/>
          <p:cNvSpPr>
            <a:spLocks noGrp="1"/>
          </p:cNvSpPr>
          <p:nvPr>
            <p:ph idx="1"/>
          </p:nvPr>
        </p:nvSpPr>
        <p:spPr/>
        <p:txBody>
          <a:bodyPr/>
          <a:lstStyle/>
          <a:p>
            <a:r>
              <a:rPr lang="en-US" dirty="0" smtClean="0"/>
              <a:t>PSALM 44: 9f</a:t>
            </a:r>
          </a:p>
          <a:p>
            <a:r>
              <a:rPr lang="en-US" dirty="0"/>
              <a:t> </a:t>
            </a:r>
            <a:r>
              <a:rPr lang="en-US" dirty="0" smtClean="0"/>
              <a:t>   Verses 11f</a:t>
            </a:r>
          </a:p>
          <a:p>
            <a:r>
              <a:rPr lang="en-US" dirty="0"/>
              <a:t> </a:t>
            </a:r>
            <a:r>
              <a:rPr lang="en-US" dirty="0" smtClean="0"/>
              <a:t>    Verses 13 – 16</a:t>
            </a:r>
          </a:p>
          <a:p>
            <a:r>
              <a:rPr lang="en-US" dirty="0"/>
              <a:t> </a:t>
            </a:r>
            <a:r>
              <a:rPr lang="en-US" dirty="0" smtClean="0"/>
              <a:t>    Verses 17f</a:t>
            </a:r>
          </a:p>
          <a:p>
            <a:r>
              <a:rPr lang="en-US" dirty="0"/>
              <a:t> </a:t>
            </a:r>
            <a:r>
              <a:rPr lang="en-US" dirty="0" smtClean="0"/>
              <a:t>    Verses 19</a:t>
            </a:r>
          </a:p>
          <a:p>
            <a:r>
              <a:rPr lang="en-US" dirty="0"/>
              <a:t> </a:t>
            </a:r>
            <a:r>
              <a:rPr lang="en-US" dirty="0" smtClean="0"/>
              <a:t>    Verses 22</a:t>
            </a:r>
            <a:endParaRPr lang="en-IN" dirty="0"/>
          </a:p>
        </p:txBody>
      </p:sp>
    </p:spTree>
    <p:extLst>
      <p:ext uri="{BB962C8B-B14F-4D97-AF65-F5344CB8AC3E}">
        <p14:creationId xmlns:p14="http://schemas.microsoft.com/office/powerpoint/2010/main" val="3039076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sz="6000" dirty="0" smtClean="0"/>
              <a:t>THANKSGIVING PSALMS</a:t>
            </a:r>
            <a:endParaRPr lang="en-IN" sz="6000" dirty="0"/>
          </a:p>
        </p:txBody>
      </p:sp>
      <p:sp>
        <p:nvSpPr>
          <p:cNvPr id="5" name="Subtitle 4"/>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554378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How can we understand ?</a:t>
            </a:r>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t>Many of the IL ends with , in fact</a:t>
            </a:r>
          </a:p>
          <a:p>
            <a:r>
              <a:rPr lang="en-US" dirty="0" smtClean="0"/>
              <a:t>A vow of praise or</a:t>
            </a:r>
          </a:p>
          <a:p>
            <a:r>
              <a:rPr lang="en-US" dirty="0" smtClean="0"/>
              <a:t>An expression of confidence</a:t>
            </a:r>
          </a:p>
          <a:p>
            <a:r>
              <a:rPr lang="en-US" dirty="0" smtClean="0"/>
              <a:t>Psalm 3: 7f </a:t>
            </a:r>
          </a:p>
          <a:p>
            <a:r>
              <a:rPr lang="en-US" dirty="0" smtClean="0"/>
              <a:t>5: 12</a:t>
            </a:r>
          </a:p>
          <a:p>
            <a:r>
              <a:rPr lang="en-US" dirty="0" smtClean="0"/>
              <a:t>6: 8- 10</a:t>
            </a:r>
          </a:p>
          <a:p>
            <a:r>
              <a:rPr lang="en-US" dirty="0" smtClean="0"/>
              <a:t>7 :17</a:t>
            </a:r>
          </a:p>
          <a:p>
            <a:r>
              <a:rPr lang="en-US" dirty="0" smtClean="0"/>
              <a:t>10: 17f</a:t>
            </a:r>
          </a:p>
          <a:p>
            <a:r>
              <a:rPr lang="en-US" dirty="0" smtClean="0"/>
              <a:t>13: 6</a:t>
            </a:r>
          </a:p>
          <a:p>
            <a:r>
              <a:rPr lang="en-US" dirty="0" smtClean="0"/>
              <a:t>22 : 22- 25</a:t>
            </a:r>
          </a:p>
          <a:p>
            <a:r>
              <a:rPr lang="en-US" dirty="0" smtClean="0"/>
              <a:t>22 : 26- 31</a:t>
            </a:r>
          </a:p>
          <a:p>
            <a:endParaRPr lang="en-IN" dirty="0"/>
          </a:p>
        </p:txBody>
      </p:sp>
    </p:spTree>
    <p:extLst>
      <p:ext uri="{BB962C8B-B14F-4D97-AF65-F5344CB8AC3E}">
        <p14:creationId xmlns:p14="http://schemas.microsoft.com/office/powerpoint/2010/main" val="3007800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THANKSGIVING PSALMS</a:t>
            </a:r>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t>Two types</a:t>
            </a:r>
          </a:p>
          <a:p>
            <a:r>
              <a:rPr lang="en-US" dirty="0" smtClean="0"/>
              <a:t>Individual</a:t>
            </a:r>
          </a:p>
          <a:p>
            <a:r>
              <a:rPr lang="en-US" dirty="0" smtClean="0"/>
              <a:t>Community</a:t>
            </a:r>
          </a:p>
          <a:p>
            <a:r>
              <a:rPr lang="en-US" dirty="0" smtClean="0"/>
              <a:t>INDIVIDUAL PSALM OF THANKSGIVING</a:t>
            </a:r>
          </a:p>
          <a:p>
            <a:r>
              <a:rPr lang="en-US" dirty="0" smtClean="0"/>
              <a:t>IT Means Declarative Psalm of Praise.</a:t>
            </a:r>
          </a:p>
          <a:p>
            <a:r>
              <a:rPr lang="en-US" dirty="0" smtClean="0"/>
              <a:t>The natural sequel of individual lament</a:t>
            </a:r>
          </a:p>
          <a:p>
            <a:r>
              <a:rPr lang="en-US" dirty="0" smtClean="0"/>
              <a:t>9,18, 30, 32, 34, 40, 66, 92, 116, 118, 138, </a:t>
            </a:r>
          </a:p>
          <a:p>
            <a:r>
              <a:rPr lang="en-US" dirty="0" smtClean="0"/>
              <a:t>Basic Elements : Call to worship</a:t>
            </a:r>
          </a:p>
          <a:p>
            <a:r>
              <a:rPr lang="en-US" dirty="0" smtClean="0"/>
              <a:t>Proclamation and Introductory part</a:t>
            </a:r>
          </a:p>
          <a:p>
            <a:r>
              <a:rPr lang="en-US" dirty="0" smtClean="0"/>
              <a:t>Testimony or Report</a:t>
            </a:r>
          </a:p>
          <a:p>
            <a:r>
              <a:rPr lang="en-US" dirty="0" smtClean="0"/>
              <a:t>Praise</a:t>
            </a:r>
            <a:endParaRPr lang="en-IN" dirty="0"/>
          </a:p>
        </p:txBody>
      </p:sp>
    </p:spTree>
    <p:extLst>
      <p:ext uri="{BB962C8B-B14F-4D97-AF65-F5344CB8AC3E}">
        <p14:creationId xmlns:p14="http://schemas.microsoft.com/office/powerpoint/2010/main" val="4219265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PSALM 30</a:t>
            </a:r>
            <a:endParaRPr lang="en-IN" dirty="0"/>
          </a:p>
        </p:txBody>
      </p:sp>
      <p:sp>
        <p:nvSpPr>
          <p:cNvPr id="3" name="Content Placeholder 2"/>
          <p:cNvSpPr>
            <a:spLocks noGrp="1"/>
          </p:cNvSpPr>
          <p:nvPr>
            <p:ph idx="1"/>
          </p:nvPr>
        </p:nvSpPr>
        <p:spPr/>
        <p:txBody>
          <a:bodyPr/>
          <a:lstStyle/>
          <a:p>
            <a:r>
              <a:rPr lang="en-US" dirty="0" smtClean="0"/>
              <a:t>Psalm 30</a:t>
            </a:r>
          </a:p>
          <a:p>
            <a:r>
              <a:rPr lang="en-US" dirty="0" smtClean="0"/>
              <a:t>Verses 1-3</a:t>
            </a:r>
          </a:p>
          <a:p>
            <a:r>
              <a:rPr lang="en-US" dirty="0" smtClean="0"/>
              <a:t>Proclamation and Introductory summary</a:t>
            </a:r>
          </a:p>
          <a:p>
            <a:r>
              <a:rPr lang="en-US" dirty="0" smtClean="0"/>
              <a:t>4- 5 </a:t>
            </a:r>
          </a:p>
          <a:p>
            <a:r>
              <a:rPr lang="en-US" dirty="0" smtClean="0"/>
              <a:t>Call to worship and reason</a:t>
            </a:r>
          </a:p>
          <a:p>
            <a:r>
              <a:rPr lang="en-US" dirty="0" smtClean="0"/>
              <a:t>6- 11 </a:t>
            </a:r>
          </a:p>
          <a:p>
            <a:r>
              <a:rPr lang="en-US" dirty="0" smtClean="0"/>
              <a:t>Testimony or Report</a:t>
            </a:r>
          </a:p>
          <a:p>
            <a:r>
              <a:rPr lang="en-US" smtClean="0"/>
              <a:t>12 </a:t>
            </a:r>
          </a:p>
          <a:p>
            <a:r>
              <a:rPr lang="en-US" smtClean="0"/>
              <a:t> </a:t>
            </a:r>
            <a:r>
              <a:rPr lang="en-US" dirty="0" smtClean="0"/>
              <a:t>Praise</a:t>
            </a:r>
            <a:endParaRPr lang="en-IN" dirty="0"/>
          </a:p>
        </p:txBody>
      </p:sp>
    </p:spTree>
    <p:extLst>
      <p:ext uri="{BB962C8B-B14F-4D97-AF65-F5344CB8AC3E}">
        <p14:creationId xmlns:p14="http://schemas.microsoft.com/office/powerpoint/2010/main" val="240687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sz="3200" b="1" i="1" u="sng" dirty="0" smtClean="0"/>
              <a:t>THE COMMUNITY THANKSGIVING PSALMS</a:t>
            </a:r>
            <a:endParaRPr lang="en-IN" sz="3200" b="1" i="1" u="sng" dirty="0"/>
          </a:p>
        </p:txBody>
      </p:sp>
      <p:sp>
        <p:nvSpPr>
          <p:cNvPr id="5" name="Subtitle 4"/>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52347365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034250"/>
          </a:xfrm>
        </p:spPr>
        <p:txBody>
          <a:bodyPr/>
          <a:lstStyle/>
          <a:p>
            <a:pPr algn="ctr"/>
            <a:r>
              <a:rPr lang="en-US" dirty="0" smtClean="0"/>
              <a:t>THE COMMUNITY THANKSGIVING</a:t>
            </a:r>
            <a:endParaRPr lang="en-IN" dirty="0"/>
          </a:p>
        </p:txBody>
      </p:sp>
      <p:sp>
        <p:nvSpPr>
          <p:cNvPr id="3" name="Content Placeholder 2"/>
          <p:cNvSpPr>
            <a:spLocks noGrp="1"/>
          </p:cNvSpPr>
          <p:nvPr>
            <p:ph idx="1"/>
          </p:nvPr>
        </p:nvSpPr>
        <p:spPr>
          <a:xfrm>
            <a:off x="1103312" y="1700614"/>
            <a:ext cx="8946541" cy="4547786"/>
          </a:xfrm>
        </p:spPr>
        <p:txBody>
          <a:bodyPr>
            <a:normAutofit lnSpcReduction="10000"/>
          </a:bodyPr>
          <a:lstStyle/>
          <a:p>
            <a:r>
              <a:rPr lang="en-US" dirty="0" smtClean="0"/>
              <a:t>Write down the four elements of thanksgiving Psalms ?</a:t>
            </a:r>
          </a:p>
          <a:p>
            <a:pPr lvl="1"/>
            <a:r>
              <a:rPr lang="en-US" dirty="0" smtClean="0"/>
              <a:t>Call to worship</a:t>
            </a:r>
          </a:p>
          <a:p>
            <a:pPr lvl="1"/>
            <a:r>
              <a:rPr lang="en-US" dirty="0" smtClean="0"/>
              <a:t>Proclamation and Introductory summary</a:t>
            </a:r>
          </a:p>
          <a:p>
            <a:pPr lvl="1"/>
            <a:r>
              <a:rPr lang="en-US" dirty="0" smtClean="0"/>
              <a:t>Testimony</a:t>
            </a:r>
          </a:p>
          <a:p>
            <a:pPr lvl="1"/>
            <a:r>
              <a:rPr lang="en-US" dirty="0" smtClean="0"/>
              <a:t>Praise</a:t>
            </a:r>
          </a:p>
          <a:p>
            <a:r>
              <a:rPr lang="en-US" dirty="0" smtClean="0"/>
              <a:t>Thanksgiving Psalms are follows (5 Psalms)</a:t>
            </a:r>
          </a:p>
          <a:p>
            <a:r>
              <a:rPr lang="en-US" dirty="0" smtClean="0"/>
              <a:t>66:8- 12, 67, 107, 124, 129</a:t>
            </a:r>
          </a:p>
          <a:p>
            <a:r>
              <a:rPr lang="en-US" dirty="0" smtClean="0"/>
              <a:t>Psalm 66: 8-12</a:t>
            </a:r>
          </a:p>
          <a:p>
            <a:r>
              <a:rPr lang="en-US" dirty="0" smtClean="0"/>
              <a:t>8- Call to worship</a:t>
            </a:r>
          </a:p>
          <a:p>
            <a:r>
              <a:rPr lang="en-US" dirty="0" smtClean="0"/>
              <a:t>9- Proclamation &amp; introductory summary</a:t>
            </a:r>
          </a:p>
          <a:p>
            <a:r>
              <a:rPr lang="en-US" dirty="0" smtClean="0"/>
              <a:t>10-12 Testimony</a:t>
            </a:r>
          </a:p>
        </p:txBody>
      </p:sp>
    </p:spTree>
    <p:extLst>
      <p:ext uri="{BB962C8B-B14F-4D97-AF65-F5344CB8AC3E}">
        <p14:creationId xmlns:p14="http://schemas.microsoft.com/office/powerpoint/2010/main" val="3008601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additive="base">
                                        <p:cTn id="4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
                                            <p:txEl>
                                              <p:pRg st="9" end="9"/>
                                            </p:txEl>
                                          </p:spTgt>
                                        </p:tgtEl>
                                        <p:attrNameLst>
                                          <p:attrName>style.visibility</p:attrName>
                                        </p:attrNameLst>
                                      </p:cBhvr>
                                      <p:to>
                                        <p:strVal val="visible"/>
                                      </p:to>
                                    </p:set>
                                    <p:anim calcmode="lin" valueType="num">
                                      <p:cBhvr additive="base">
                                        <p:cTn id="5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3">
                                            <p:txEl>
                                              <p:pRg st="10" end="10"/>
                                            </p:txEl>
                                          </p:spTgt>
                                        </p:tgtEl>
                                        <p:attrNameLst>
                                          <p:attrName>style.visibility</p:attrName>
                                        </p:attrNameLst>
                                      </p:cBhvr>
                                      <p:to>
                                        <p:strVal val="visible"/>
                                      </p:to>
                                    </p:set>
                                    <p:anim calcmode="lin" valueType="num">
                                      <p:cBhvr additive="base">
                                        <p:cTn id="5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01651"/>
            <a:ext cx="9404723" cy="598207"/>
          </a:xfrm>
        </p:spPr>
        <p:txBody>
          <a:bodyPr/>
          <a:lstStyle/>
          <a:p>
            <a:r>
              <a:rPr lang="en-US" sz="4400" dirty="0" smtClean="0"/>
              <a:t>Analysis of the Psalms</a:t>
            </a:r>
            <a:r>
              <a:rPr lang="en-IN" dirty="0"/>
              <a:t/>
            </a:r>
            <a:br>
              <a:rPr lang="en-IN" dirty="0"/>
            </a:br>
            <a:endParaRPr lang="en-IN" dirty="0"/>
          </a:p>
        </p:txBody>
      </p:sp>
      <p:sp>
        <p:nvSpPr>
          <p:cNvPr id="3" name="Content Placeholder 2"/>
          <p:cNvSpPr>
            <a:spLocks noGrp="1"/>
          </p:cNvSpPr>
          <p:nvPr>
            <p:ph idx="1"/>
          </p:nvPr>
        </p:nvSpPr>
        <p:spPr>
          <a:xfrm>
            <a:off x="1103312" y="1820254"/>
            <a:ext cx="8946541" cy="4428146"/>
          </a:xfrm>
        </p:spPr>
        <p:txBody>
          <a:bodyPr>
            <a:normAutofit lnSpcReduction="10000"/>
          </a:bodyPr>
          <a:lstStyle/>
          <a:p>
            <a:r>
              <a:rPr lang="en-US" dirty="0" smtClean="0"/>
              <a:t>Psalm 67</a:t>
            </a:r>
          </a:p>
          <a:p>
            <a:r>
              <a:rPr lang="en-US" dirty="0" smtClean="0"/>
              <a:t>3-5 Call to worship</a:t>
            </a:r>
          </a:p>
          <a:p>
            <a:r>
              <a:rPr lang="en-US" dirty="0" smtClean="0"/>
              <a:t>6-7 Testimony</a:t>
            </a:r>
          </a:p>
          <a:p>
            <a:r>
              <a:rPr lang="en-US" dirty="0" smtClean="0"/>
              <a:t>Psalm 107</a:t>
            </a:r>
          </a:p>
          <a:p>
            <a:r>
              <a:rPr lang="en-US" dirty="0" smtClean="0"/>
              <a:t>1-3 Call to worship</a:t>
            </a:r>
          </a:p>
          <a:p>
            <a:r>
              <a:rPr lang="en-US" dirty="0" smtClean="0"/>
              <a:t>8f,15f,21f,31f,43 – Proclamation &amp; introductory part</a:t>
            </a:r>
          </a:p>
          <a:p>
            <a:r>
              <a:rPr lang="en-US" dirty="0" smtClean="0"/>
              <a:t>Psalm 124</a:t>
            </a:r>
          </a:p>
          <a:p>
            <a:r>
              <a:rPr lang="en-US" dirty="0" smtClean="0"/>
              <a:t>1b – Call to worship</a:t>
            </a:r>
          </a:p>
          <a:p>
            <a:r>
              <a:rPr lang="en-US" dirty="0" smtClean="0"/>
              <a:t>1-5 – Proclamation &amp; introductory part</a:t>
            </a:r>
          </a:p>
          <a:p>
            <a:r>
              <a:rPr lang="en-US" dirty="0" smtClean="0"/>
              <a:t>2b-5, 6b-7  Testimony</a:t>
            </a:r>
          </a:p>
          <a:p>
            <a:r>
              <a:rPr lang="en-US" dirty="0" smtClean="0"/>
              <a:t>6a Praise</a:t>
            </a:r>
            <a:endParaRPr lang="en-IN" dirty="0"/>
          </a:p>
        </p:txBody>
      </p:sp>
    </p:spTree>
    <p:extLst>
      <p:ext uri="{BB962C8B-B14F-4D97-AF65-F5344CB8AC3E}">
        <p14:creationId xmlns:p14="http://schemas.microsoft.com/office/powerpoint/2010/main" val="4006199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Psalm 129</a:t>
            </a:r>
            <a:endParaRPr lang="en-IN" dirty="0"/>
          </a:p>
        </p:txBody>
      </p:sp>
      <p:sp>
        <p:nvSpPr>
          <p:cNvPr id="3" name="Content Placeholder 2"/>
          <p:cNvSpPr>
            <a:spLocks noGrp="1"/>
          </p:cNvSpPr>
          <p:nvPr>
            <p:ph idx="1"/>
          </p:nvPr>
        </p:nvSpPr>
        <p:spPr/>
        <p:txBody>
          <a:bodyPr/>
          <a:lstStyle/>
          <a:p>
            <a:r>
              <a:rPr lang="en-US" dirty="0" smtClean="0"/>
              <a:t>1b   Call to worship</a:t>
            </a:r>
          </a:p>
          <a:p>
            <a:r>
              <a:rPr lang="en-US" dirty="0" smtClean="0"/>
              <a:t>1-4   Proclamation &amp; introductory part</a:t>
            </a:r>
          </a:p>
          <a:p>
            <a:r>
              <a:rPr lang="en-US" dirty="0" smtClean="0"/>
              <a:t>3-4   Testimony</a:t>
            </a:r>
          </a:p>
          <a:p>
            <a:r>
              <a:rPr lang="en-US" dirty="0" smtClean="0"/>
              <a:t>Life situation</a:t>
            </a:r>
          </a:p>
          <a:p>
            <a:r>
              <a:rPr lang="en-US" dirty="0" smtClean="0"/>
              <a:t>Main intent </a:t>
            </a:r>
          </a:p>
          <a:p>
            <a:r>
              <a:rPr lang="en-US" dirty="0" smtClean="0"/>
              <a:t>Detailed study</a:t>
            </a:r>
          </a:p>
          <a:p>
            <a:r>
              <a:rPr lang="en-US" dirty="0" smtClean="0"/>
              <a:t>Application </a:t>
            </a:r>
          </a:p>
          <a:p>
            <a:r>
              <a:rPr lang="en-US" dirty="0" smtClean="0"/>
              <a:t>Finally Heading</a:t>
            </a:r>
          </a:p>
          <a:p>
            <a:endParaRPr lang="en-US" dirty="0" smtClean="0"/>
          </a:p>
        </p:txBody>
      </p:sp>
    </p:spTree>
    <p:extLst>
      <p:ext uri="{BB962C8B-B14F-4D97-AF65-F5344CB8AC3E}">
        <p14:creationId xmlns:p14="http://schemas.microsoft.com/office/powerpoint/2010/main" val="3295816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algn="ctr"/>
            <a:r>
              <a:rPr lang="en-US" dirty="0" smtClean="0"/>
              <a:t>SONGS OF TRUST</a:t>
            </a:r>
            <a:endParaRPr lang="en-IN" dirty="0"/>
          </a:p>
        </p:txBody>
      </p:sp>
      <p:sp>
        <p:nvSpPr>
          <p:cNvPr id="5" name="Subtitle 4"/>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5559399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SONGS OF TRUST</a:t>
            </a:r>
            <a:endParaRPr lang="en-IN" dirty="0"/>
          </a:p>
        </p:txBody>
      </p:sp>
      <p:sp>
        <p:nvSpPr>
          <p:cNvPr id="3" name="Content Placeholder 2"/>
          <p:cNvSpPr>
            <a:spLocks noGrp="1"/>
          </p:cNvSpPr>
          <p:nvPr>
            <p:ph idx="1"/>
          </p:nvPr>
        </p:nvSpPr>
        <p:spPr/>
        <p:txBody>
          <a:bodyPr>
            <a:normAutofit fontScale="85000" lnSpcReduction="20000"/>
          </a:bodyPr>
          <a:lstStyle/>
          <a:p>
            <a:r>
              <a:rPr lang="en-US" dirty="0" smtClean="0"/>
              <a:t>Two types</a:t>
            </a:r>
          </a:p>
          <a:p>
            <a:r>
              <a:rPr lang="en-US" dirty="0" smtClean="0"/>
              <a:t>Individual songs of trust (IST)</a:t>
            </a:r>
          </a:p>
          <a:p>
            <a:r>
              <a:rPr lang="en-US" dirty="0" smtClean="0"/>
              <a:t>Community songs of trust (CST)</a:t>
            </a:r>
          </a:p>
          <a:p>
            <a:r>
              <a:rPr lang="en-US" dirty="0" smtClean="0"/>
              <a:t>Psalm 23</a:t>
            </a:r>
          </a:p>
          <a:p>
            <a:r>
              <a:rPr lang="en-US" dirty="0" smtClean="0"/>
              <a:t>Psalm 27</a:t>
            </a:r>
          </a:p>
          <a:p>
            <a:r>
              <a:rPr lang="en-US" dirty="0" smtClean="0"/>
              <a:t>Psalm 4</a:t>
            </a:r>
          </a:p>
          <a:p>
            <a:r>
              <a:rPr lang="en-US" dirty="0" smtClean="0"/>
              <a:t>Psalm 11</a:t>
            </a:r>
          </a:p>
          <a:p>
            <a:r>
              <a:rPr lang="en-US" dirty="0" smtClean="0"/>
              <a:t>Psalm 16</a:t>
            </a:r>
          </a:p>
          <a:p>
            <a:r>
              <a:rPr lang="en-US" dirty="0" smtClean="0"/>
              <a:t>Psalm 62</a:t>
            </a:r>
          </a:p>
          <a:p>
            <a:r>
              <a:rPr lang="en-US" dirty="0" smtClean="0"/>
              <a:t>Psalm 91</a:t>
            </a:r>
          </a:p>
          <a:p>
            <a:r>
              <a:rPr lang="en-US" dirty="0" smtClean="0"/>
              <a:t>Psalm 131 </a:t>
            </a:r>
          </a:p>
          <a:p>
            <a:r>
              <a:rPr lang="en-US" dirty="0" smtClean="0"/>
              <a:t>The main element of Songs of trust is that they express ‘Trust’ even though there may be difficulties.</a:t>
            </a:r>
            <a:endParaRPr lang="en-IN" dirty="0"/>
          </a:p>
        </p:txBody>
      </p:sp>
    </p:spTree>
    <p:extLst>
      <p:ext uri="{BB962C8B-B14F-4D97-AF65-F5344CB8AC3E}">
        <p14:creationId xmlns:p14="http://schemas.microsoft.com/office/powerpoint/2010/main" val="539041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t>
            </a:r>
            <a:r>
              <a:rPr lang="en-US" sz="4000" dirty="0" smtClean="0"/>
              <a:t>alyzing of Individual Songs of Trust</a:t>
            </a:r>
            <a:endParaRPr lang="en-IN" sz="4000" dirty="0"/>
          </a:p>
        </p:txBody>
      </p:sp>
      <p:sp>
        <p:nvSpPr>
          <p:cNvPr id="3" name="Content Placeholder 2"/>
          <p:cNvSpPr>
            <a:spLocks noGrp="1"/>
          </p:cNvSpPr>
          <p:nvPr>
            <p:ph idx="1"/>
          </p:nvPr>
        </p:nvSpPr>
        <p:spPr/>
        <p:txBody>
          <a:bodyPr/>
          <a:lstStyle/>
          <a:p>
            <a:r>
              <a:rPr lang="en-US" dirty="0" smtClean="0"/>
              <a:t>To memory</a:t>
            </a:r>
          </a:p>
          <a:p>
            <a:r>
              <a:rPr lang="en-US" dirty="0" smtClean="0"/>
              <a:t>11-4 = 7</a:t>
            </a:r>
          </a:p>
          <a:p>
            <a:r>
              <a:rPr lang="en-US" dirty="0" smtClean="0"/>
              <a:t>23-16 = 7</a:t>
            </a:r>
          </a:p>
          <a:p>
            <a:r>
              <a:rPr lang="en-US" dirty="0" smtClean="0"/>
              <a:t>27</a:t>
            </a:r>
          </a:p>
          <a:p>
            <a:r>
              <a:rPr lang="en-US" dirty="0" smtClean="0"/>
              <a:t>62, 6-2 = 4</a:t>
            </a:r>
          </a:p>
          <a:p>
            <a:r>
              <a:rPr lang="en-US" dirty="0" smtClean="0"/>
              <a:t>91, 9-1 = 8</a:t>
            </a:r>
          </a:p>
          <a:p>
            <a:r>
              <a:rPr lang="en-US" dirty="0" smtClean="0"/>
              <a:t>131, 13-1= 12</a:t>
            </a:r>
          </a:p>
          <a:p>
            <a:r>
              <a:rPr lang="en-US" dirty="0" smtClean="0"/>
              <a:t>4, 11, 16, 23, 27, 62, 91, 131.</a:t>
            </a:r>
          </a:p>
          <a:p>
            <a:r>
              <a:rPr lang="en-US" dirty="0" smtClean="0"/>
              <a:t>23 &amp; 27 in the middle and three Psalms on either side</a:t>
            </a:r>
            <a:endParaRPr lang="en-IN" dirty="0"/>
          </a:p>
        </p:txBody>
      </p:sp>
    </p:spTree>
    <p:extLst>
      <p:ext uri="{BB962C8B-B14F-4D97-AF65-F5344CB8AC3E}">
        <p14:creationId xmlns:p14="http://schemas.microsoft.com/office/powerpoint/2010/main" val="1497210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803514"/>
          </a:xfrm>
        </p:spPr>
        <p:txBody>
          <a:bodyPr/>
          <a:lstStyle/>
          <a:p>
            <a:pPr algn="ctr"/>
            <a:r>
              <a:rPr lang="en-US" dirty="0" smtClean="0"/>
              <a:t>THE MAIN CHARACTER OF IST</a:t>
            </a:r>
            <a:endParaRPr lang="en-IN" dirty="0"/>
          </a:p>
        </p:txBody>
      </p:sp>
      <p:sp>
        <p:nvSpPr>
          <p:cNvPr id="3" name="Content Placeholder 2"/>
          <p:cNvSpPr>
            <a:spLocks noGrp="1"/>
          </p:cNvSpPr>
          <p:nvPr>
            <p:ph idx="1"/>
          </p:nvPr>
        </p:nvSpPr>
        <p:spPr>
          <a:xfrm>
            <a:off x="1104293" y="1538243"/>
            <a:ext cx="8946541" cy="5016381"/>
          </a:xfrm>
        </p:spPr>
        <p:txBody>
          <a:bodyPr>
            <a:normAutofit lnSpcReduction="10000"/>
          </a:bodyPr>
          <a:lstStyle/>
          <a:p>
            <a:r>
              <a:rPr lang="en-US" dirty="0" smtClean="0"/>
              <a:t>TRUST in the midst of DIFFICULTIES</a:t>
            </a:r>
          </a:p>
          <a:p>
            <a:r>
              <a:rPr lang="en-US" dirty="0" smtClean="0"/>
              <a:t>They are thus very closely related to the type of Psalm called</a:t>
            </a:r>
          </a:p>
          <a:p>
            <a:r>
              <a:rPr lang="en-US" dirty="0" smtClean="0"/>
              <a:t>The Lament</a:t>
            </a:r>
          </a:p>
          <a:p>
            <a:r>
              <a:rPr lang="en-US" dirty="0" smtClean="0"/>
              <a:t>‘Even though’ I will trust in the Lord</a:t>
            </a:r>
          </a:p>
          <a:p>
            <a:r>
              <a:rPr lang="en-US" dirty="0" smtClean="0"/>
              <a:t>Ps 4: 1-3 &amp; 8</a:t>
            </a:r>
          </a:p>
          <a:p>
            <a:r>
              <a:rPr lang="en-US" dirty="0" smtClean="0"/>
              <a:t>Ps 11: 1-3 &amp; 5f</a:t>
            </a:r>
          </a:p>
          <a:p>
            <a:r>
              <a:rPr lang="en-US" dirty="0" smtClean="0"/>
              <a:t>Ps 16: 1 &amp; 10</a:t>
            </a:r>
          </a:p>
          <a:p>
            <a:r>
              <a:rPr lang="en-US" dirty="0" smtClean="0"/>
              <a:t>Ps 23: 1 &amp; 4</a:t>
            </a:r>
          </a:p>
          <a:p>
            <a:r>
              <a:rPr lang="en-US" dirty="0" smtClean="0"/>
              <a:t>Ps 27: 1- 6</a:t>
            </a:r>
          </a:p>
          <a:p>
            <a:r>
              <a:rPr lang="en-US" dirty="0" smtClean="0"/>
              <a:t>Ps 62: 1- 7</a:t>
            </a:r>
          </a:p>
          <a:p>
            <a:r>
              <a:rPr lang="en-US" dirty="0" smtClean="0"/>
              <a:t>Ps 91: ? </a:t>
            </a:r>
          </a:p>
          <a:p>
            <a:r>
              <a:rPr lang="en-US" dirty="0" smtClean="0"/>
              <a:t>Ps 131: 2</a:t>
            </a:r>
            <a:endParaRPr lang="en-IN" dirty="0"/>
          </a:p>
        </p:txBody>
      </p:sp>
    </p:spTree>
    <p:extLst>
      <p:ext uri="{BB962C8B-B14F-4D97-AF65-F5344CB8AC3E}">
        <p14:creationId xmlns:p14="http://schemas.microsoft.com/office/powerpoint/2010/main" val="771340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Psalm 91 </a:t>
            </a:r>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t>Psalm 91 is different from the other individual songs of trust. </a:t>
            </a:r>
          </a:p>
          <a:p>
            <a:r>
              <a:rPr lang="en-US" dirty="0" smtClean="0"/>
              <a:t> Probably it was used liturgically at a very early stage.</a:t>
            </a:r>
          </a:p>
          <a:p>
            <a:r>
              <a:rPr lang="en-US" dirty="0" smtClean="0"/>
              <a:t>The purpose of the psalmist was not to express his own trust in God in difficult situation or circumstances.</a:t>
            </a:r>
          </a:p>
          <a:p>
            <a:r>
              <a:rPr lang="en-US" dirty="0" smtClean="0"/>
              <a:t>But to assure others that they might confidently trust in the Lord in all situations.</a:t>
            </a:r>
          </a:p>
          <a:p>
            <a:r>
              <a:rPr lang="en-US" dirty="0" smtClean="0"/>
              <a:t>At the time of temptation of Christ – Mathew 4: 6, Luke 10: 10f             the devil quoted verses 11a, 12 of this Psalm.</a:t>
            </a:r>
          </a:p>
          <a:p>
            <a:r>
              <a:rPr lang="en-US" dirty="0" smtClean="0"/>
              <a:t>Notice however the phrase that Satan left out “ to guard you in all ways “ this phrase make to the interpretation of the verse, would include our everyday life. </a:t>
            </a:r>
          </a:p>
          <a:p>
            <a:r>
              <a:rPr lang="en-US" dirty="0" smtClean="0"/>
              <a:t>It would not include any foolish things which the devil might prompt us to do .   </a:t>
            </a:r>
          </a:p>
          <a:p>
            <a:endParaRPr lang="en-IN" dirty="0"/>
          </a:p>
        </p:txBody>
      </p:sp>
    </p:spTree>
    <p:extLst>
      <p:ext uri="{BB962C8B-B14F-4D97-AF65-F5344CB8AC3E}">
        <p14:creationId xmlns:p14="http://schemas.microsoft.com/office/powerpoint/2010/main" val="2506736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PSALM 27</a:t>
            </a:r>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t>Ps 27: 1-6 song of trust </a:t>
            </a:r>
            <a:r>
              <a:rPr lang="ml-IN" dirty="0"/>
              <a:t>ആശ്രയ കീർത്തനം</a:t>
            </a:r>
            <a:endParaRPr lang="en-US" dirty="0" smtClean="0"/>
          </a:p>
          <a:p>
            <a:r>
              <a:rPr lang="en-US" dirty="0" smtClean="0"/>
              <a:t>Verses 7-14 lament </a:t>
            </a:r>
            <a:r>
              <a:rPr lang="ml-IN" dirty="0"/>
              <a:t>വിലാപ </a:t>
            </a:r>
            <a:r>
              <a:rPr lang="ml-IN" dirty="0" smtClean="0"/>
              <a:t>കീർത്തനം</a:t>
            </a:r>
            <a:r>
              <a:rPr lang="en-US" dirty="0" smtClean="0"/>
              <a:t>	</a:t>
            </a:r>
          </a:p>
          <a:p>
            <a:r>
              <a:rPr lang="en-US" dirty="0" smtClean="0"/>
              <a:t>Some scholars think therefore Psalm 27 is made up of two separate Psalms by different authors. </a:t>
            </a:r>
            <a:r>
              <a:rPr lang="ml-IN" dirty="0"/>
              <a:t>രണ്ടു വ്യത്യസ്ത സങ്കീർത്തനങ്ങൾ ആണന്ന് അഭിപ്രായം ഉണ്ട്</a:t>
            </a:r>
            <a:endParaRPr lang="en-US" dirty="0" smtClean="0"/>
          </a:p>
          <a:p>
            <a:r>
              <a:rPr lang="en-US" sz="3200" dirty="0" smtClean="0"/>
              <a:t>PSALM 23</a:t>
            </a:r>
          </a:p>
          <a:p>
            <a:r>
              <a:rPr lang="en-US" dirty="0" smtClean="0"/>
              <a:t>The Lord is my shepherd, I shall not want </a:t>
            </a:r>
          </a:p>
          <a:p>
            <a:r>
              <a:rPr lang="ml-IN" dirty="0" smtClean="0"/>
              <a:t>യഹോവ </a:t>
            </a:r>
            <a:r>
              <a:rPr lang="ml-IN" dirty="0"/>
              <a:t>എന്റെ  </a:t>
            </a:r>
            <a:r>
              <a:rPr lang="ml-IN" dirty="0" smtClean="0"/>
              <a:t>ഇടയനാകുന്നു</a:t>
            </a:r>
            <a:r>
              <a:rPr lang="en-US" dirty="0" smtClean="0"/>
              <a:t>. </a:t>
            </a:r>
            <a:r>
              <a:rPr lang="ml-IN" dirty="0"/>
              <a:t>എനിക്ക് മുട്ടുണ്ടാകുകയില്ല</a:t>
            </a:r>
            <a:endParaRPr lang="en-US" dirty="0" smtClean="0"/>
          </a:p>
          <a:p>
            <a:r>
              <a:rPr lang="en-US" dirty="0" smtClean="0"/>
              <a:t>1. Setting in life </a:t>
            </a:r>
            <a:r>
              <a:rPr lang="ml-IN" dirty="0"/>
              <a:t>ജീവിത പശ്ചാത്തലം</a:t>
            </a:r>
            <a:endParaRPr lang="en-US" dirty="0" smtClean="0"/>
          </a:p>
          <a:p>
            <a:r>
              <a:rPr lang="en-US" dirty="0" smtClean="0"/>
              <a:t>2. Main intent </a:t>
            </a:r>
            <a:r>
              <a:rPr lang="ml-IN" dirty="0"/>
              <a:t>പ്രധാന ഉദ്ദേശം</a:t>
            </a:r>
            <a:endParaRPr lang="en-US" dirty="0" smtClean="0"/>
          </a:p>
          <a:p>
            <a:r>
              <a:rPr lang="en-US" dirty="0" smtClean="0"/>
              <a:t>3. Detailed study </a:t>
            </a:r>
            <a:r>
              <a:rPr lang="ml-IN" dirty="0"/>
              <a:t>വിശദമായ പഠന൦</a:t>
            </a:r>
            <a:endParaRPr lang="en-US" dirty="0" smtClean="0"/>
          </a:p>
          <a:p>
            <a:r>
              <a:rPr lang="en-US" dirty="0" smtClean="0"/>
              <a:t>4. Application. </a:t>
            </a:r>
            <a:r>
              <a:rPr lang="ml-IN" dirty="0"/>
              <a:t>വർത്തമാനകാല ബദ്ധ൦</a:t>
            </a:r>
            <a:endParaRPr lang="en-IN" dirty="0"/>
          </a:p>
        </p:txBody>
      </p:sp>
    </p:spTree>
    <p:extLst>
      <p:ext uri="{BB962C8B-B14F-4D97-AF65-F5344CB8AC3E}">
        <p14:creationId xmlns:p14="http://schemas.microsoft.com/office/powerpoint/2010/main" val="4278720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COMMUNITY SONGS OF TRUST </a:t>
            </a:r>
            <a:r>
              <a:rPr lang="ml-IN" sz="3200" dirty="0"/>
              <a:t>സാമൂഹ്യമായ ആശ്രയ കീർത്തനങ്ങൾ</a:t>
            </a:r>
            <a:endParaRPr lang="en-IN" sz="3200" dirty="0"/>
          </a:p>
        </p:txBody>
      </p:sp>
      <p:sp>
        <p:nvSpPr>
          <p:cNvPr id="3" name="Content Placeholder 2"/>
          <p:cNvSpPr>
            <a:spLocks noGrp="1"/>
          </p:cNvSpPr>
          <p:nvPr>
            <p:ph idx="1"/>
          </p:nvPr>
        </p:nvSpPr>
        <p:spPr/>
        <p:txBody>
          <a:bodyPr>
            <a:normAutofit fontScale="92500" lnSpcReduction="20000"/>
          </a:bodyPr>
          <a:lstStyle/>
          <a:p>
            <a:r>
              <a:rPr lang="en-US" dirty="0" smtClean="0"/>
              <a:t>There are only three Psalms </a:t>
            </a:r>
            <a:r>
              <a:rPr lang="ml-IN" dirty="0"/>
              <a:t>മൂന്ന് സങ്കീർത്തനങ്ങൾ</a:t>
            </a:r>
            <a:endParaRPr lang="en-US" dirty="0" smtClean="0"/>
          </a:p>
          <a:p>
            <a:r>
              <a:rPr lang="en-US" dirty="0" smtClean="0"/>
              <a:t>Psalms 125,126,127</a:t>
            </a:r>
          </a:p>
          <a:p>
            <a:r>
              <a:rPr lang="en-US" dirty="0" smtClean="0"/>
              <a:t>These Psalms are entitled as  songs of Ascents, probably used by pilgrims who were coming, or had come, to worship at Jerusalem. </a:t>
            </a:r>
            <a:r>
              <a:rPr lang="ml-IN" dirty="0"/>
              <a:t>യെരൂശലേമിൽ ആരാധനയ്ക്കു വരുമ്പോൾ പാടുന്ന ഗീതങ്ങൾ</a:t>
            </a:r>
            <a:endParaRPr lang="en-US" dirty="0" smtClean="0"/>
          </a:p>
          <a:p>
            <a:r>
              <a:rPr lang="en-US" dirty="0" smtClean="0"/>
              <a:t>Psalm 125</a:t>
            </a:r>
          </a:p>
          <a:p>
            <a:r>
              <a:rPr lang="en-US" dirty="0" smtClean="0"/>
              <a:t>Psalm 127</a:t>
            </a:r>
          </a:p>
          <a:p>
            <a:r>
              <a:rPr lang="en-US" b="1" i="1" dirty="0" smtClean="0"/>
              <a:t>Psalm 126 – Song of Trust (CST) </a:t>
            </a:r>
            <a:r>
              <a:rPr lang="ml-IN" b="1" i="1" dirty="0"/>
              <a:t>സാമൂഹ്യമായ ആശ്രയ കീർത്തനങ്ങൾ</a:t>
            </a:r>
            <a:endParaRPr lang="en-US" b="1" i="1" dirty="0" smtClean="0"/>
          </a:p>
          <a:p>
            <a:r>
              <a:rPr lang="en-US" b="1" i="1" dirty="0" smtClean="0"/>
              <a:t>Verses 1-3  Reminiscence </a:t>
            </a:r>
            <a:r>
              <a:rPr lang="ml-IN" b="1" i="1" dirty="0"/>
              <a:t>പൂർവ്വകാലത്തു ദൈവം നടത്തിയ വിധമൊക്കെയും ഓർക്കുക</a:t>
            </a:r>
            <a:endParaRPr lang="en-US" b="1" i="1" dirty="0" smtClean="0"/>
          </a:p>
          <a:p>
            <a:r>
              <a:rPr lang="en-US" b="1" i="1" dirty="0" smtClean="0"/>
              <a:t>Verses 4-5 Petition </a:t>
            </a:r>
            <a:r>
              <a:rPr lang="ml-IN" b="1" i="1" dirty="0"/>
              <a:t>പരാതികൾ</a:t>
            </a:r>
            <a:endParaRPr lang="en-US" b="1" i="1" dirty="0" smtClean="0"/>
          </a:p>
          <a:p>
            <a:r>
              <a:rPr lang="en-US" b="1" i="1" dirty="0" smtClean="0"/>
              <a:t>Verse    6   Expression of confidence </a:t>
            </a:r>
            <a:r>
              <a:rPr lang="ml-IN" b="1" i="1" dirty="0"/>
              <a:t>ആത്മ വിശ്വാസ൦</a:t>
            </a:r>
            <a:r>
              <a:rPr lang="en-US" b="1" i="1" dirty="0" smtClean="0"/>
              <a:t> </a:t>
            </a:r>
          </a:p>
          <a:p>
            <a:endParaRPr lang="en-US" dirty="0" smtClean="0"/>
          </a:p>
          <a:p>
            <a:endParaRPr lang="en-US" dirty="0" smtClean="0"/>
          </a:p>
          <a:p>
            <a:endParaRPr lang="en-IN" dirty="0"/>
          </a:p>
        </p:txBody>
      </p:sp>
    </p:spTree>
    <p:extLst>
      <p:ext uri="{BB962C8B-B14F-4D97-AF65-F5344CB8AC3E}">
        <p14:creationId xmlns:p14="http://schemas.microsoft.com/office/powerpoint/2010/main" val="448775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6291" y="-624051"/>
            <a:ext cx="9404723" cy="794967"/>
          </a:xfrm>
        </p:spPr>
        <p:txBody>
          <a:bodyPr/>
          <a:lstStyle/>
          <a:p>
            <a:pPr algn="ctr"/>
            <a:r>
              <a:rPr lang="en-US" dirty="0" smtClean="0"/>
              <a:t>RIVISION STUDY</a:t>
            </a:r>
            <a:endParaRPr lang="en-IN" dirty="0"/>
          </a:p>
        </p:txBody>
      </p:sp>
      <p:sp>
        <p:nvSpPr>
          <p:cNvPr id="3" name="Content Placeholder 2"/>
          <p:cNvSpPr>
            <a:spLocks noGrp="1"/>
          </p:cNvSpPr>
          <p:nvPr>
            <p:ph idx="1"/>
          </p:nvPr>
        </p:nvSpPr>
        <p:spPr>
          <a:xfrm>
            <a:off x="1163133" y="940037"/>
            <a:ext cx="8946541" cy="5665862"/>
          </a:xfrm>
        </p:spPr>
        <p:txBody>
          <a:bodyPr>
            <a:normAutofit/>
          </a:bodyPr>
          <a:lstStyle/>
          <a:p>
            <a:r>
              <a:rPr lang="en-US" dirty="0" smtClean="0"/>
              <a:t>HYMN</a:t>
            </a:r>
          </a:p>
          <a:p>
            <a:pPr lvl="1"/>
            <a:r>
              <a:rPr lang="en-US" dirty="0" smtClean="0"/>
              <a:t>1. CALL TO WORSHIP</a:t>
            </a:r>
          </a:p>
          <a:p>
            <a:pPr lvl="1"/>
            <a:r>
              <a:rPr lang="en-US" dirty="0" smtClean="0"/>
              <a:t>2. WHAT GOD HAS DONE OR WHAT GOD IS LIKE</a:t>
            </a:r>
          </a:p>
          <a:p>
            <a:r>
              <a:rPr lang="en-US" dirty="0" smtClean="0"/>
              <a:t>LAMENT- INDIVIDUAL AND COMMUNITY</a:t>
            </a:r>
          </a:p>
          <a:p>
            <a:pPr lvl="1"/>
            <a:r>
              <a:rPr lang="en-US" dirty="0" smtClean="0"/>
              <a:t>1. INVOCATION           2. LAMENTATION</a:t>
            </a:r>
          </a:p>
          <a:p>
            <a:pPr lvl="1"/>
            <a:r>
              <a:rPr lang="en-US" dirty="0" smtClean="0"/>
              <a:t>3. PETITION                   4. MOTIVATION</a:t>
            </a:r>
          </a:p>
          <a:p>
            <a:pPr lvl="1"/>
            <a:r>
              <a:rPr lang="en-US" dirty="0" smtClean="0"/>
              <a:t>5. VOW                         6. DIVINE RESPONSE</a:t>
            </a:r>
          </a:p>
          <a:p>
            <a:pPr lvl="1"/>
            <a:r>
              <a:rPr lang="en-US" dirty="0" smtClean="0"/>
              <a:t>7. EXPRESSION OF CONFIDENCE</a:t>
            </a:r>
          </a:p>
          <a:p>
            <a:r>
              <a:rPr lang="en-US" dirty="0" smtClean="0"/>
              <a:t>THANKSGIVING- INDIVIDUAL AND COMMUNITY</a:t>
            </a:r>
          </a:p>
          <a:p>
            <a:pPr lvl="1"/>
            <a:r>
              <a:rPr lang="en-US" dirty="0" smtClean="0"/>
              <a:t>1. CALL TO WORSHIP  2. PROCLAMATION AND INTRODUCTORY PART</a:t>
            </a:r>
          </a:p>
          <a:p>
            <a:pPr lvl="1"/>
            <a:r>
              <a:rPr lang="en-US" dirty="0" smtClean="0"/>
              <a:t>3. TESTIMONY               4. PRAISE</a:t>
            </a:r>
          </a:p>
          <a:p>
            <a:r>
              <a:rPr lang="en-US" dirty="0" smtClean="0"/>
              <a:t>TRUST – INDIVIDUAL AND COMMUNITY</a:t>
            </a:r>
          </a:p>
          <a:p>
            <a:pPr lvl="1"/>
            <a:r>
              <a:rPr lang="en-US" dirty="0" smtClean="0"/>
              <a:t>TRUST	IN THE MIDST OF DIFFICULTIES	</a:t>
            </a:r>
            <a:endParaRPr lang="en-IN" dirty="0"/>
          </a:p>
        </p:txBody>
      </p:sp>
    </p:spTree>
    <p:extLst>
      <p:ext uri="{BB962C8B-B14F-4D97-AF65-F5344CB8AC3E}">
        <p14:creationId xmlns:p14="http://schemas.microsoft.com/office/powerpoint/2010/main" val="260062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 calcmode="lin" valueType="num">
                                      <p:cBhvr additive="base">
                                        <p:cTn id="4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 calcmode="lin" valueType="num">
                                      <p:cBhvr additive="base">
                                        <p:cTn id="5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 calcmode="lin" valueType="num">
                                      <p:cBhvr additive="base">
                                        <p:cTn id="5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
                                            <p:txEl>
                                              <p:pRg st="12" end="12"/>
                                            </p:txEl>
                                          </p:spTgt>
                                        </p:tgtEl>
                                        <p:attrNameLst>
                                          <p:attrName>style.visibility</p:attrName>
                                        </p:attrNameLst>
                                      </p:cBhvr>
                                      <p:to>
                                        <p:strVal val="visible"/>
                                      </p:to>
                                    </p:set>
                                    <p:anim calcmode="lin" valueType="num">
                                      <p:cBhvr additive="base">
                                        <p:cTn id="6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 we studied the following</a:t>
            </a:r>
            <a:endParaRPr lang="en-IN" dirty="0"/>
          </a:p>
        </p:txBody>
      </p:sp>
      <p:sp>
        <p:nvSpPr>
          <p:cNvPr id="3" name="Content Placeholder 2"/>
          <p:cNvSpPr>
            <a:spLocks noGrp="1"/>
          </p:cNvSpPr>
          <p:nvPr>
            <p:ph idx="1"/>
          </p:nvPr>
        </p:nvSpPr>
        <p:spPr>
          <a:xfrm>
            <a:off x="1573331" y="1853248"/>
            <a:ext cx="10142953" cy="3667335"/>
          </a:xfrm>
        </p:spPr>
        <p:txBody>
          <a:bodyPr/>
          <a:lstStyle/>
          <a:p>
            <a:r>
              <a:rPr lang="en-US" dirty="0" smtClean="0"/>
              <a:t>Hymn</a:t>
            </a:r>
            <a:r>
              <a:rPr lang="en-IN" dirty="0" smtClean="0"/>
              <a:t>     - H  </a:t>
            </a:r>
            <a:r>
              <a:rPr lang="ml-IN" dirty="0"/>
              <a:t>സ്തുതിഗീതങ്ങൾ</a:t>
            </a:r>
            <a:endParaRPr lang="en-IN" dirty="0" smtClean="0"/>
          </a:p>
          <a:p>
            <a:r>
              <a:rPr lang="en-US" dirty="0" smtClean="0"/>
              <a:t>Individual songs of Lament     - IL </a:t>
            </a:r>
            <a:r>
              <a:rPr lang="ml-IN" dirty="0" smtClean="0"/>
              <a:t>വ്യക്തി</a:t>
            </a:r>
            <a:r>
              <a:rPr lang="en-US" dirty="0" smtClean="0"/>
              <a:t> </a:t>
            </a:r>
            <a:r>
              <a:rPr lang="ml-IN" dirty="0" smtClean="0"/>
              <a:t>വിലാപ</a:t>
            </a:r>
            <a:r>
              <a:rPr lang="en-US" dirty="0" smtClean="0"/>
              <a:t> </a:t>
            </a:r>
            <a:r>
              <a:rPr lang="ml-IN" dirty="0" smtClean="0"/>
              <a:t>കീർത്തനങ്ങൾ</a:t>
            </a:r>
            <a:endParaRPr lang="en-US" dirty="0" smtClean="0"/>
          </a:p>
          <a:p>
            <a:r>
              <a:rPr lang="en-US" dirty="0" smtClean="0"/>
              <a:t>Community songs of Lament  - CL </a:t>
            </a:r>
            <a:r>
              <a:rPr lang="ml-IN" dirty="0" smtClean="0"/>
              <a:t>സാമൂഹ്യ</a:t>
            </a:r>
            <a:r>
              <a:rPr lang="en-US" dirty="0" smtClean="0"/>
              <a:t> </a:t>
            </a:r>
            <a:r>
              <a:rPr lang="ml-IN" dirty="0" smtClean="0"/>
              <a:t>വിലാപ</a:t>
            </a:r>
            <a:r>
              <a:rPr lang="en-US" dirty="0" smtClean="0"/>
              <a:t> </a:t>
            </a:r>
            <a:r>
              <a:rPr lang="ml-IN" dirty="0"/>
              <a:t>കീർത്തനങ്ങൾ</a:t>
            </a:r>
            <a:endParaRPr lang="en-US" dirty="0" smtClean="0"/>
          </a:p>
          <a:p>
            <a:r>
              <a:rPr lang="en-US" dirty="0" smtClean="0"/>
              <a:t>Individual songs of Thanksgiving – IT </a:t>
            </a:r>
            <a:r>
              <a:rPr lang="ml-IN" dirty="0"/>
              <a:t>വ്യക്തി</a:t>
            </a:r>
            <a:r>
              <a:rPr lang="en-US" dirty="0" smtClean="0"/>
              <a:t> </a:t>
            </a:r>
            <a:r>
              <a:rPr lang="ml-IN" dirty="0" smtClean="0"/>
              <a:t>സ്തോത്ര</a:t>
            </a:r>
            <a:r>
              <a:rPr lang="en-US" dirty="0" smtClean="0"/>
              <a:t> </a:t>
            </a:r>
            <a:r>
              <a:rPr lang="ml-IN" dirty="0" smtClean="0"/>
              <a:t>കീർത്തനങ്ങൾ</a:t>
            </a:r>
            <a:endParaRPr lang="en-US" dirty="0" smtClean="0"/>
          </a:p>
          <a:p>
            <a:r>
              <a:rPr lang="en-US" dirty="0" smtClean="0"/>
              <a:t>Community songs of Thanksgiving </a:t>
            </a:r>
            <a:r>
              <a:rPr lang="en-US" dirty="0"/>
              <a:t>-</a:t>
            </a:r>
            <a:r>
              <a:rPr lang="en-US" dirty="0" smtClean="0"/>
              <a:t> CT </a:t>
            </a:r>
            <a:r>
              <a:rPr lang="ml-IN" dirty="0"/>
              <a:t>സാമൂഹ്യ</a:t>
            </a:r>
            <a:r>
              <a:rPr lang="en-US" dirty="0" smtClean="0"/>
              <a:t> </a:t>
            </a:r>
            <a:r>
              <a:rPr lang="ml-IN" dirty="0" smtClean="0"/>
              <a:t>സ്തോത്ര</a:t>
            </a:r>
            <a:r>
              <a:rPr lang="en-US" dirty="0" smtClean="0"/>
              <a:t> </a:t>
            </a:r>
            <a:r>
              <a:rPr lang="ml-IN" dirty="0" smtClean="0"/>
              <a:t>കീർത്തനങ്ങൾ</a:t>
            </a:r>
            <a:endParaRPr lang="en-US" dirty="0" smtClean="0"/>
          </a:p>
          <a:p>
            <a:r>
              <a:rPr lang="en-US" dirty="0" smtClean="0"/>
              <a:t>Individual songs of Trust – IST </a:t>
            </a:r>
            <a:r>
              <a:rPr lang="ml-IN" dirty="0" smtClean="0"/>
              <a:t>വ്യക്തി</a:t>
            </a:r>
            <a:r>
              <a:rPr lang="en-US" dirty="0" smtClean="0"/>
              <a:t> </a:t>
            </a:r>
            <a:r>
              <a:rPr lang="ml-IN" dirty="0" smtClean="0"/>
              <a:t>ആശ്രയ</a:t>
            </a:r>
            <a:r>
              <a:rPr lang="en-US" smtClean="0"/>
              <a:t> </a:t>
            </a:r>
            <a:r>
              <a:rPr lang="ml-IN" smtClean="0"/>
              <a:t>കീർത്തനങ്ങൾ</a:t>
            </a:r>
            <a:endParaRPr lang="en-US" dirty="0" smtClean="0"/>
          </a:p>
          <a:p>
            <a:r>
              <a:rPr lang="en-US" dirty="0" smtClean="0"/>
              <a:t>Community songs of Trust – CST </a:t>
            </a:r>
            <a:r>
              <a:rPr lang="ml-IN" dirty="0" smtClean="0"/>
              <a:t>സാമൂഹ്യ</a:t>
            </a:r>
            <a:r>
              <a:rPr lang="en-US" dirty="0" smtClean="0"/>
              <a:t> </a:t>
            </a:r>
            <a:r>
              <a:rPr lang="ml-IN" dirty="0" smtClean="0"/>
              <a:t>ആശ്രയ</a:t>
            </a:r>
            <a:r>
              <a:rPr lang="en-US" dirty="0" smtClean="0"/>
              <a:t> </a:t>
            </a:r>
            <a:r>
              <a:rPr lang="ml-IN" dirty="0" smtClean="0"/>
              <a:t>കീർത്തനങ്ങൾ</a:t>
            </a:r>
            <a:endParaRPr lang="en-US" dirty="0"/>
          </a:p>
        </p:txBody>
      </p:sp>
    </p:spTree>
    <p:extLst>
      <p:ext uri="{BB962C8B-B14F-4D97-AF65-F5344CB8AC3E}">
        <p14:creationId xmlns:p14="http://schemas.microsoft.com/office/powerpoint/2010/main" val="1699732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ROYAL PSALMS</a:t>
            </a:r>
            <a:endParaRPr lang="en-IN" dirty="0"/>
          </a:p>
        </p:txBody>
      </p:sp>
      <p:sp>
        <p:nvSpPr>
          <p:cNvPr id="3" name="Content Placeholder 2"/>
          <p:cNvSpPr>
            <a:spLocks noGrp="1"/>
          </p:cNvSpPr>
          <p:nvPr>
            <p:ph idx="1"/>
          </p:nvPr>
        </p:nvSpPr>
        <p:spPr/>
        <p:txBody>
          <a:bodyPr/>
          <a:lstStyle/>
          <a:p>
            <a:r>
              <a:rPr lang="en-US" dirty="0" smtClean="0"/>
              <a:t>Definition</a:t>
            </a:r>
          </a:p>
          <a:p>
            <a:r>
              <a:rPr lang="en-US" dirty="0" smtClean="0"/>
              <a:t>The Royal Psalms are those in which the king is in the foreground</a:t>
            </a:r>
          </a:p>
          <a:p>
            <a:r>
              <a:rPr lang="en-US" dirty="0" smtClean="0"/>
              <a:t>Look Psalm 2</a:t>
            </a:r>
          </a:p>
          <a:p>
            <a:r>
              <a:rPr lang="en-US" dirty="0" smtClean="0"/>
              <a:t>Solomon came to the throne : accession</a:t>
            </a:r>
          </a:p>
          <a:p>
            <a:r>
              <a:rPr lang="en-US" dirty="0" smtClean="0"/>
              <a:t>Psalm 45</a:t>
            </a:r>
          </a:p>
          <a:p>
            <a:r>
              <a:rPr lang="en-US" dirty="0" smtClean="0"/>
              <a:t>Wedding of the king</a:t>
            </a:r>
          </a:p>
          <a:p>
            <a:r>
              <a:rPr lang="en-US" dirty="0" smtClean="0"/>
              <a:t>Psalms</a:t>
            </a:r>
          </a:p>
          <a:p>
            <a:r>
              <a:rPr lang="en-US" dirty="0" smtClean="0"/>
              <a:t>2,18, 20, 21, 45, 61, 63, 72, 89, 101, 132, 135, 144.</a:t>
            </a:r>
          </a:p>
          <a:p>
            <a:endParaRPr lang="en-US" dirty="0" smtClean="0"/>
          </a:p>
          <a:p>
            <a:endParaRPr lang="en-IN" dirty="0"/>
          </a:p>
        </p:txBody>
      </p:sp>
    </p:spTree>
    <p:extLst>
      <p:ext uri="{BB962C8B-B14F-4D97-AF65-F5344CB8AC3E}">
        <p14:creationId xmlns:p14="http://schemas.microsoft.com/office/powerpoint/2010/main" val="2400674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ENTHRONEMENT PSALMS </a:t>
            </a:r>
            <a:r>
              <a:rPr lang="ml-IN" dirty="0"/>
              <a:t>സ്ഥാനാരോഹണ ഗീതങ്ങൾ</a:t>
            </a:r>
            <a:endParaRPr lang="en-IN" dirty="0"/>
          </a:p>
        </p:txBody>
      </p:sp>
      <p:sp>
        <p:nvSpPr>
          <p:cNvPr id="3" name="Content Placeholder 2"/>
          <p:cNvSpPr>
            <a:spLocks noGrp="1"/>
          </p:cNvSpPr>
          <p:nvPr>
            <p:ph idx="1"/>
          </p:nvPr>
        </p:nvSpPr>
        <p:spPr>
          <a:xfrm>
            <a:off x="1103312" y="2052919"/>
            <a:ext cx="8946541" cy="3826588"/>
          </a:xfrm>
        </p:spPr>
        <p:txBody>
          <a:bodyPr>
            <a:normAutofit/>
          </a:bodyPr>
          <a:lstStyle/>
          <a:p>
            <a:r>
              <a:rPr lang="en-US" dirty="0" smtClean="0"/>
              <a:t>Definition </a:t>
            </a:r>
            <a:r>
              <a:rPr lang="ml-IN" dirty="0"/>
              <a:t>മുഖവുര</a:t>
            </a:r>
            <a:endParaRPr lang="en-US" dirty="0" smtClean="0"/>
          </a:p>
          <a:p>
            <a:r>
              <a:rPr lang="en-US" dirty="0" smtClean="0"/>
              <a:t>Enthronement Psalms are hymns which celebrate Yahweh's </a:t>
            </a:r>
            <a:r>
              <a:rPr lang="en-US" dirty="0"/>
              <a:t>or the Lord’s</a:t>
            </a:r>
            <a:r>
              <a:rPr lang="en-US" dirty="0" smtClean="0"/>
              <a:t> kingship over all the earth. </a:t>
            </a:r>
            <a:r>
              <a:rPr lang="ml-IN" dirty="0"/>
              <a:t>യഹോവയുടെ രാജത്വത്തെയും മഹത്വത്തെയും സർവ്വ ഭൂമിയിലും ഘോഷിക്കുന്നു</a:t>
            </a:r>
            <a:r>
              <a:rPr lang="ml-IN" dirty="0" smtClean="0"/>
              <a:t>.</a:t>
            </a:r>
            <a:endParaRPr lang="en-US" b="1" dirty="0" smtClean="0"/>
          </a:p>
          <a:p>
            <a:r>
              <a:rPr lang="en-US" dirty="0" smtClean="0"/>
              <a:t>47, 93, 96, 97, 98, 99.  The Lord reigns. </a:t>
            </a:r>
            <a:r>
              <a:rPr lang="ml-IN" dirty="0"/>
              <a:t>യഹോവ വാഴുന്നു</a:t>
            </a:r>
            <a:endParaRPr lang="en-US" dirty="0" smtClean="0"/>
          </a:p>
          <a:p>
            <a:r>
              <a:rPr lang="en-US" dirty="0" smtClean="0"/>
              <a:t>Psalm 47</a:t>
            </a:r>
          </a:p>
          <a:p>
            <a:r>
              <a:rPr lang="en-US" dirty="0" smtClean="0"/>
              <a:t>Past means historical</a:t>
            </a:r>
          </a:p>
          <a:p>
            <a:r>
              <a:rPr lang="en-US" dirty="0" smtClean="0"/>
              <a:t>Future – Eschatological</a:t>
            </a:r>
          </a:p>
          <a:p>
            <a:r>
              <a:rPr lang="en-US" dirty="0" smtClean="0"/>
              <a:t>Isaiah 51: 9f, Psalm 72: 12- 14, Isaiah 27: 1</a:t>
            </a:r>
            <a:r>
              <a:rPr lang="en-US" smtClean="0"/>
              <a:t>, Ezekiel 29: 3.                                                                                                                 </a:t>
            </a:r>
            <a:endParaRPr lang="en-IN" dirty="0"/>
          </a:p>
        </p:txBody>
      </p:sp>
    </p:spTree>
    <p:extLst>
      <p:ext uri="{BB962C8B-B14F-4D97-AF65-F5344CB8AC3E}">
        <p14:creationId xmlns:p14="http://schemas.microsoft.com/office/powerpoint/2010/main" val="223304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206080"/>
            <a:ext cx="9404723" cy="887782"/>
          </a:xfrm>
        </p:spPr>
        <p:txBody>
          <a:bodyPr/>
          <a:lstStyle/>
          <a:p>
            <a:pPr algn="ctr"/>
            <a:r>
              <a:rPr lang="en-US" dirty="0" smtClean="0"/>
              <a:t>ZION PSALMS OR HYMNS</a:t>
            </a:r>
            <a:endParaRPr lang="en-IN" dirty="0"/>
          </a:p>
        </p:txBody>
      </p:sp>
      <p:sp>
        <p:nvSpPr>
          <p:cNvPr id="3" name="Content Placeholder 2"/>
          <p:cNvSpPr>
            <a:spLocks noGrp="1"/>
          </p:cNvSpPr>
          <p:nvPr>
            <p:ph idx="1"/>
          </p:nvPr>
        </p:nvSpPr>
        <p:spPr>
          <a:xfrm>
            <a:off x="1103312" y="1239140"/>
            <a:ext cx="8946541" cy="5009260"/>
          </a:xfrm>
        </p:spPr>
        <p:txBody>
          <a:bodyPr/>
          <a:lstStyle/>
          <a:p>
            <a:r>
              <a:rPr lang="en-US" dirty="0" smtClean="0"/>
              <a:t>Zion Hymns are a particular sub-group of hymns. In them Yahweh is praised in an indirect way  by “a more detailed praise of separate benefits which he has bestowed on his people”, especially the gift of the city. </a:t>
            </a:r>
          </a:p>
          <a:p>
            <a:r>
              <a:rPr lang="en-US" dirty="0" smtClean="0"/>
              <a:t>In Psalm 87 not only God is praised for grating Jerusalem(Zion) to his people but also in v3 the city itself is addressed.</a:t>
            </a:r>
          </a:p>
          <a:p>
            <a:r>
              <a:rPr lang="en-US" dirty="0" smtClean="0"/>
              <a:t>Psalm 137 </a:t>
            </a:r>
          </a:p>
          <a:p>
            <a:r>
              <a:rPr lang="en-US" dirty="0" smtClean="0"/>
              <a:t>The ‘captors’ and ‘tormentors’ of the Jews in Babylon said to them “Sing us one of the songs of Zion”</a:t>
            </a:r>
          </a:p>
          <a:p>
            <a:r>
              <a:rPr lang="en-US" dirty="0" smtClean="0"/>
              <a:t>What are those “songs of Zion”?</a:t>
            </a:r>
          </a:p>
          <a:p>
            <a:r>
              <a:rPr lang="en-US" dirty="0" smtClean="0"/>
              <a:t>The songs which specially glorified Zion </a:t>
            </a:r>
            <a:r>
              <a:rPr lang="en-US" dirty="0" err="1" smtClean="0"/>
              <a:t>i.e</a:t>
            </a:r>
            <a:r>
              <a:rPr lang="en-US" dirty="0" smtClean="0"/>
              <a:t>, a Zion Hymn.</a:t>
            </a:r>
          </a:p>
          <a:p>
            <a:r>
              <a:rPr lang="en-US" dirty="0" smtClean="0"/>
              <a:t>In v4 “ The Lord’s song” is obviously parallel phrase to “song of Zion”.</a:t>
            </a:r>
          </a:p>
          <a:p>
            <a:r>
              <a:rPr lang="en-US" dirty="0" smtClean="0"/>
              <a:t>In v3 Tormentors might say national songs of joy. </a:t>
            </a:r>
          </a:p>
        </p:txBody>
      </p:sp>
    </p:spTree>
    <p:extLst>
      <p:ext uri="{BB962C8B-B14F-4D97-AF65-F5344CB8AC3E}">
        <p14:creationId xmlns:p14="http://schemas.microsoft.com/office/powerpoint/2010/main" val="1005976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461473"/>
            <a:ext cx="9404723" cy="1179319"/>
          </a:xfrm>
        </p:spPr>
        <p:txBody>
          <a:bodyPr/>
          <a:lstStyle/>
          <a:p>
            <a:pPr algn="ctr"/>
            <a:r>
              <a:rPr lang="en-US" dirty="0" smtClean="0"/>
              <a:t>Definition of Zion Hymn</a:t>
            </a:r>
            <a:endParaRPr lang="en-IN" dirty="0"/>
          </a:p>
        </p:txBody>
      </p:sp>
      <p:sp>
        <p:nvSpPr>
          <p:cNvPr id="3" name="Content Placeholder 2"/>
          <p:cNvSpPr>
            <a:spLocks noGrp="1"/>
          </p:cNvSpPr>
          <p:nvPr>
            <p:ph idx="1"/>
          </p:nvPr>
        </p:nvSpPr>
        <p:spPr>
          <a:xfrm>
            <a:off x="1103312" y="2052919"/>
            <a:ext cx="8946541" cy="2954918"/>
          </a:xfrm>
        </p:spPr>
        <p:txBody>
          <a:bodyPr/>
          <a:lstStyle/>
          <a:p>
            <a:endParaRPr lang="en-US" dirty="0" smtClean="0"/>
          </a:p>
          <a:p>
            <a:r>
              <a:rPr lang="en-US" dirty="0" smtClean="0"/>
              <a:t>It is a hymn in which Zion is glorified, and thus indirectly the Lord himself is praised.</a:t>
            </a:r>
          </a:p>
          <a:p>
            <a:r>
              <a:rPr lang="en-US" dirty="0" smtClean="0"/>
              <a:t>Zion hymns are 46, 48, 76, 87.  Often </a:t>
            </a:r>
            <a:r>
              <a:rPr lang="en-US" dirty="0" err="1" smtClean="0"/>
              <a:t>Pss</a:t>
            </a:r>
            <a:r>
              <a:rPr lang="en-US" dirty="0" smtClean="0"/>
              <a:t> 84 and 122 are added.</a:t>
            </a:r>
          </a:p>
          <a:p>
            <a:r>
              <a:rPr lang="en-US" dirty="0"/>
              <a:t>S</a:t>
            </a:r>
            <a:r>
              <a:rPr lang="en-US" dirty="0" smtClean="0"/>
              <a:t>ongs of ascents also known as pilgrim psalms</a:t>
            </a:r>
          </a:p>
          <a:p>
            <a:r>
              <a:rPr lang="en-US" dirty="0" smtClean="0"/>
              <a:t>46, 48, 76, 84, 87, 122.</a:t>
            </a:r>
            <a:endParaRPr lang="en-IN" dirty="0"/>
          </a:p>
        </p:txBody>
      </p:sp>
    </p:spTree>
    <p:extLst>
      <p:ext uri="{BB962C8B-B14F-4D97-AF65-F5344CB8AC3E}">
        <p14:creationId xmlns:p14="http://schemas.microsoft.com/office/powerpoint/2010/main" val="2452505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206080"/>
            <a:ext cx="9404723" cy="887782"/>
          </a:xfrm>
        </p:spPr>
        <p:txBody>
          <a:bodyPr/>
          <a:lstStyle/>
          <a:p>
            <a:pPr algn="ctr"/>
            <a:r>
              <a:rPr lang="en-US" dirty="0" smtClean="0"/>
              <a:t>ZION PSALMS OR HYMNS</a:t>
            </a:r>
            <a:endParaRPr lang="en-IN" dirty="0"/>
          </a:p>
        </p:txBody>
      </p:sp>
      <p:sp>
        <p:nvSpPr>
          <p:cNvPr id="3" name="Content Placeholder 2"/>
          <p:cNvSpPr>
            <a:spLocks noGrp="1"/>
          </p:cNvSpPr>
          <p:nvPr>
            <p:ph idx="1"/>
          </p:nvPr>
        </p:nvSpPr>
        <p:spPr>
          <a:xfrm>
            <a:off x="1103312" y="1239140"/>
            <a:ext cx="8946541" cy="5009260"/>
          </a:xfrm>
        </p:spPr>
        <p:txBody>
          <a:bodyPr/>
          <a:lstStyle/>
          <a:p>
            <a:r>
              <a:rPr lang="en-US" dirty="0" smtClean="0"/>
              <a:t>Zion Hymns are a particular sub-group of hymns. In them Yahweh is praised in an indirect way  by “a more detailed praise of separate benefits which he has bestowed on his people”, especially the gift of the city. </a:t>
            </a:r>
          </a:p>
          <a:p>
            <a:r>
              <a:rPr lang="en-US" dirty="0" smtClean="0"/>
              <a:t>In Psalm 87 not only God is praised for grating Jerusalem(Zion) to his people but also in v3 the city itself is addressed.</a:t>
            </a:r>
          </a:p>
          <a:p>
            <a:r>
              <a:rPr lang="en-US" dirty="0" smtClean="0"/>
              <a:t>Psalm 137 </a:t>
            </a:r>
          </a:p>
          <a:p>
            <a:r>
              <a:rPr lang="en-US" dirty="0" smtClean="0"/>
              <a:t>The ‘captors’ and ‘tormentors’ of the Jews in Babylon said to them “Sing us one of the songs of Zion”</a:t>
            </a:r>
          </a:p>
          <a:p>
            <a:r>
              <a:rPr lang="en-US" dirty="0" smtClean="0"/>
              <a:t>What are those “songs of Zion”?</a:t>
            </a:r>
          </a:p>
          <a:p>
            <a:r>
              <a:rPr lang="en-US" dirty="0" smtClean="0"/>
              <a:t>The songs which specially glorified Zion </a:t>
            </a:r>
            <a:r>
              <a:rPr lang="en-US" dirty="0" err="1" smtClean="0"/>
              <a:t>i.e</a:t>
            </a:r>
            <a:r>
              <a:rPr lang="en-US" dirty="0" smtClean="0"/>
              <a:t>, a Zion Hymn.</a:t>
            </a:r>
          </a:p>
          <a:p>
            <a:r>
              <a:rPr lang="en-US" dirty="0" smtClean="0"/>
              <a:t>In v4 “ The Lord’s song” is obviously parallel phrase to “song of Zion”.</a:t>
            </a:r>
          </a:p>
          <a:p>
            <a:r>
              <a:rPr lang="en-US" dirty="0" smtClean="0"/>
              <a:t>In v3 Tormentors might say national songs of joy. </a:t>
            </a:r>
          </a:p>
        </p:txBody>
      </p:sp>
    </p:spTree>
    <p:extLst>
      <p:ext uri="{BB962C8B-B14F-4D97-AF65-F5344CB8AC3E}">
        <p14:creationId xmlns:p14="http://schemas.microsoft.com/office/powerpoint/2010/main" val="3771690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THE MASSAINIC PSALMS</a:t>
            </a:r>
            <a:endParaRPr lang="en-IN" dirty="0"/>
          </a:p>
        </p:txBody>
      </p:sp>
      <p:sp>
        <p:nvSpPr>
          <p:cNvPr id="3" name="Content Placeholder 2"/>
          <p:cNvSpPr>
            <a:spLocks noGrp="1"/>
          </p:cNvSpPr>
          <p:nvPr>
            <p:ph idx="1"/>
          </p:nvPr>
        </p:nvSpPr>
        <p:spPr/>
        <p:txBody>
          <a:bodyPr>
            <a:normAutofit lnSpcReduction="10000"/>
          </a:bodyPr>
          <a:lstStyle/>
          <a:p>
            <a:r>
              <a:rPr lang="en-US" dirty="0" smtClean="0"/>
              <a:t>In this  </a:t>
            </a:r>
          </a:p>
          <a:p>
            <a:r>
              <a:rPr lang="en-US" dirty="0" smtClean="0"/>
              <a:t>Prophecy concerns Messiah</a:t>
            </a:r>
          </a:p>
          <a:p>
            <a:r>
              <a:rPr lang="en-US" dirty="0" smtClean="0"/>
              <a:t>Birth,</a:t>
            </a:r>
          </a:p>
          <a:p>
            <a:r>
              <a:rPr lang="en-US" dirty="0" smtClean="0"/>
              <a:t> Life, </a:t>
            </a:r>
          </a:p>
          <a:p>
            <a:r>
              <a:rPr lang="en-US" dirty="0"/>
              <a:t>D</a:t>
            </a:r>
            <a:r>
              <a:rPr lang="en-US" dirty="0" smtClean="0"/>
              <a:t>eath, </a:t>
            </a:r>
          </a:p>
          <a:p>
            <a:r>
              <a:rPr lang="en-US" dirty="0"/>
              <a:t>R</a:t>
            </a:r>
            <a:r>
              <a:rPr lang="en-US" dirty="0" smtClean="0"/>
              <a:t>esurrection, </a:t>
            </a:r>
          </a:p>
          <a:p>
            <a:r>
              <a:rPr lang="en-US" dirty="0"/>
              <a:t>M</a:t>
            </a:r>
            <a:r>
              <a:rPr lang="en-US" dirty="0" smtClean="0"/>
              <a:t>inistry </a:t>
            </a:r>
          </a:p>
          <a:p>
            <a:r>
              <a:rPr lang="en-US" dirty="0" smtClean="0"/>
              <a:t>Ascension </a:t>
            </a:r>
            <a:endParaRPr lang="en-US" dirty="0"/>
          </a:p>
          <a:p>
            <a:r>
              <a:rPr lang="en-US" dirty="0" smtClean="0"/>
              <a:t>Sufferings </a:t>
            </a:r>
          </a:p>
          <a:p>
            <a:r>
              <a:rPr lang="en-US" dirty="0" smtClean="0"/>
              <a:t>Government </a:t>
            </a:r>
            <a:endParaRPr lang="en-IN" dirty="0"/>
          </a:p>
        </p:txBody>
      </p:sp>
    </p:spTree>
    <p:extLst>
      <p:ext uri="{BB962C8B-B14F-4D97-AF65-F5344CB8AC3E}">
        <p14:creationId xmlns:p14="http://schemas.microsoft.com/office/powerpoint/2010/main" val="86243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REVISION OF PSALMS</a:t>
            </a:r>
            <a:endParaRPr lang="en-IN" dirty="0"/>
          </a:p>
        </p:txBody>
      </p:sp>
      <p:sp>
        <p:nvSpPr>
          <p:cNvPr id="3" name="Content Placeholder 2"/>
          <p:cNvSpPr>
            <a:spLocks noGrp="1"/>
          </p:cNvSpPr>
          <p:nvPr>
            <p:ph idx="1"/>
          </p:nvPr>
        </p:nvSpPr>
        <p:spPr/>
        <p:txBody>
          <a:bodyPr>
            <a:normAutofit lnSpcReduction="10000"/>
          </a:bodyPr>
          <a:lstStyle/>
          <a:p>
            <a:pPr marL="457200" indent="-457200">
              <a:buAutoNum type="arabicPeriod"/>
            </a:pPr>
            <a:r>
              <a:rPr lang="en-US" dirty="0" smtClean="0"/>
              <a:t>ROYAL PSALMS </a:t>
            </a:r>
            <a:r>
              <a:rPr lang="ml-IN" dirty="0" smtClean="0"/>
              <a:t>രാജകീയ</a:t>
            </a:r>
            <a:r>
              <a:rPr lang="en-US" dirty="0" smtClean="0"/>
              <a:t> </a:t>
            </a:r>
            <a:r>
              <a:rPr lang="ml-IN" dirty="0" smtClean="0"/>
              <a:t>സങ്കീർത്തനങ്ങൾ</a:t>
            </a:r>
            <a:endParaRPr lang="en-US" dirty="0" smtClean="0"/>
          </a:p>
          <a:p>
            <a:pPr marL="457200" indent="-457200">
              <a:buAutoNum type="arabicPeriod"/>
            </a:pPr>
            <a:r>
              <a:rPr lang="en-US" dirty="0" smtClean="0"/>
              <a:t>ENTRONEMENT PSALMS </a:t>
            </a:r>
            <a:r>
              <a:rPr lang="ml-IN" dirty="0" smtClean="0"/>
              <a:t>സ്ഥാനാരോഹണ</a:t>
            </a:r>
            <a:r>
              <a:rPr lang="en-US" dirty="0" smtClean="0"/>
              <a:t> </a:t>
            </a:r>
            <a:r>
              <a:rPr lang="ml-IN" dirty="0" smtClean="0"/>
              <a:t>സങ്കീർത്തനങ്ങൾ</a:t>
            </a:r>
            <a:endParaRPr lang="en-US" dirty="0" smtClean="0"/>
          </a:p>
          <a:p>
            <a:pPr marL="457200" indent="-457200">
              <a:buAutoNum type="arabicPeriod"/>
            </a:pPr>
            <a:r>
              <a:rPr lang="en-US" dirty="0" smtClean="0"/>
              <a:t>ZION PSALMS </a:t>
            </a:r>
            <a:r>
              <a:rPr lang="ml-IN" dirty="0" smtClean="0"/>
              <a:t>സീയോൻ</a:t>
            </a:r>
            <a:r>
              <a:rPr lang="en-US" dirty="0" smtClean="0"/>
              <a:t> </a:t>
            </a:r>
            <a:r>
              <a:rPr lang="ml-IN" dirty="0" smtClean="0"/>
              <a:t>സങ്കീർത്തനങ്ങൾ</a:t>
            </a:r>
            <a:endParaRPr lang="en-US" dirty="0" smtClean="0"/>
          </a:p>
          <a:p>
            <a:pPr marL="457200" indent="-457200">
              <a:buAutoNum type="arabicPeriod"/>
            </a:pPr>
            <a:r>
              <a:rPr lang="en-US" dirty="0" smtClean="0"/>
              <a:t>MESSAINIC PSALMS </a:t>
            </a:r>
            <a:r>
              <a:rPr lang="ml-IN" dirty="0" smtClean="0"/>
              <a:t>മശിഹ</a:t>
            </a:r>
            <a:r>
              <a:rPr lang="en-US" dirty="0" smtClean="0"/>
              <a:t> </a:t>
            </a:r>
            <a:r>
              <a:rPr lang="ml-IN" dirty="0" smtClean="0"/>
              <a:t>സങ്കീർത്തനങ്ങൾ</a:t>
            </a:r>
            <a:endParaRPr lang="en-US" dirty="0" smtClean="0"/>
          </a:p>
          <a:p>
            <a:endParaRPr lang="en-US" dirty="0" smtClean="0"/>
          </a:p>
          <a:p>
            <a:r>
              <a:rPr lang="en-US" dirty="0" smtClean="0"/>
              <a:t>LIFE SITUATION</a:t>
            </a:r>
          </a:p>
          <a:p>
            <a:r>
              <a:rPr lang="en-US" dirty="0" smtClean="0"/>
              <a:t>MAIN INTENT </a:t>
            </a:r>
          </a:p>
          <a:p>
            <a:r>
              <a:rPr lang="en-US" dirty="0" smtClean="0"/>
              <a:t>DETAILED STUDY</a:t>
            </a:r>
          </a:p>
          <a:p>
            <a:r>
              <a:rPr lang="en-US" dirty="0" smtClean="0"/>
              <a:t>APPLICATION</a:t>
            </a:r>
          </a:p>
          <a:p>
            <a:r>
              <a:rPr lang="en-US" dirty="0" smtClean="0"/>
              <a:t>ARRANGE A HEADING</a:t>
            </a:r>
            <a:endParaRPr lang="en-IN" dirty="0"/>
          </a:p>
        </p:txBody>
      </p:sp>
    </p:spTree>
    <p:extLst>
      <p:ext uri="{BB962C8B-B14F-4D97-AF65-F5344CB8AC3E}">
        <p14:creationId xmlns:p14="http://schemas.microsoft.com/office/powerpoint/2010/main" val="4029879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 calcmode="lin" valueType="num">
                                      <p:cBhvr additive="base">
                                        <p:cTn id="5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DIFFERENT TYPES </a:t>
            </a:r>
            <a:br>
              <a:rPr lang="en-US" dirty="0" smtClean="0"/>
            </a:br>
            <a:r>
              <a:rPr lang="ml-IN" dirty="0" smtClean="0"/>
              <a:t>വിവിധ</a:t>
            </a:r>
            <a:r>
              <a:rPr lang="en-US" dirty="0" smtClean="0"/>
              <a:t> </a:t>
            </a:r>
            <a:r>
              <a:rPr lang="ml-IN" dirty="0" smtClean="0"/>
              <a:t>തരം</a:t>
            </a:r>
            <a:r>
              <a:rPr lang="en-US" dirty="0"/>
              <a:t> </a:t>
            </a:r>
            <a:r>
              <a:rPr lang="ml-IN" dirty="0" smtClean="0"/>
              <a:t>സങ്കീർത്തനങ്ങൾ</a:t>
            </a:r>
            <a:endParaRPr lang="en-IN" dirty="0"/>
          </a:p>
        </p:txBody>
      </p:sp>
      <p:sp>
        <p:nvSpPr>
          <p:cNvPr id="3" name="Content Placeholder 2"/>
          <p:cNvSpPr>
            <a:spLocks noGrp="1"/>
          </p:cNvSpPr>
          <p:nvPr>
            <p:ph idx="1"/>
          </p:nvPr>
        </p:nvSpPr>
        <p:spPr>
          <a:xfrm>
            <a:off x="1103312" y="2008262"/>
            <a:ext cx="8946541" cy="4110527"/>
          </a:xfrm>
        </p:spPr>
        <p:txBody>
          <a:bodyPr>
            <a:normAutofit fontScale="92500" lnSpcReduction="10000"/>
          </a:bodyPr>
          <a:lstStyle/>
          <a:p>
            <a:r>
              <a:rPr lang="en-US" dirty="0"/>
              <a:t>WISDOM PSALMS  </a:t>
            </a:r>
            <a:r>
              <a:rPr lang="ml-IN" dirty="0"/>
              <a:t>ജ്ഞാന</a:t>
            </a:r>
            <a:r>
              <a:rPr lang="en-US" dirty="0"/>
              <a:t> </a:t>
            </a:r>
            <a:r>
              <a:rPr lang="ml-IN" dirty="0"/>
              <a:t>സങ്കീർത്തനങ്ങൾ</a:t>
            </a:r>
            <a:endParaRPr lang="en-US" dirty="0"/>
          </a:p>
          <a:p>
            <a:r>
              <a:rPr lang="en-US" dirty="0"/>
              <a:t> </a:t>
            </a:r>
            <a:r>
              <a:rPr lang="en-US" dirty="0" smtClean="0"/>
              <a:t>ENTRANCE LITURGY   </a:t>
            </a:r>
            <a:r>
              <a:rPr lang="ml-IN" dirty="0" smtClean="0"/>
              <a:t>പ്രവേശനനിയമ</a:t>
            </a:r>
            <a:r>
              <a:rPr lang="en-US" dirty="0" smtClean="0"/>
              <a:t> </a:t>
            </a:r>
            <a:r>
              <a:rPr lang="ml-IN" dirty="0" smtClean="0"/>
              <a:t>സങ്കീർത്തനങ്ങൾ</a:t>
            </a:r>
            <a:endParaRPr lang="en-US" dirty="0" smtClean="0"/>
          </a:p>
          <a:p>
            <a:r>
              <a:rPr lang="en-US" dirty="0" smtClean="0"/>
              <a:t>SONGS OF CONFESSION </a:t>
            </a:r>
            <a:r>
              <a:rPr lang="ml-IN" dirty="0" smtClean="0"/>
              <a:t>പശ്ചാത്താപ</a:t>
            </a:r>
            <a:r>
              <a:rPr lang="en-US" dirty="0" smtClean="0"/>
              <a:t> </a:t>
            </a:r>
            <a:r>
              <a:rPr lang="ml-IN" dirty="0" smtClean="0"/>
              <a:t>സങ്കീർത്തനങ്ങൾ</a:t>
            </a:r>
            <a:endParaRPr lang="en-US" dirty="0" smtClean="0"/>
          </a:p>
          <a:p>
            <a:r>
              <a:rPr lang="en-US" dirty="0" smtClean="0"/>
              <a:t>HISTORICAL PSALMS  </a:t>
            </a:r>
            <a:r>
              <a:rPr lang="ml-IN" dirty="0" smtClean="0"/>
              <a:t>ചരിത്ര</a:t>
            </a:r>
            <a:r>
              <a:rPr lang="en-US" dirty="0" smtClean="0"/>
              <a:t> </a:t>
            </a:r>
            <a:r>
              <a:rPr lang="ml-IN" dirty="0" smtClean="0"/>
              <a:t>സങ്കീർത്തനങ്ങൾ</a:t>
            </a:r>
            <a:r>
              <a:rPr lang="en-US" dirty="0" smtClean="0"/>
              <a:t>  </a:t>
            </a:r>
          </a:p>
          <a:p>
            <a:r>
              <a:rPr lang="en-US" dirty="0" smtClean="0"/>
              <a:t>LAW PSALMS  </a:t>
            </a:r>
            <a:r>
              <a:rPr lang="ml-IN" dirty="0" smtClean="0"/>
              <a:t>ന്യായപ്രമാണ</a:t>
            </a:r>
            <a:r>
              <a:rPr lang="en-US" dirty="0" smtClean="0"/>
              <a:t> </a:t>
            </a:r>
            <a:r>
              <a:rPr lang="ml-IN" dirty="0" smtClean="0"/>
              <a:t>സങ്കീർത്തനങ്ങൾ</a:t>
            </a:r>
            <a:endParaRPr lang="en-US" dirty="0" smtClean="0"/>
          </a:p>
          <a:p>
            <a:r>
              <a:rPr lang="en-US" dirty="0" smtClean="0"/>
              <a:t>THEOLOGICAL PSALMS  </a:t>
            </a:r>
            <a:r>
              <a:rPr lang="ml-IN" dirty="0" smtClean="0"/>
              <a:t>ദൈവശാസ്ത്ര</a:t>
            </a:r>
            <a:r>
              <a:rPr lang="en-US" dirty="0" smtClean="0"/>
              <a:t> </a:t>
            </a:r>
            <a:r>
              <a:rPr lang="ml-IN" dirty="0" smtClean="0"/>
              <a:t>സങ്കീർത്തനങ്ങൾ</a:t>
            </a:r>
            <a:endParaRPr lang="en-US" dirty="0" smtClean="0"/>
          </a:p>
          <a:p>
            <a:r>
              <a:rPr lang="en-US" dirty="0" smtClean="0"/>
              <a:t>HALLEL PSALMS  </a:t>
            </a:r>
            <a:r>
              <a:rPr lang="ml-IN" dirty="0" smtClean="0"/>
              <a:t>ഹല്ലേൽ</a:t>
            </a:r>
            <a:r>
              <a:rPr lang="en-US" dirty="0" smtClean="0"/>
              <a:t> </a:t>
            </a:r>
            <a:r>
              <a:rPr lang="ml-IN" dirty="0" smtClean="0"/>
              <a:t>ഗീതങ്ങൾ</a:t>
            </a:r>
            <a:endParaRPr lang="en-US" dirty="0" smtClean="0"/>
          </a:p>
          <a:p>
            <a:r>
              <a:rPr lang="en-US" dirty="0" smtClean="0"/>
              <a:t>CURSING PSALMS  </a:t>
            </a:r>
            <a:r>
              <a:rPr lang="ml-IN" dirty="0" smtClean="0"/>
              <a:t>ശാപ</a:t>
            </a:r>
            <a:r>
              <a:rPr lang="en-US" dirty="0" smtClean="0"/>
              <a:t> </a:t>
            </a:r>
            <a:r>
              <a:rPr lang="ml-IN" dirty="0" smtClean="0"/>
              <a:t>സങ്കീർത്തനങ്ങൾ</a:t>
            </a:r>
            <a:endParaRPr lang="en-US" dirty="0" smtClean="0"/>
          </a:p>
          <a:p>
            <a:r>
              <a:rPr lang="en-US" dirty="0" smtClean="0"/>
              <a:t>CANTICLES – LITTLE SONGS </a:t>
            </a:r>
          </a:p>
          <a:p>
            <a:r>
              <a:rPr lang="en-US" dirty="0" smtClean="0"/>
              <a:t>THE NEW TESTAMENT PSALMS </a:t>
            </a:r>
            <a:r>
              <a:rPr lang="ml-IN" dirty="0" smtClean="0"/>
              <a:t>പുതിയ</a:t>
            </a:r>
            <a:r>
              <a:rPr lang="en-US" dirty="0" smtClean="0"/>
              <a:t> </a:t>
            </a:r>
            <a:r>
              <a:rPr lang="ml-IN" dirty="0" smtClean="0"/>
              <a:t>നിയമ</a:t>
            </a:r>
            <a:r>
              <a:rPr lang="en-US" dirty="0" smtClean="0"/>
              <a:t> </a:t>
            </a:r>
            <a:r>
              <a:rPr lang="ml-IN" dirty="0" smtClean="0"/>
              <a:t>സങ്കീർത്തനങ്ങൾ</a:t>
            </a:r>
            <a:endParaRPr lang="en-IN" dirty="0"/>
          </a:p>
        </p:txBody>
      </p:sp>
    </p:spTree>
    <p:extLst>
      <p:ext uri="{BB962C8B-B14F-4D97-AF65-F5344CB8AC3E}">
        <p14:creationId xmlns:p14="http://schemas.microsoft.com/office/powerpoint/2010/main" val="2290304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SPECIAL TYPES OF PSALM</a:t>
            </a:r>
            <a:endParaRPr lang="en-IN" dirty="0"/>
          </a:p>
        </p:txBody>
      </p:sp>
      <p:sp>
        <p:nvSpPr>
          <p:cNvPr id="3" name="Content Placeholder 2"/>
          <p:cNvSpPr>
            <a:spLocks noGrp="1"/>
          </p:cNvSpPr>
          <p:nvPr>
            <p:ph idx="1"/>
          </p:nvPr>
        </p:nvSpPr>
        <p:spPr/>
        <p:txBody>
          <a:bodyPr>
            <a:normAutofit lnSpcReduction="10000"/>
          </a:bodyPr>
          <a:lstStyle/>
          <a:p>
            <a:r>
              <a:rPr lang="en-US" dirty="0" smtClean="0"/>
              <a:t>WEDDING</a:t>
            </a:r>
          </a:p>
          <a:p>
            <a:r>
              <a:rPr lang="en-US" dirty="0" smtClean="0"/>
              <a:t>BAPTISM</a:t>
            </a:r>
          </a:p>
          <a:p>
            <a:r>
              <a:rPr lang="en-US" dirty="0" smtClean="0"/>
              <a:t>BURRIEL – FUNERAL SERVICE</a:t>
            </a:r>
          </a:p>
          <a:p>
            <a:r>
              <a:rPr lang="en-US" dirty="0" smtClean="0"/>
              <a:t>CHILD DEDICATION</a:t>
            </a:r>
          </a:p>
          <a:p>
            <a:r>
              <a:rPr lang="en-US" dirty="0" smtClean="0"/>
              <a:t>FAREWELL MEETING</a:t>
            </a:r>
          </a:p>
          <a:p>
            <a:r>
              <a:rPr lang="en-US" dirty="0" smtClean="0"/>
              <a:t>LAYING STONE BEFORE CONSTRUCTION</a:t>
            </a:r>
          </a:p>
          <a:p>
            <a:r>
              <a:rPr lang="en-US" dirty="0"/>
              <a:t>HOUSE WARMING</a:t>
            </a:r>
          </a:p>
          <a:p>
            <a:r>
              <a:rPr lang="en-US" smtClean="0"/>
              <a:t>LORD’S </a:t>
            </a:r>
            <a:r>
              <a:rPr lang="en-US" dirty="0" smtClean="0"/>
              <a:t>SUPPER OR TABLE</a:t>
            </a:r>
          </a:p>
          <a:p>
            <a:r>
              <a:rPr lang="en-US" dirty="0" smtClean="0"/>
              <a:t>LIFE AFTER DEATH</a:t>
            </a:r>
          </a:p>
          <a:p>
            <a:r>
              <a:rPr lang="en-US" dirty="0" smtClean="0"/>
              <a:t>SECOND COMING OF JESUS CHRIST</a:t>
            </a:r>
          </a:p>
          <a:p>
            <a:endParaRPr lang="en-US" dirty="0" smtClean="0"/>
          </a:p>
          <a:p>
            <a:endParaRPr lang="en-IN" dirty="0"/>
          </a:p>
        </p:txBody>
      </p:sp>
    </p:spTree>
    <p:extLst>
      <p:ext uri="{BB962C8B-B14F-4D97-AF65-F5344CB8AC3E}">
        <p14:creationId xmlns:p14="http://schemas.microsoft.com/office/powerpoint/2010/main" val="4024580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WHAT WE STUDIED ?</a:t>
            </a:r>
            <a:endParaRPr lang="en-IN" dirty="0"/>
          </a:p>
        </p:txBody>
      </p:sp>
      <p:sp>
        <p:nvSpPr>
          <p:cNvPr id="3" name="Content Placeholder 2"/>
          <p:cNvSpPr>
            <a:spLocks noGrp="1"/>
          </p:cNvSpPr>
          <p:nvPr>
            <p:ph idx="1"/>
          </p:nvPr>
        </p:nvSpPr>
        <p:spPr>
          <a:xfrm>
            <a:off x="1573331" y="2371241"/>
            <a:ext cx="10142953" cy="3657600"/>
          </a:xfrm>
        </p:spPr>
        <p:txBody>
          <a:bodyPr>
            <a:normAutofit/>
          </a:bodyPr>
          <a:lstStyle/>
          <a:p>
            <a:r>
              <a:rPr lang="en-US" dirty="0" smtClean="0"/>
              <a:t>Hymn</a:t>
            </a:r>
            <a:r>
              <a:rPr lang="en-IN" dirty="0" smtClean="0"/>
              <a:t>     - H  </a:t>
            </a:r>
            <a:r>
              <a:rPr lang="ml-IN" dirty="0"/>
              <a:t>സ്തുതിഗീതങ്ങൾ</a:t>
            </a:r>
            <a:endParaRPr lang="en-IN" dirty="0" smtClean="0"/>
          </a:p>
          <a:p>
            <a:r>
              <a:rPr lang="en-US" dirty="0" smtClean="0"/>
              <a:t>Individual songs of Lament     - IL </a:t>
            </a:r>
            <a:r>
              <a:rPr lang="ml-IN" dirty="0" smtClean="0"/>
              <a:t>വ്യക്തി</a:t>
            </a:r>
            <a:r>
              <a:rPr lang="en-US" dirty="0" smtClean="0"/>
              <a:t> </a:t>
            </a:r>
            <a:r>
              <a:rPr lang="ml-IN" dirty="0" smtClean="0"/>
              <a:t>വിലാപ</a:t>
            </a:r>
            <a:r>
              <a:rPr lang="en-US" dirty="0" smtClean="0"/>
              <a:t> </a:t>
            </a:r>
            <a:r>
              <a:rPr lang="ml-IN" dirty="0" smtClean="0"/>
              <a:t>കീർത്തനങ്ങൾ</a:t>
            </a:r>
            <a:endParaRPr lang="en-US" dirty="0" smtClean="0"/>
          </a:p>
          <a:p>
            <a:r>
              <a:rPr lang="en-US" dirty="0" smtClean="0"/>
              <a:t>Community songs of Lament  - CL </a:t>
            </a:r>
            <a:r>
              <a:rPr lang="ml-IN" dirty="0" smtClean="0"/>
              <a:t>സാമൂഹ്യ</a:t>
            </a:r>
            <a:r>
              <a:rPr lang="en-US" dirty="0" smtClean="0"/>
              <a:t> </a:t>
            </a:r>
            <a:r>
              <a:rPr lang="ml-IN" dirty="0" smtClean="0"/>
              <a:t>വിലാപ</a:t>
            </a:r>
            <a:r>
              <a:rPr lang="en-US" dirty="0" smtClean="0"/>
              <a:t> </a:t>
            </a:r>
            <a:r>
              <a:rPr lang="ml-IN" dirty="0"/>
              <a:t>കീർത്തനങ്ങൾ</a:t>
            </a:r>
            <a:endParaRPr lang="en-US" dirty="0" smtClean="0"/>
          </a:p>
          <a:p>
            <a:r>
              <a:rPr lang="en-US" dirty="0" smtClean="0"/>
              <a:t>Individual songs of Thanksgiving – IT </a:t>
            </a:r>
            <a:r>
              <a:rPr lang="ml-IN" dirty="0"/>
              <a:t>വ്യക്തി</a:t>
            </a:r>
            <a:r>
              <a:rPr lang="en-US" dirty="0" smtClean="0"/>
              <a:t> </a:t>
            </a:r>
            <a:r>
              <a:rPr lang="ml-IN" dirty="0" smtClean="0"/>
              <a:t>സ്തോത്ര</a:t>
            </a:r>
            <a:r>
              <a:rPr lang="en-US" dirty="0" smtClean="0"/>
              <a:t> </a:t>
            </a:r>
            <a:r>
              <a:rPr lang="ml-IN" dirty="0" smtClean="0"/>
              <a:t>കീർത്തനങ്ങൾ</a:t>
            </a:r>
            <a:endParaRPr lang="en-US" dirty="0" smtClean="0"/>
          </a:p>
          <a:p>
            <a:r>
              <a:rPr lang="en-US" dirty="0" smtClean="0"/>
              <a:t>Community songs of Thanksgiving </a:t>
            </a:r>
            <a:r>
              <a:rPr lang="en-US" dirty="0"/>
              <a:t>-</a:t>
            </a:r>
            <a:r>
              <a:rPr lang="en-US" dirty="0" smtClean="0"/>
              <a:t> CT </a:t>
            </a:r>
            <a:r>
              <a:rPr lang="ml-IN" dirty="0"/>
              <a:t>സാമൂഹ്യ</a:t>
            </a:r>
            <a:r>
              <a:rPr lang="en-US" dirty="0" smtClean="0"/>
              <a:t> </a:t>
            </a:r>
            <a:r>
              <a:rPr lang="ml-IN" dirty="0" smtClean="0"/>
              <a:t>സ്തോത്ര</a:t>
            </a:r>
            <a:r>
              <a:rPr lang="en-US" dirty="0" smtClean="0"/>
              <a:t> </a:t>
            </a:r>
            <a:r>
              <a:rPr lang="ml-IN" dirty="0" smtClean="0"/>
              <a:t>കീർത്തനങ്ങൾ</a:t>
            </a:r>
            <a:endParaRPr lang="en-US" dirty="0" smtClean="0"/>
          </a:p>
          <a:p>
            <a:r>
              <a:rPr lang="en-US" dirty="0" smtClean="0"/>
              <a:t>Individual songs of Trust – IST </a:t>
            </a:r>
            <a:r>
              <a:rPr lang="ml-IN" dirty="0" smtClean="0"/>
              <a:t>വ്യക്തി</a:t>
            </a:r>
            <a:r>
              <a:rPr lang="en-US" dirty="0" smtClean="0"/>
              <a:t> </a:t>
            </a:r>
            <a:r>
              <a:rPr lang="ml-IN" dirty="0" smtClean="0"/>
              <a:t>ആശ്രയ</a:t>
            </a:r>
            <a:r>
              <a:rPr lang="en-US" dirty="0" smtClean="0"/>
              <a:t> </a:t>
            </a:r>
            <a:r>
              <a:rPr lang="ml-IN" dirty="0" smtClean="0"/>
              <a:t>കീർത്തനങ്ങൾ</a:t>
            </a:r>
            <a:endParaRPr lang="en-US" dirty="0" smtClean="0"/>
          </a:p>
          <a:p>
            <a:r>
              <a:rPr lang="en-US" dirty="0" smtClean="0"/>
              <a:t>Community songs of Trust – CST </a:t>
            </a:r>
            <a:r>
              <a:rPr lang="ml-IN" dirty="0" smtClean="0"/>
              <a:t>സാമൂഹ്യ</a:t>
            </a:r>
            <a:r>
              <a:rPr lang="en-US" dirty="0" smtClean="0"/>
              <a:t> </a:t>
            </a:r>
            <a:r>
              <a:rPr lang="ml-IN" dirty="0" smtClean="0"/>
              <a:t>ആശ്രയ</a:t>
            </a:r>
            <a:r>
              <a:rPr lang="en-US" dirty="0" smtClean="0"/>
              <a:t> </a:t>
            </a:r>
            <a:r>
              <a:rPr lang="ml-IN" dirty="0" smtClean="0"/>
              <a:t>കീർത്തനങ്ങൾ</a:t>
            </a:r>
            <a:endParaRPr lang="en-US" dirty="0"/>
          </a:p>
        </p:txBody>
      </p:sp>
    </p:spTree>
    <p:extLst>
      <p:ext uri="{BB962C8B-B14F-4D97-AF65-F5344CB8AC3E}">
        <p14:creationId xmlns:p14="http://schemas.microsoft.com/office/powerpoint/2010/main" val="143657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012" y="145070"/>
            <a:ext cx="9404723" cy="794967"/>
          </a:xfrm>
        </p:spPr>
        <p:txBody>
          <a:bodyPr/>
          <a:lstStyle/>
          <a:p>
            <a:pPr algn="ctr"/>
            <a:r>
              <a:rPr lang="en-US" dirty="0" smtClean="0"/>
              <a:t>REVISION </a:t>
            </a:r>
            <a:r>
              <a:rPr lang="en-US" dirty="0" smtClean="0"/>
              <a:t>STUDY</a:t>
            </a:r>
            <a:endParaRPr lang="en-IN" dirty="0"/>
          </a:p>
        </p:txBody>
      </p:sp>
      <p:sp>
        <p:nvSpPr>
          <p:cNvPr id="3" name="Content Placeholder 2"/>
          <p:cNvSpPr>
            <a:spLocks noGrp="1"/>
          </p:cNvSpPr>
          <p:nvPr>
            <p:ph idx="1"/>
          </p:nvPr>
        </p:nvSpPr>
        <p:spPr>
          <a:xfrm>
            <a:off x="1163133" y="940037"/>
            <a:ext cx="8946541" cy="5665862"/>
          </a:xfrm>
        </p:spPr>
        <p:txBody>
          <a:bodyPr>
            <a:normAutofit/>
          </a:bodyPr>
          <a:lstStyle/>
          <a:p>
            <a:r>
              <a:rPr lang="en-US" dirty="0" smtClean="0"/>
              <a:t>HYMN</a:t>
            </a:r>
          </a:p>
          <a:p>
            <a:pPr lvl="1"/>
            <a:r>
              <a:rPr lang="en-US" dirty="0" smtClean="0"/>
              <a:t>1. CALL TO WORSHIP</a:t>
            </a:r>
          </a:p>
          <a:p>
            <a:pPr lvl="1"/>
            <a:r>
              <a:rPr lang="en-US" dirty="0" smtClean="0"/>
              <a:t>2. WHAT GOD HAS DONE OR WHAT GOD IS LIKE</a:t>
            </a:r>
          </a:p>
          <a:p>
            <a:r>
              <a:rPr lang="en-US" dirty="0" smtClean="0"/>
              <a:t>LAMENT- INDIVIDUAL AND COMMUNITY</a:t>
            </a:r>
          </a:p>
          <a:p>
            <a:pPr lvl="1"/>
            <a:r>
              <a:rPr lang="en-US" dirty="0" smtClean="0"/>
              <a:t>1. INVOCATION          </a:t>
            </a:r>
            <a:endParaRPr lang="en-US" dirty="0" smtClean="0"/>
          </a:p>
          <a:p>
            <a:pPr lvl="1"/>
            <a:r>
              <a:rPr lang="en-US" dirty="0" smtClean="0"/>
              <a:t> </a:t>
            </a:r>
            <a:r>
              <a:rPr lang="en-US" dirty="0" smtClean="0"/>
              <a:t>2. LAMENTATION</a:t>
            </a:r>
          </a:p>
          <a:p>
            <a:pPr lvl="1"/>
            <a:r>
              <a:rPr lang="en-US" dirty="0" smtClean="0"/>
              <a:t>3. PETITION                  </a:t>
            </a:r>
            <a:endParaRPr lang="en-US" dirty="0" smtClean="0"/>
          </a:p>
          <a:p>
            <a:pPr lvl="1"/>
            <a:r>
              <a:rPr lang="en-US" dirty="0" smtClean="0"/>
              <a:t> </a:t>
            </a:r>
            <a:r>
              <a:rPr lang="en-US" dirty="0" smtClean="0"/>
              <a:t>4. MOTIVATION</a:t>
            </a:r>
          </a:p>
          <a:p>
            <a:pPr lvl="1"/>
            <a:r>
              <a:rPr lang="en-US" dirty="0" smtClean="0"/>
              <a:t>5. VOW                         </a:t>
            </a:r>
            <a:endParaRPr lang="en-US" dirty="0" smtClean="0"/>
          </a:p>
          <a:p>
            <a:pPr lvl="1"/>
            <a:r>
              <a:rPr lang="en-US" dirty="0" smtClean="0"/>
              <a:t>6</a:t>
            </a:r>
            <a:r>
              <a:rPr lang="en-US" dirty="0" smtClean="0"/>
              <a:t>. DIVINE RESPONSE</a:t>
            </a:r>
          </a:p>
          <a:p>
            <a:pPr lvl="1"/>
            <a:r>
              <a:rPr lang="en-US" dirty="0" smtClean="0"/>
              <a:t>7. EXPRESSION OF </a:t>
            </a:r>
            <a:r>
              <a:rPr lang="en-US" dirty="0" smtClean="0"/>
              <a:t>CONFIDENCE</a:t>
            </a:r>
            <a:r>
              <a:rPr lang="en-US" dirty="0" smtClean="0"/>
              <a:t>	</a:t>
            </a:r>
            <a:endParaRPr lang="en-IN" dirty="0"/>
          </a:p>
        </p:txBody>
      </p:sp>
    </p:spTree>
    <p:extLst>
      <p:ext uri="{BB962C8B-B14F-4D97-AF65-F5344CB8AC3E}">
        <p14:creationId xmlns:p14="http://schemas.microsoft.com/office/powerpoint/2010/main" val="2538020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 calcmode="lin" valueType="num">
                                      <p:cBhvr additive="base">
                                        <p:cTn id="4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 calcmode="lin" valueType="num">
                                      <p:cBhvr additive="base">
                                        <p:cTn id="4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Revision</a:t>
            </a:r>
            <a:endParaRPr lang="en-IN" dirty="0"/>
          </a:p>
        </p:txBody>
      </p:sp>
      <p:sp>
        <p:nvSpPr>
          <p:cNvPr id="3" name="Content Placeholder 2"/>
          <p:cNvSpPr>
            <a:spLocks noGrp="1"/>
          </p:cNvSpPr>
          <p:nvPr>
            <p:ph idx="1"/>
          </p:nvPr>
        </p:nvSpPr>
        <p:spPr/>
        <p:txBody>
          <a:bodyPr/>
          <a:lstStyle/>
          <a:p>
            <a:r>
              <a:rPr lang="en-US" dirty="0"/>
              <a:t>THANKSGIVING- INDIVIDUAL AND COMMUNITY</a:t>
            </a:r>
          </a:p>
          <a:p>
            <a:pPr lvl="1"/>
            <a:r>
              <a:rPr lang="en-US" dirty="0"/>
              <a:t>1. CALL TO WORSHIP </a:t>
            </a:r>
            <a:endParaRPr lang="en-US" dirty="0" smtClean="0"/>
          </a:p>
          <a:p>
            <a:pPr lvl="1"/>
            <a:r>
              <a:rPr lang="en-US" dirty="0" smtClean="0"/>
              <a:t> </a:t>
            </a:r>
            <a:r>
              <a:rPr lang="en-US" dirty="0"/>
              <a:t>2. PROCLAMATION AND INTRODUCTORY PART</a:t>
            </a:r>
          </a:p>
          <a:p>
            <a:pPr lvl="1"/>
            <a:r>
              <a:rPr lang="en-US" dirty="0"/>
              <a:t>3. TESTIMONY               </a:t>
            </a:r>
            <a:endParaRPr lang="en-US" dirty="0" smtClean="0"/>
          </a:p>
          <a:p>
            <a:pPr lvl="1"/>
            <a:r>
              <a:rPr lang="en-US" dirty="0" smtClean="0"/>
              <a:t>4</a:t>
            </a:r>
            <a:r>
              <a:rPr lang="en-US" dirty="0"/>
              <a:t>. PRAISE</a:t>
            </a:r>
          </a:p>
          <a:p>
            <a:r>
              <a:rPr lang="en-US" dirty="0"/>
              <a:t>TRUST – INDIVIDUAL AND COMMUNITY</a:t>
            </a:r>
          </a:p>
          <a:p>
            <a:pPr lvl="1"/>
            <a:r>
              <a:rPr lang="en-US" dirty="0"/>
              <a:t>TRUST	IN THE MIDST OF DIFFICULTIES</a:t>
            </a:r>
            <a:endParaRPr lang="en-IN" dirty="0"/>
          </a:p>
        </p:txBody>
      </p:sp>
    </p:spTree>
    <p:extLst>
      <p:ext uri="{BB962C8B-B14F-4D97-AF65-F5344CB8AC3E}">
        <p14:creationId xmlns:p14="http://schemas.microsoft.com/office/powerpoint/2010/main" val="1341097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REVISION OF PSALMS</a:t>
            </a:r>
            <a:endParaRPr lang="en-IN" dirty="0"/>
          </a:p>
        </p:txBody>
      </p:sp>
      <p:sp>
        <p:nvSpPr>
          <p:cNvPr id="3" name="Content Placeholder 2"/>
          <p:cNvSpPr>
            <a:spLocks noGrp="1"/>
          </p:cNvSpPr>
          <p:nvPr>
            <p:ph idx="1"/>
          </p:nvPr>
        </p:nvSpPr>
        <p:spPr>
          <a:xfrm>
            <a:off x="584119" y="2083915"/>
            <a:ext cx="8946541" cy="2867793"/>
          </a:xfrm>
        </p:spPr>
        <p:txBody>
          <a:bodyPr>
            <a:normAutofit/>
          </a:bodyPr>
          <a:lstStyle/>
          <a:p>
            <a:pPr marL="457200" indent="-457200">
              <a:buAutoNum type="arabicPeriod"/>
            </a:pPr>
            <a:r>
              <a:rPr lang="en-US" sz="2800" dirty="0" smtClean="0"/>
              <a:t>ROYAL PSALMS </a:t>
            </a:r>
            <a:r>
              <a:rPr lang="ml-IN" sz="2800" dirty="0" smtClean="0"/>
              <a:t>രാജകീയ</a:t>
            </a:r>
            <a:r>
              <a:rPr lang="en-US" sz="2800" dirty="0" smtClean="0"/>
              <a:t> </a:t>
            </a:r>
            <a:r>
              <a:rPr lang="ml-IN" sz="2800" dirty="0" smtClean="0"/>
              <a:t>സങ്കീർത്തനങ്ങൾ</a:t>
            </a:r>
            <a:endParaRPr lang="en-US" sz="2800" dirty="0" smtClean="0"/>
          </a:p>
          <a:p>
            <a:pPr marL="457200" indent="-457200">
              <a:buAutoNum type="arabicPeriod"/>
            </a:pPr>
            <a:r>
              <a:rPr lang="en-US" sz="2800" dirty="0" smtClean="0"/>
              <a:t>ENTRONEMENT PSALMS </a:t>
            </a:r>
            <a:r>
              <a:rPr lang="ml-IN" sz="2800" dirty="0" smtClean="0"/>
              <a:t>സ്ഥാനാരോഹണ</a:t>
            </a:r>
            <a:r>
              <a:rPr lang="en-US" sz="2800" dirty="0" smtClean="0"/>
              <a:t> </a:t>
            </a:r>
            <a:r>
              <a:rPr lang="ml-IN" sz="2800" dirty="0" smtClean="0"/>
              <a:t>സങ്കീർത്തനങ്ങൾ</a:t>
            </a:r>
            <a:endParaRPr lang="en-US" sz="2800" dirty="0" smtClean="0"/>
          </a:p>
          <a:p>
            <a:pPr marL="457200" indent="-457200">
              <a:buAutoNum type="arabicPeriod"/>
            </a:pPr>
            <a:r>
              <a:rPr lang="en-US" sz="2800" dirty="0" smtClean="0"/>
              <a:t>ZION PSALMS </a:t>
            </a:r>
            <a:r>
              <a:rPr lang="ml-IN" sz="2800" dirty="0" smtClean="0"/>
              <a:t>സീയോൻ</a:t>
            </a:r>
            <a:r>
              <a:rPr lang="en-US" sz="2800" dirty="0" smtClean="0"/>
              <a:t> </a:t>
            </a:r>
            <a:r>
              <a:rPr lang="ml-IN" sz="2800" dirty="0" smtClean="0"/>
              <a:t>സങ്കീർത്തനങ്ങൾ</a:t>
            </a:r>
            <a:endParaRPr lang="en-US" sz="2800" dirty="0" smtClean="0"/>
          </a:p>
          <a:p>
            <a:pPr marL="457200" indent="-457200">
              <a:buAutoNum type="arabicPeriod"/>
            </a:pPr>
            <a:r>
              <a:rPr lang="en-US" sz="2800" dirty="0" smtClean="0"/>
              <a:t>MESSAINIC PSALMS </a:t>
            </a:r>
            <a:r>
              <a:rPr lang="ml-IN" sz="2800" dirty="0" smtClean="0"/>
              <a:t>മശിഹ</a:t>
            </a:r>
            <a:r>
              <a:rPr lang="en-US" sz="2800" dirty="0" smtClean="0"/>
              <a:t> </a:t>
            </a:r>
            <a:r>
              <a:rPr lang="ml-IN" sz="2800" dirty="0" smtClean="0"/>
              <a:t>സങ്കീർത്തനങ്ങൾ</a:t>
            </a:r>
            <a:endParaRPr lang="en-US" sz="2800" dirty="0" smtClean="0"/>
          </a:p>
          <a:p>
            <a:pPr marL="0" indent="0">
              <a:buNone/>
            </a:pPr>
            <a:endParaRPr lang="en-US" dirty="0" smtClean="0"/>
          </a:p>
        </p:txBody>
      </p:sp>
    </p:spTree>
    <p:extLst>
      <p:ext uri="{BB962C8B-B14F-4D97-AF65-F5344CB8AC3E}">
        <p14:creationId xmlns:p14="http://schemas.microsoft.com/office/powerpoint/2010/main" val="1901342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DIFFERENT TYPES </a:t>
            </a:r>
            <a:br>
              <a:rPr lang="en-US" dirty="0"/>
            </a:br>
            <a:r>
              <a:rPr lang="ml-IN" dirty="0"/>
              <a:t>വിവിധ</a:t>
            </a:r>
            <a:r>
              <a:rPr lang="en-US" dirty="0"/>
              <a:t> </a:t>
            </a:r>
            <a:r>
              <a:rPr lang="ml-IN" dirty="0"/>
              <a:t>തരം</a:t>
            </a:r>
            <a:r>
              <a:rPr lang="en-US" dirty="0"/>
              <a:t> </a:t>
            </a:r>
            <a:r>
              <a:rPr lang="ml-IN" dirty="0"/>
              <a:t>സങ്കീർത്തനങ്ങൾ</a:t>
            </a:r>
            <a:endParaRPr lang="en-IN" dirty="0"/>
          </a:p>
        </p:txBody>
      </p:sp>
      <p:sp>
        <p:nvSpPr>
          <p:cNvPr id="3" name="Content Placeholder 2"/>
          <p:cNvSpPr>
            <a:spLocks noGrp="1"/>
          </p:cNvSpPr>
          <p:nvPr>
            <p:ph idx="1"/>
          </p:nvPr>
        </p:nvSpPr>
        <p:spPr/>
        <p:txBody>
          <a:bodyPr>
            <a:normAutofit lnSpcReduction="10000"/>
          </a:bodyPr>
          <a:lstStyle/>
          <a:p>
            <a:r>
              <a:rPr lang="en-US" dirty="0"/>
              <a:t>WISDOM PSALMS  </a:t>
            </a:r>
            <a:r>
              <a:rPr lang="ml-IN" dirty="0"/>
              <a:t>ജ്ഞാന</a:t>
            </a:r>
            <a:r>
              <a:rPr lang="en-US" dirty="0"/>
              <a:t> </a:t>
            </a:r>
            <a:r>
              <a:rPr lang="ml-IN" dirty="0"/>
              <a:t>സങ്കീർത്തനങ്ങൾ</a:t>
            </a:r>
            <a:endParaRPr lang="en-US" dirty="0"/>
          </a:p>
          <a:p>
            <a:r>
              <a:rPr lang="en-US" dirty="0"/>
              <a:t> ENTRANCE LITURGY   </a:t>
            </a:r>
            <a:r>
              <a:rPr lang="ml-IN" dirty="0"/>
              <a:t>പ്രവേശനനിയമ</a:t>
            </a:r>
            <a:r>
              <a:rPr lang="en-US" dirty="0"/>
              <a:t> </a:t>
            </a:r>
            <a:r>
              <a:rPr lang="ml-IN" dirty="0"/>
              <a:t>സങ്കീർത്തനങ്ങൾ</a:t>
            </a:r>
            <a:endParaRPr lang="en-US" dirty="0"/>
          </a:p>
          <a:p>
            <a:r>
              <a:rPr lang="en-US" dirty="0"/>
              <a:t>SONGS OF CONFESSION </a:t>
            </a:r>
            <a:r>
              <a:rPr lang="ml-IN" dirty="0"/>
              <a:t>പശ്ചാത്താപ</a:t>
            </a:r>
            <a:r>
              <a:rPr lang="en-US" dirty="0"/>
              <a:t> </a:t>
            </a:r>
            <a:r>
              <a:rPr lang="ml-IN" dirty="0"/>
              <a:t>സങ്കീർത്തനങ്ങൾ</a:t>
            </a:r>
            <a:endParaRPr lang="en-US" dirty="0"/>
          </a:p>
          <a:p>
            <a:r>
              <a:rPr lang="en-US" dirty="0"/>
              <a:t>HISTORICAL PSALMS  </a:t>
            </a:r>
            <a:r>
              <a:rPr lang="ml-IN" dirty="0"/>
              <a:t>ചരിത്ര</a:t>
            </a:r>
            <a:r>
              <a:rPr lang="en-US" dirty="0"/>
              <a:t> </a:t>
            </a:r>
            <a:r>
              <a:rPr lang="ml-IN" dirty="0"/>
              <a:t>സങ്കീർത്തനങ്ങൾ</a:t>
            </a:r>
            <a:r>
              <a:rPr lang="en-US" dirty="0"/>
              <a:t>  </a:t>
            </a:r>
          </a:p>
          <a:p>
            <a:r>
              <a:rPr lang="en-US" dirty="0"/>
              <a:t>LAW PSALMS  </a:t>
            </a:r>
            <a:r>
              <a:rPr lang="ml-IN" dirty="0"/>
              <a:t>ന്യായപ്രമാണ</a:t>
            </a:r>
            <a:r>
              <a:rPr lang="en-US" dirty="0"/>
              <a:t> </a:t>
            </a:r>
            <a:r>
              <a:rPr lang="ml-IN" dirty="0"/>
              <a:t>സങ്കീർത്തനങ്ങൾ</a:t>
            </a:r>
            <a:endParaRPr lang="en-US" dirty="0"/>
          </a:p>
          <a:p>
            <a:r>
              <a:rPr lang="en-US" dirty="0"/>
              <a:t>THEOLOGICAL PSALMS  </a:t>
            </a:r>
            <a:r>
              <a:rPr lang="ml-IN" dirty="0"/>
              <a:t>ദൈവശാസ്ത്ര</a:t>
            </a:r>
            <a:r>
              <a:rPr lang="en-US" dirty="0"/>
              <a:t> </a:t>
            </a:r>
            <a:r>
              <a:rPr lang="ml-IN" dirty="0"/>
              <a:t>സങ്കീർത്തനങ്ങൾ</a:t>
            </a:r>
            <a:endParaRPr lang="en-US" dirty="0"/>
          </a:p>
          <a:p>
            <a:r>
              <a:rPr lang="en-US" dirty="0"/>
              <a:t>HALLEL PSALMS  </a:t>
            </a:r>
            <a:r>
              <a:rPr lang="ml-IN" dirty="0"/>
              <a:t>ഹല്ലേൽ</a:t>
            </a:r>
            <a:r>
              <a:rPr lang="en-US" dirty="0"/>
              <a:t> </a:t>
            </a:r>
            <a:r>
              <a:rPr lang="ml-IN" dirty="0"/>
              <a:t>ഗീതങ്ങൾ</a:t>
            </a:r>
            <a:endParaRPr lang="en-US" dirty="0"/>
          </a:p>
          <a:p>
            <a:r>
              <a:rPr lang="en-US" dirty="0"/>
              <a:t>CURSING PSALMS  </a:t>
            </a:r>
            <a:r>
              <a:rPr lang="ml-IN" dirty="0"/>
              <a:t>ശാപ</a:t>
            </a:r>
            <a:r>
              <a:rPr lang="en-US" dirty="0"/>
              <a:t> </a:t>
            </a:r>
            <a:r>
              <a:rPr lang="ml-IN" dirty="0"/>
              <a:t>സങ്കീർത്തനങ്ങൾ</a:t>
            </a:r>
            <a:endParaRPr lang="en-US" dirty="0"/>
          </a:p>
          <a:p>
            <a:r>
              <a:rPr lang="en-US" dirty="0"/>
              <a:t>CANTICLES – LITTLE SONGS </a:t>
            </a:r>
          </a:p>
          <a:p>
            <a:r>
              <a:rPr lang="en-US" dirty="0"/>
              <a:t>THE NEW TESTAMENT PSALMS </a:t>
            </a:r>
            <a:r>
              <a:rPr lang="ml-IN" dirty="0"/>
              <a:t>പുതിയ</a:t>
            </a:r>
            <a:r>
              <a:rPr lang="en-US" dirty="0"/>
              <a:t> </a:t>
            </a:r>
            <a:r>
              <a:rPr lang="ml-IN" dirty="0"/>
              <a:t>നിയമ</a:t>
            </a:r>
            <a:r>
              <a:rPr lang="en-US" dirty="0"/>
              <a:t> </a:t>
            </a:r>
            <a:r>
              <a:rPr lang="ml-IN" dirty="0"/>
              <a:t>സങ്കീർത്തനങ്ങൾ</a:t>
            </a:r>
            <a:endParaRPr lang="en-IN" dirty="0"/>
          </a:p>
          <a:p>
            <a:pPr marL="0" indent="0">
              <a:buNone/>
            </a:pPr>
            <a:endParaRPr lang="en-US" dirty="0"/>
          </a:p>
        </p:txBody>
      </p:sp>
    </p:spTree>
    <p:extLst>
      <p:ext uri="{BB962C8B-B14F-4D97-AF65-F5344CB8AC3E}">
        <p14:creationId xmlns:p14="http://schemas.microsoft.com/office/powerpoint/2010/main" val="2241524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METHODS OF PREPARATION OF PSALMS</a:t>
            </a:r>
            <a:endParaRPr lang="en-IN" dirty="0"/>
          </a:p>
        </p:txBody>
      </p:sp>
      <p:sp>
        <p:nvSpPr>
          <p:cNvPr id="3" name="Content Placeholder 2"/>
          <p:cNvSpPr>
            <a:spLocks noGrp="1"/>
          </p:cNvSpPr>
          <p:nvPr>
            <p:ph idx="1"/>
          </p:nvPr>
        </p:nvSpPr>
        <p:spPr>
          <a:xfrm>
            <a:off x="1103312" y="2052919"/>
            <a:ext cx="8946541" cy="3340492"/>
          </a:xfrm>
        </p:spPr>
        <p:txBody>
          <a:bodyPr/>
          <a:lstStyle/>
          <a:p>
            <a:r>
              <a:rPr lang="en-US" sz="2800" dirty="0"/>
              <a:t>LIFE SITUATION</a:t>
            </a:r>
          </a:p>
          <a:p>
            <a:r>
              <a:rPr lang="en-US" sz="2800" dirty="0"/>
              <a:t>MAIN INTENT </a:t>
            </a:r>
          </a:p>
          <a:p>
            <a:r>
              <a:rPr lang="en-US" sz="2800" dirty="0"/>
              <a:t>DETAILED STUDY</a:t>
            </a:r>
          </a:p>
          <a:p>
            <a:r>
              <a:rPr lang="en-US" sz="2800" dirty="0"/>
              <a:t>APPLICATION</a:t>
            </a:r>
          </a:p>
          <a:p>
            <a:r>
              <a:rPr lang="en-US" sz="2800" dirty="0"/>
              <a:t>ARRANGE A HEADING</a:t>
            </a:r>
            <a:endParaRPr lang="en-IN" sz="2800" dirty="0"/>
          </a:p>
          <a:p>
            <a:endParaRPr lang="en-IN" dirty="0"/>
          </a:p>
        </p:txBody>
      </p:sp>
    </p:spTree>
    <p:extLst>
      <p:ext uri="{BB962C8B-B14F-4D97-AF65-F5344CB8AC3E}">
        <p14:creationId xmlns:p14="http://schemas.microsoft.com/office/powerpoint/2010/main" val="4176531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1656219121"/>
              </p:ext>
            </p:extLst>
          </p:nvPr>
        </p:nvGraphicFramePr>
        <p:xfrm>
          <a:off x="640934" y="0"/>
          <a:ext cx="4281443" cy="6858000"/>
        </p:xfrm>
        <a:graphic>
          <a:graphicData uri="http://schemas.openxmlformats.org/drawingml/2006/table">
            <a:tbl>
              <a:tblPr>
                <a:tableStyleId>{5C22544A-7EE6-4342-B048-85BDC9FD1C3A}</a:tableStyleId>
              </a:tblPr>
              <a:tblGrid>
                <a:gridCol w="1957231"/>
                <a:gridCol w="2324212"/>
              </a:tblGrid>
              <a:tr h="274320">
                <a:tc>
                  <a:txBody>
                    <a:bodyPr/>
                    <a:lstStyle/>
                    <a:p>
                      <a:pPr algn="ctr" fontAlgn="b"/>
                      <a:r>
                        <a:rPr lang="en-IN" sz="1600" b="1" i="1" u="none" strike="noStrike">
                          <a:effectLst/>
                        </a:rPr>
                        <a:t>1</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W</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2</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R (LIT)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3</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4</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IST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5</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6</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 (P)</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7</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8</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9</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10</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11</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IST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12</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13</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14</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CL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15</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EL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16</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IST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17</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18</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R (IT)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19</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20</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R (LIT)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21</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R (LIT)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22</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23</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IST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24</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EL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25</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dirty="0">
                          <a:effectLst/>
                        </a:rPr>
                        <a:t>IL</a:t>
                      </a:r>
                      <a:endParaRPr lang="en-IN" sz="1600" b="1" i="1" u="none" strike="noStrike" dirty="0">
                        <a:solidFill>
                          <a:srgbClr val="000000"/>
                        </a:solidFill>
                        <a:effectLst/>
                        <a:latin typeface="Calibri" panose="020F0502020204030204" pitchFamily="34" charset="0"/>
                      </a:endParaRPr>
                    </a:p>
                  </a:txBody>
                  <a:tcPr marL="6993" marR="6993" marT="6993" marB="0" anchor="b"/>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727667989"/>
              </p:ext>
            </p:extLst>
          </p:nvPr>
        </p:nvGraphicFramePr>
        <p:xfrm>
          <a:off x="5356626" y="23487"/>
          <a:ext cx="4129206" cy="6834513"/>
        </p:xfrm>
        <a:graphic>
          <a:graphicData uri="http://schemas.openxmlformats.org/drawingml/2006/table">
            <a:tbl>
              <a:tblPr>
                <a:tableStyleId>{5C22544A-7EE6-4342-B048-85BDC9FD1C3A}</a:tableStyleId>
              </a:tblPr>
              <a:tblGrid>
                <a:gridCol w="1887637"/>
                <a:gridCol w="2241569"/>
              </a:tblGrid>
              <a:tr h="129041">
                <a:tc>
                  <a:txBody>
                    <a:bodyPr/>
                    <a:lstStyle/>
                    <a:p>
                      <a:pPr algn="ctr" fontAlgn="b"/>
                      <a:r>
                        <a:rPr lang="en-IN" sz="1600" b="1" i="1" u="none" strike="noStrike">
                          <a:effectLst/>
                        </a:rPr>
                        <a:t>26</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27</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IST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28</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29</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30</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31</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32</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IT (P)</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33</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34</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35</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36</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37</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W</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38</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39</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40</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IT + 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41</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42</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43</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44</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CL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45</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R (LIT)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46</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 (Z)</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47</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 (E)</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48</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 (Z)</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49</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W</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50</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dirty="0">
                          <a:effectLst/>
                        </a:rPr>
                        <a:t>LIT</a:t>
                      </a:r>
                      <a:endParaRPr lang="en-IN" sz="1600" b="1" i="1" u="none" strike="noStrike" dirty="0">
                        <a:solidFill>
                          <a:srgbClr val="000000"/>
                        </a:solidFill>
                        <a:effectLst/>
                        <a:latin typeface="Calibri" panose="020F0502020204030204" pitchFamily="34" charset="0"/>
                      </a:endParaRPr>
                    </a:p>
                  </a:txBody>
                  <a:tcPr marL="6993" marR="6993" marT="6993" marB="0" anchor="b"/>
                </a:tc>
              </a:tr>
            </a:tbl>
          </a:graphicData>
        </a:graphic>
      </p:graphicFrame>
    </p:spTree>
    <p:extLst>
      <p:ext uri="{BB962C8B-B14F-4D97-AF65-F5344CB8AC3E}">
        <p14:creationId xmlns:p14="http://schemas.microsoft.com/office/powerpoint/2010/main" val="140652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143934050"/>
              </p:ext>
            </p:extLst>
          </p:nvPr>
        </p:nvGraphicFramePr>
        <p:xfrm>
          <a:off x="907917" y="-7"/>
          <a:ext cx="3852090" cy="6858000"/>
        </p:xfrm>
        <a:graphic>
          <a:graphicData uri="http://schemas.openxmlformats.org/drawingml/2006/table">
            <a:tbl>
              <a:tblPr>
                <a:tableStyleId>{5C22544A-7EE6-4342-B048-85BDC9FD1C3A}</a:tableStyleId>
              </a:tblPr>
              <a:tblGrid>
                <a:gridCol w="1636286"/>
                <a:gridCol w="2215804"/>
              </a:tblGrid>
              <a:tr h="274320">
                <a:tc>
                  <a:txBody>
                    <a:bodyPr/>
                    <a:lstStyle/>
                    <a:p>
                      <a:pPr algn="ctr" fontAlgn="b"/>
                      <a:r>
                        <a:rPr lang="en-IN" sz="1600" b="1" i="1" u="none" strike="noStrike" dirty="0">
                          <a:effectLst/>
                        </a:rPr>
                        <a:t>51</a:t>
                      </a:r>
                      <a:endParaRPr lang="en-IN" sz="1600" b="1" i="1" u="none" strike="noStrike" dirty="0">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 (P)</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52</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IL/IT/IST/W</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53</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CL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54</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55</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56</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57</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58</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59</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60</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CL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61</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dirty="0">
                          <a:effectLst/>
                        </a:rPr>
                        <a:t>R (IL)</a:t>
                      </a:r>
                      <a:endParaRPr lang="en-IN" sz="1600" b="1" i="1" u="none" strike="noStrike" dirty="0">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62</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IST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63</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dirty="0">
                          <a:effectLst/>
                        </a:rPr>
                        <a:t>R (IL)</a:t>
                      </a:r>
                      <a:endParaRPr lang="en-IN" sz="1600" b="1" i="1" u="none" strike="noStrike" dirty="0">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64</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65</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66</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CT &amp; 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67</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H/CT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68</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LIT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69</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70</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71</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72</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R (LIT)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73</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74</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CL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75</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dirty="0">
                          <a:effectLst/>
                        </a:rPr>
                        <a:t>LIT</a:t>
                      </a:r>
                      <a:endParaRPr lang="en-IN" sz="1600" b="1" i="1" u="none" strike="noStrike" dirty="0">
                        <a:solidFill>
                          <a:srgbClr val="000000"/>
                        </a:solidFill>
                        <a:effectLst/>
                        <a:latin typeface="Calibri" panose="020F0502020204030204" pitchFamily="34" charset="0"/>
                      </a:endParaRPr>
                    </a:p>
                  </a:txBody>
                  <a:tcPr marL="6993" marR="6993" marT="6993" marB="0" anchor="b"/>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37695995"/>
              </p:ext>
            </p:extLst>
          </p:nvPr>
        </p:nvGraphicFramePr>
        <p:xfrm>
          <a:off x="5418034" y="23487"/>
          <a:ext cx="4230169" cy="6834513"/>
        </p:xfrm>
        <a:graphic>
          <a:graphicData uri="http://schemas.openxmlformats.org/drawingml/2006/table">
            <a:tbl>
              <a:tblPr>
                <a:tableStyleId>{5C22544A-7EE6-4342-B048-85BDC9FD1C3A}</a:tableStyleId>
              </a:tblPr>
              <a:tblGrid>
                <a:gridCol w="1959889"/>
                <a:gridCol w="2270280"/>
              </a:tblGrid>
              <a:tr h="0">
                <a:tc>
                  <a:txBody>
                    <a:bodyPr/>
                    <a:lstStyle/>
                    <a:p>
                      <a:pPr algn="ctr" fontAlgn="b"/>
                      <a:r>
                        <a:rPr lang="en-IN" sz="1600" b="1" i="1" u="none" strike="noStrike" dirty="0">
                          <a:effectLst/>
                        </a:rPr>
                        <a:t>76</a:t>
                      </a:r>
                      <a:endParaRPr lang="en-IN" sz="1600" b="1" i="1" u="none" strike="noStrike" dirty="0">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 (Z)</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77</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 + H</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78</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HIST (H/W)</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79</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CL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dirty="0">
                          <a:effectLst/>
                        </a:rPr>
                        <a:t>80</a:t>
                      </a:r>
                      <a:endParaRPr lang="en-IN" sz="1600" b="1" i="1" u="none" strike="noStrike" dirty="0">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CL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81</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LIT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82</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LIT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83</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CL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84</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 (Z)</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85</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CL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86</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dirty="0">
                          <a:effectLst/>
                        </a:rPr>
                        <a:t>IL</a:t>
                      </a:r>
                      <a:endParaRPr lang="en-IN" sz="1600" b="1" i="1" u="none" strike="noStrike" dirty="0">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87</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 (Z)</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88</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89</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R (LIT)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90</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dirty="0">
                          <a:effectLst/>
                        </a:rPr>
                        <a:t>CL</a:t>
                      </a:r>
                      <a:endParaRPr lang="en-IN" sz="1600" b="1" i="1" u="none" strike="noStrike" dirty="0">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91</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IST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92</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93</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 (E)</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94</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CL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95</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H-WARNING</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96</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 (E)</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97</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 (E)</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98</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 (E)</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99</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 (E)</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100</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dirty="0">
                          <a:effectLst/>
                        </a:rPr>
                        <a:t>H</a:t>
                      </a:r>
                      <a:endParaRPr lang="en-IN" sz="1600" b="1" i="1" u="none" strike="noStrike" dirty="0">
                        <a:solidFill>
                          <a:srgbClr val="000000"/>
                        </a:solidFill>
                        <a:effectLst/>
                        <a:latin typeface="Calibri" panose="020F0502020204030204" pitchFamily="34" charset="0"/>
                      </a:endParaRPr>
                    </a:p>
                  </a:txBody>
                  <a:tcPr marL="6993" marR="6993" marT="6993" marB="0" anchor="b"/>
                </a:tc>
              </a:tr>
            </a:tbl>
          </a:graphicData>
        </a:graphic>
      </p:graphicFrame>
    </p:spTree>
    <p:extLst>
      <p:ext uri="{BB962C8B-B14F-4D97-AF65-F5344CB8AC3E}">
        <p14:creationId xmlns:p14="http://schemas.microsoft.com/office/powerpoint/2010/main" val="2768155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924012176"/>
              </p:ext>
            </p:extLst>
          </p:nvPr>
        </p:nvGraphicFramePr>
        <p:xfrm>
          <a:off x="642997" y="0"/>
          <a:ext cx="3800816" cy="6858000"/>
        </p:xfrm>
        <a:graphic>
          <a:graphicData uri="http://schemas.openxmlformats.org/drawingml/2006/table">
            <a:tbl>
              <a:tblPr>
                <a:tableStyleId>{5C22544A-7EE6-4342-B048-85BDC9FD1C3A}</a:tableStyleId>
              </a:tblPr>
              <a:tblGrid>
                <a:gridCol w="1614507"/>
                <a:gridCol w="2186309"/>
              </a:tblGrid>
              <a:tr h="274320">
                <a:tc>
                  <a:txBody>
                    <a:bodyPr/>
                    <a:lstStyle/>
                    <a:p>
                      <a:pPr algn="ctr" fontAlgn="b"/>
                      <a:r>
                        <a:rPr lang="en-IN" sz="1600" b="1" i="1" u="none" strike="noStrike" dirty="0">
                          <a:effectLst/>
                        </a:rPr>
                        <a:t>101</a:t>
                      </a:r>
                      <a:endParaRPr lang="en-IN" sz="1600" b="1" i="1" u="none" strike="noStrike" dirty="0">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R</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102</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 (P)</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103</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104</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105</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HIST (H)</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dirty="0">
                          <a:effectLst/>
                        </a:rPr>
                        <a:t>106</a:t>
                      </a:r>
                      <a:endParaRPr lang="en-IN" sz="1600" b="1" i="1" u="none" strike="noStrike" dirty="0">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dirty="0">
                          <a:effectLst/>
                        </a:rPr>
                        <a:t>HIST (H)</a:t>
                      </a:r>
                      <a:endParaRPr lang="en-IN" sz="1600" b="1" i="1" u="none" strike="noStrike" dirty="0">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107</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CT (LIT)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108</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US" sz="1600" b="1" i="1" u="none" strike="noStrike" dirty="0" smtClean="0">
                          <a:solidFill>
                            <a:srgbClr val="000000"/>
                          </a:solidFill>
                          <a:effectLst/>
                          <a:latin typeface="Calibri" panose="020F0502020204030204" pitchFamily="34" charset="0"/>
                        </a:rPr>
                        <a:t>57 + 60</a:t>
                      </a:r>
                      <a:endParaRPr lang="en-IN" sz="1600" b="1" i="1" u="none" strike="noStrike" dirty="0">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dirty="0">
                          <a:effectLst/>
                        </a:rPr>
                        <a:t>109</a:t>
                      </a:r>
                      <a:endParaRPr lang="en-IN" sz="1600" b="1" i="1" u="none" strike="noStrike" dirty="0">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110</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R</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111</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112</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W</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113</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114</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115</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LIT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116</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117</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118</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IT (LIT)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119</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LAW PS</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120</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121</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IST/LIT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122</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 (Z)</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123</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CL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124</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CT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125</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dirty="0">
                          <a:effectLst/>
                        </a:rPr>
                        <a:t>CST</a:t>
                      </a:r>
                      <a:endParaRPr lang="en-IN" sz="1600" b="1" i="1" u="none" strike="noStrike" dirty="0">
                        <a:solidFill>
                          <a:srgbClr val="000000"/>
                        </a:solidFill>
                        <a:effectLst/>
                        <a:latin typeface="Calibri" panose="020F0502020204030204" pitchFamily="34" charset="0"/>
                      </a:endParaRPr>
                    </a:p>
                  </a:txBody>
                  <a:tcPr marL="6993" marR="6993" marT="6993" marB="0" anchor="b"/>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697747950"/>
              </p:ext>
            </p:extLst>
          </p:nvPr>
        </p:nvGraphicFramePr>
        <p:xfrm>
          <a:off x="5120994" y="0"/>
          <a:ext cx="4005914" cy="6858000"/>
        </p:xfrm>
        <a:graphic>
          <a:graphicData uri="http://schemas.openxmlformats.org/drawingml/2006/table">
            <a:tbl>
              <a:tblPr>
                <a:tableStyleId>{5C22544A-7EE6-4342-B048-85BDC9FD1C3A}</a:tableStyleId>
              </a:tblPr>
              <a:tblGrid>
                <a:gridCol w="1701627"/>
                <a:gridCol w="2304287"/>
              </a:tblGrid>
              <a:tr h="274320">
                <a:tc>
                  <a:txBody>
                    <a:bodyPr/>
                    <a:lstStyle/>
                    <a:p>
                      <a:pPr algn="ctr" fontAlgn="b"/>
                      <a:r>
                        <a:rPr lang="en-IN" sz="1600" b="1" i="1" u="none" strike="noStrike" dirty="0">
                          <a:effectLst/>
                        </a:rPr>
                        <a:t>126</a:t>
                      </a:r>
                      <a:endParaRPr lang="en-IN" sz="1600" b="1" i="1" u="none" strike="noStrike" dirty="0">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CST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127</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W</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128</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W</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129</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CT (CL/ST)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130</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P</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131</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IST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132</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R (LIT)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133</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W</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134</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LIT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135</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 (R)</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136</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137</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CL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138</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139</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140</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dirty="0">
                          <a:effectLst/>
                        </a:rPr>
                        <a:t>IL</a:t>
                      </a:r>
                      <a:endParaRPr lang="en-IN" sz="1600" b="1" i="1" u="none" strike="noStrike" dirty="0">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141</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142</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143</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IL</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144</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R (IL/IT)</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145</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146</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dirty="0">
                          <a:effectLst/>
                        </a:rPr>
                        <a:t>H</a:t>
                      </a:r>
                      <a:endParaRPr lang="en-IN" sz="1600" b="1" i="1" u="none" strike="noStrike" dirty="0">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147</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148</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149</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a:effectLst/>
                        </a:rPr>
                        <a:t>H</a:t>
                      </a:r>
                      <a:endParaRPr lang="en-IN" sz="1600" b="1" i="1" u="none" strike="noStrike">
                        <a:solidFill>
                          <a:srgbClr val="000000"/>
                        </a:solidFill>
                        <a:effectLst/>
                        <a:latin typeface="Calibri" panose="020F0502020204030204" pitchFamily="34" charset="0"/>
                      </a:endParaRPr>
                    </a:p>
                  </a:txBody>
                  <a:tcPr marL="6993" marR="6993" marT="6993" marB="0" anchor="b"/>
                </a:tc>
              </a:tr>
              <a:tr h="274320">
                <a:tc>
                  <a:txBody>
                    <a:bodyPr/>
                    <a:lstStyle/>
                    <a:p>
                      <a:pPr algn="ctr" fontAlgn="b"/>
                      <a:r>
                        <a:rPr lang="en-IN" sz="1600" b="1" i="1" u="none" strike="noStrike">
                          <a:effectLst/>
                        </a:rPr>
                        <a:t>150</a:t>
                      </a:r>
                      <a:endParaRPr lang="en-IN" sz="1600" b="1" i="1" u="none" strike="noStrike">
                        <a:solidFill>
                          <a:srgbClr val="000000"/>
                        </a:solidFill>
                        <a:effectLst/>
                        <a:latin typeface="Calibri" panose="020F0502020204030204" pitchFamily="34" charset="0"/>
                      </a:endParaRPr>
                    </a:p>
                  </a:txBody>
                  <a:tcPr marL="6993" marR="6993" marT="6993" marB="0" anchor="b"/>
                </a:tc>
                <a:tc>
                  <a:txBody>
                    <a:bodyPr/>
                    <a:lstStyle/>
                    <a:p>
                      <a:pPr algn="ctr" fontAlgn="b"/>
                      <a:r>
                        <a:rPr lang="en-IN" sz="1600" b="1" i="1" u="none" strike="noStrike" dirty="0">
                          <a:effectLst/>
                        </a:rPr>
                        <a:t>H</a:t>
                      </a:r>
                      <a:endParaRPr lang="en-IN" sz="1600" b="1" i="1" u="none" strike="noStrike" dirty="0">
                        <a:solidFill>
                          <a:srgbClr val="000000"/>
                        </a:solidFill>
                        <a:effectLst/>
                        <a:latin typeface="Calibri" panose="020F0502020204030204" pitchFamily="34" charset="0"/>
                      </a:endParaRPr>
                    </a:p>
                  </a:txBody>
                  <a:tcPr marL="6993" marR="6993" marT="6993" marB="0" anchor="b"/>
                </a:tc>
              </a:tr>
            </a:tbl>
          </a:graphicData>
        </a:graphic>
      </p:graphicFrame>
    </p:spTree>
    <p:extLst>
      <p:ext uri="{BB962C8B-B14F-4D97-AF65-F5344CB8AC3E}">
        <p14:creationId xmlns:p14="http://schemas.microsoft.com/office/powerpoint/2010/main" val="3825043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randombar(horizontal)">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154955" y="2230452"/>
            <a:ext cx="8825658" cy="2546929"/>
          </a:xfrm>
        </p:spPr>
        <p:txBody>
          <a:bodyPr/>
          <a:lstStyle/>
          <a:p>
            <a:pPr algn="ctr"/>
            <a:r>
              <a:rPr lang="en-US" dirty="0" smtClean="0"/>
              <a:t>THE END</a:t>
            </a:r>
            <a:endParaRPr lang="en-IN" dirty="0"/>
          </a:p>
        </p:txBody>
      </p:sp>
      <p:sp>
        <p:nvSpPr>
          <p:cNvPr id="3" name="Content Placeholder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38021296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8957</TotalTime>
  <Words>3756</Words>
  <Application>Microsoft Office PowerPoint</Application>
  <PresentationFormat>Widescreen</PresentationFormat>
  <Paragraphs>855</Paragraphs>
  <Slides>66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66</vt:i4>
      </vt:variant>
    </vt:vector>
  </HeadingPairs>
  <TitlesOfParts>
    <vt:vector size="72" baseType="lpstr">
      <vt:lpstr>Arial</vt:lpstr>
      <vt:lpstr>Calibri</vt:lpstr>
      <vt:lpstr>Century Gothic</vt:lpstr>
      <vt:lpstr>Kartika</vt:lpstr>
      <vt:lpstr>Wingdings 3</vt:lpstr>
      <vt:lpstr>Ion</vt:lpstr>
      <vt:lpstr>Poetical books പദ്യപുസ്തകങ്ങൾ</vt:lpstr>
      <vt:lpstr>HISTORY OF BIBLE </vt:lpstr>
      <vt:lpstr>DEFINITION OF BIBLE</vt:lpstr>
      <vt:lpstr>DIVISIONS OF BOOKS </vt:lpstr>
      <vt:lpstr>Bible Divisions Today</vt:lpstr>
      <vt:lpstr>POETICAL BOOKS</vt:lpstr>
      <vt:lpstr>The Psalms സങ്കീർത്തനങ്ങൾ</vt:lpstr>
      <vt:lpstr>THE PSALMS  സങ്കീർത്തനങ്ങൾ </vt:lpstr>
      <vt:lpstr>REASONS FOR STUDYING PSALMS TODAY സങ്കീർത്തനങ്ങൾ പഠിക്കുന്നതിന്റെ ആവശ്യകത</vt:lpstr>
      <vt:lpstr>Difference between Roman Catholic Bible &amp; Protestant Bible</vt:lpstr>
      <vt:lpstr>Collection based on Books</vt:lpstr>
      <vt:lpstr>Collections of Psalms based on Authors </vt:lpstr>
      <vt:lpstr>COLLECTIONS OF PSALMS സങ്കീർത്തന ശേഖരങ്ങൾ</vt:lpstr>
      <vt:lpstr>SUBJECT-MATTER OF THE PSALMS  സങ്കീർത്തന ഉള്ളടക്കം</vt:lpstr>
      <vt:lpstr>TITLES OF THE PSALM      സങ്കീർത്തന ശീർഷകങ്ങൾ</vt:lpstr>
      <vt:lpstr>ശീർഷകങ്ങൾ</vt:lpstr>
      <vt:lpstr>Characteristics of Hebrew Poetry എബ്രായകവിതയുടെ സവിശേഷതകൾ</vt:lpstr>
      <vt:lpstr>ELEMENTS OF WORSHIP</vt:lpstr>
      <vt:lpstr>സങ്കീർത്തനങ്ങളിലെ സാഹിത്യ രൂപങ്ങൾ</vt:lpstr>
      <vt:lpstr>Example for Hymn (Basic Elements)</vt:lpstr>
      <vt:lpstr>Attributes of God mentioned in the following Psalms</vt:lpstr>
      <vt:lpstr>EXPOSITION OF PSALMS  സങ്കീർത്തന൦ വിശദീകരിക്കുന്ന വിധം</vt:lpstr>
      <vt:lpstr>Explanation of Psalms</vt:lpstr>
      <vt:lpstr>EXPOSITION : 103</vt:lpstr>
      <vt:lpstr>PowerPoint Presentation</vt:lpstr>
      <vt:lpstr>Music For Worship</vt:lpstr>
      <vt:lpstr>PSALMS OF LAMENT             വിലാപ കീർത്തനങ്ങൾ</vt:lpstr>
      <vt:lpstr>Psalm 22</vt:lpstr>
      <vt:lpstr>COMMUNITY LAMENT    സാമൂഹ്യ വിലാപ കീർത്തനങ്ങൾ</vt:lpstr>
      <vt:lpstr>LIFE SITUATION</vt:lpstr>
      <vt:lpstr>THANKSGIVING PSALMS</vt:lpstr>
      <vt:lpstr>How can we understand ?</vt:lpstr>
      <vt:lpstr>THANKSGIVING PSALMS</vt:lpstr>
      <vt:lpstr>PSALM 30</vt:lpstr>
      <vt:lpstr>THE COMMUNITY THANKSGIVING PSALMS</vt:lpstr>
      <vt:lpstr>THE COMMUNITY THANKSGIVING</vt:lpstr>
      <vt:lpstr>Analysis of the Psalms </vt:lpstr>
      <vt:lpstr>Psalm 129</vt:lpstr>
      <vt:lpstr>SONGS OF TRUST</vt:lpstr>
      <vt:lpstr>SONGS OF TRUST</vt:lpstr>
      <vt:lpstr>Analyzing of Individual Songs of Trust</vt:lpstr>
      <vt:lpstr>THE MAIN CHARACTER OF IST</vt:lpstr>
      <vt:lpstr>Psalm 91 </vt:lpstr>
      <vt:lpstr>PSALM 27</vt:lpstr>
      <vt:lpstr>COMMUNITY SONGS OF TRUST സാമൂഹ്യമായ ആശ്രയ കീർത്തനങ്ങൾ</vt:lpstr>
      <vt:lpstr>RIVISION STUDY</vt:lpstr>
      <vt:lpstr> we studied the following</vt:lpstr>
      <vt:lpstr>ROYAL PSALMS</vt:lpstr>
      <vt:lpstr>ENTHRONEMENT PSALMS സ്ഥാനാരോഹണ ഗീതങ്ങൾ</vt:lpstr>
      <vt:lpstr>ZION PSALMS OR HYMNS</vt:lpstr>
      <vt:lpstr>Definition of Zion Hymn</vt:lpstr>
      <vt:lpstr>ZION PSALMS OR HYMNS</vt:lpstr>
      <vt:lpstr>THE MASSAINIC PSALMS</vt:lpstr>
      <vt:lpstr>REVISION OF PSALMS</vt:lpstr>
      <vt:lpstr>DIFFERENT TYPES  വിവിധ തരം സങ്കീർത്തനങ്ങൾ</vt:lpstr>
      <vt:lpstr>SPECIAL TYPES OF PSALM</vt:lpstr>
      <vt:lpstr>WHAT WE STUDIED ?</vt:lpstr>
      <vt:lpstr>REVISION STUDY</vt:lpstr>
      <vt:lpstr>Revision</vt:lpstr>
      <vt:lpstr>REVISION OF PSALMS</vt:lpstr>
      <vt:lpstr>DIFFERENT TYPES  വിവിധ തരം സങ്കീർത്തനങ്ങൾ</vt:lpstr>
      <vt:lpstr>METHODS OF PREPARATION OF PSALMS</vt:lpstr>
      <vt:lpstr>PowerPoint Presentation</vt:lpstr>
      <vt:lpstr>PowerPoint Presentation</vt:lpstr>
      <vt:lpstr>PowerPoint Presentation</vt:lpstr>
      <vt:lpstr>THE END</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psalms</dc:title>
  <dc:creator>DELL</dc:creator>
  <cp:lastModifiedBy>DELL</cp:lastModifiedBy>
  <cp:revision>256</cp:revision>
  <dcterms:created xsi:type="dcterms:W3CDTF">2026-02-16T06:04:08Z</dcterms:created>
  <dcterms:modified xsi:type="dcterms:W3CDTF">2026-09-30T12:41:19Z</dcterms:modified>
</cp:coreProperties>
</file>