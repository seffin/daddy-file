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2"/>
    <p:sldId id="262" r:id="rId3"/>
    <p:sldId id="256" r:id="rId4"/>
    <p:sldId id="257" r:id="rId5"/>
    <p:sldId id="258" r:id="rId6"/>
    <p:sldId id="259" r:id="rId7"/>
    <p:sldId id="260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595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9419" y="1883122"/>
            <a:ext cx="9933915" cy="2894280"/>
          </a:xfrm>
        </p:spPr>
        <p:txBody>
          <a:bodyPr/>
          <a:lstStyle/>
          <a:p>
            <a:r>
              <a:rPr lang="en-IN" sz="13800" b="1" dirty="0" smtClean="0">
                <a:solidFill>
                  <a:srgbClr val="64748B"/>
                </a:solidFill>
                <a:latin typeface="Gayathri"/>
              </a:rPr>
              <a:t>Homiletics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4453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Kerugma – Proclamation- John the </a:t>
            </a:r>
            <a:r>
              <a:rPr lang="en-US" dirty="0" err="1" smtClean="0"/>
              <a:t>baptist</a:t>
            </a:r>
            <a:endParaRPr lang="en-US" dirty="0" smtClean="0"/>
          </a:p>
          <a:p>
            <a:r>
              <a:rPr lang="en-US" dirty="0" err="1" smtClean="0"/>
              <a:t>Didache</a:t>
            </a:r>
            <a:r>
              <a:rPr lang="en-US" dirty="0" smtClean="0"/>
              <a:t> -   Teaching – Jesus the teacher</a:t>
            </a:r>
          </a:p>
          <a:p>
            <a:r>
              <a:rPr lang="en-US" dirty="0" err="1" smtClean="0"/>
              <a:t>Paraclesis</a:t>
            </a:r>
            <a:r>
              <a:rPr lang="en-US" dirty="0" smtClean="0"/>
              <a:t> – Exhortation – </a:t>
            </a:r>
            <a:r>
              <a:rPr lang="en-US" dirty="0" err="1" smtClean="0"/>
              <a:t>Bernabas</a:t>
            </a:r>
            <a:endParaRPr lang="en-US" dirty="0" smtClean="0"/>
          </a:p>
          <a:p>
            <a:r>
              <a:rPr lang="en-US" dirty="0" err="1" smtClean="0"/>
              <a:t>Homilia</a:t>
            </a:r>
            <a:r>
              <a:rPr lang="en-US" dirty="0" smtClean="0"/>
              <a:t> -     Sermon -  Peter</a:t>
            </a:r>
          </a:p>
          <a:p>
            <a:pPr lvl="1"/>
            <a:r>
              <a:rPr lang="en-US" dirty="0" smtClean="0"/>
              <a:t>Homiletics – Art of preaching</a:t>
            </a:r>
          </a:p>
          <a:p>
            <a:pPr lvl="1"/>
            <a:r>
              <a:rPr lang="en-US" dirty="0" smtClean="0"/>
              <a:t>Preparation of Sermon and</a:t>
            </a:r>
          </a:p>
          <a:p>
            <a:pPr lvl="1"/>
            <a:r>
              <a:rPr lang="en-US" dirty="0" smtClean="0"/>
              <a:t>Presentation of Sermon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6691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1706909"/>
            <a:ext cx="10972800" cy="1051321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1706909"/>
            <a:ext cx="47625" cy="1051321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2986831"/>
            <a:ext cx="5410200" cy="962025"/>
          </a:xfrm>
          <a:prstGeom prst="roundRect">
            <a:avLst>
              <a:gd name="adj" fmla="val 99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72200" y="2986831"/>
            <a:ext cx="5410200" cy="962025"/>
          </a:xfrm>
          <a:prstGeom prst="roundRect">
            <a:avLst>
              <a:gd name="adj" fmla="val 99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9600" y="4101256"/>
            <a:ext cx="5410200" cy="962025"/>
          </a:xfrm>
          <a:prstGeom prst="roundRect">
            <a:avLst>
              <a:gd name="adj" fmla="val 99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72200" y="4101256"/>
            <a:ext cx="5410200" cy="962025"/>
          </a:xfrm>
          <a:prstGeom prst="roundRect">
            <a:avLst>
              <a:gd name="adj" fmla="val 99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09600" y="5215681"/>
            <a:ext cx="5410200" cy="962025"/>
          </a:xfrm>
          <a:prstGeom prst="roundRect">
            <a:avLst>
              <a:gd name="adj" fmla="val 99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172200" y="5215681"/>
            <a:ext cx="5410200" cy="962025"/>
          </a:xfrm>
          <a:prstGeom prst="roundRect">
            <a:avLst>
              <a:gd name="adj" fmla="val 99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09625" y="3167806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72225" y="3167806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09625" y="4282231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372225" y="4282231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09625" y="5396656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372225" y="5396656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980009" y="912465"/>
            <a:ext cx="719749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200" b="1" i="0" u="none" dirty="0">
                <a:solidFill>
                  <a:srgbClr val="64748B"/>
                </a:solidFill>
                <a:latin typeface="Gayathri"/>
              </a:rPr>
              <a:t>Homiletics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457200"/>
            <a:ext cx="423676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563EB"/>
                </a:solidFill>
                <a:latin typeface="Manjari"/>
              </a:rPr>
              <a:t>CHAPTER - 1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695325"/>
            <a:ext cx="4448602" cy="3885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0F172A"/>
                </a:solidFill>
                <a:latin typeface="Manjari"/>
              </a:rPr>
              <a:t>നിർവ്വചനം (Definition)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5825" y="1897409"/>
            <a:ext cx="1056322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1E293B"/>
                </a:solidFill>
                <a:latin typeface="Gayathri"/>
              </a:rPr>
              <a:t>പ്രസംഗം:</a:t>
            </a:r>
            <a:r>
              <a:rPr sz="1650" b="0" i="0" u="none">
                <a:solidFill>
                  <a:srgbClr val="1E293B"/>
                </a:solidFill>
                <a:latin typeface="Gayathri"/>
              </a:rPr>
              <a:t> ദൈവവചനത്തിൽ നിന്ന് ഗ്രഹിക്കുന്ന ദൂത്, വേദപുസ്തകാടിസ്ഥാനത്തിൽ, വേദപുസ്തക സത്യങ്ങളിലൂടെ, ക്രമീക്രുതമായി കേൾവിക്കാർക്ക് മനസ്സിലാകുന്ന വിധത്തിൽ അനുമാലികമായി അവതരിപ്പിക്കുന്നതാണ് പ്രസംഗം.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42673" y="3185740"/>
            <a:ext cx="1596591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500" b="1" i="0" u="none">
                <a:solidFill>
                  <a:srgbClr val="1E293B"/>
                </a:solidFill>
                <a:latin typeface="Manjari"/>
              </a:rPr>
              <a:t>ദൈവീക ബന്ധം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43013" y="3510706"/>
            <a:ext cx="3795911" cy="256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Gayathri"/>
              </a:rPr>
              <a:t>ദൈവവചനത്തിൽ നിന്ന് ഗ്രഹിക്കുന്ന ദൂത്.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37380" y="3185740"/>
            <a:ext cx="2489464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500" b="1" i="0" u="none">
                <a:solidFill>
                  <a:srgbClr val="1E293B"/>
                </a:solidFill>
                <a:latin typeface="Manjari"/>
              </a:rPr>
              <a:t>വേദപുസ്തകാടിസ്ഥാനം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17581" y="3510706"/>
            <a:ext cx="3129062" cy="256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Gayathri"/>
              </a:rPr>
              <a:t>വേദപുസ്തകത്തിൽ കണ്ടെത്തണം.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45452" y="4300165"/>
            <a:ext cx="1191032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500" b="1" i="0" u="none">
                <a:solidFill>
                  <a:srgbClr val="1E293B"/>
                </a:solidFill>
                <a:latin typeface="Manjari"/>
              </a:rPr>
              <a:t>സത്യബന്ധം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6795" y="4625131"/>
            <a:ext cx="4028346" cy="256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Gayathri"/>
              </a:rPr>
              <a:t>വേദപുസ്തക സത്യവുമായി ബന്ധപ്പെടുത്തി.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36853" y="4300165"/>
            <a:ext cx="490519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500" b="1" i="0" u="none">
                <a:solidFill>
                  <a:srgbClr val="1E293B"/>
                </a:solidFill>
                <a:latin typeface="Manjari"/>
              </a:rPr>
              <a:t>രീതി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83355" y="4625131"/>
            <a:ext cx="3797514" cy="256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Gayathri"/>
              </a:rPr>
              <a:t>അനുമാലിക രീതിയിൽ അവതരിപ്പിക്കുക.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38239" y="5414590"/>
            <a:ext cx="1205458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500" b="1" i="0" u="none">
                <a:solidFill>
                  <a:srgbClr val="1E293B"/>
                </a:solidFill>
                <a:latin typeface="Manjari"/>
              </a:rPr>
              <a:t>ക്രമീകരണം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20469" y="5739556"/>
            <a:ext cx="2240998" cy="256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Gayathri"/>
              </a:rPr>
              <a:t>ക്രമീകൃതമായി നൽകുക.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50103" y="5414590"/>
            <a:ext cx="864018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500" b="1" i="0" u="none">
                <a:solidFill>
                  <a:srgbClr val="1E293B"/>
                </a:solidFill>
                <a:latin typeface="Manjari"/>
              </a:rPr>
              <a:t>വ്യക്തത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42479" y="5739556"/>
            <a:ext cx="3879267" cy="256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Gayathri"/>
              </a:rPr>
              <a:t>കേൾവിക്കാർക്ക് മനസ്സിലാകുന്ന രീതിയിൽ.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5724" y="3167806"/>
            <a:ext cx="54502" cy="269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100"/>
              </a:lnSpc>
            </a:pPr>
            <a:r>
              <a:rPr sz="1050" b="1" i="0" u="none">
                <a:solidFill>
                  <a:srgbClr val="FFFFFF"/>
                </a:solidFill>
                <a:latin typeface="Manjari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67103" y="3167806"/>
            <a:ext cx="76944" cy="269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100"/>
              </a:lnSpc>
            </a:pPr>
            <a:r>
              <a:rPr sz="1050" b="1" i="0" u="none">
                <a:solidFill>
                  <a:srgbClr val="FFFFFF"/>
                </a:solidFill>
                <a:latin typeface="Manjari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6907" y="4282231"/>
            <a:ext cx="72135" cy="269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100"/>
              </a:lnSpc>
            </a:pPr>
            <a:r>
              <a:rPr sz="1050" b="1" i="0" u="none">
                <a:solidFill>
                  <a:srgbClr val="FFFFFF"/>
                </a:solidFill>
                <a:latin typeface="Manjar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61492" y="4282231"/>
            <a:ext cx="88166" cy="269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100"/>
              </a:lnSpc>
            </a:pPr>
            <a:r>
              <a:rPr sz="1050" b="1" i="0" u="none">
                <a:solidFill>
                  <a:srgbClr val="FFFFFF"/>
                </a:solidFill>
                <a:latin typeface="Manjar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3701" y="5396656"/>
            <a:ext cx="78547" cy="269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100"/>
              </a:lnSpc>
            </a:pPr>
            <a:r>
              <a:rPr sz="1050" b="1" i="0" u="none">
                <a:solidFill>
                  <a:srgbClr val="FFFFFF"/>
                </a:solidFill>
                <a:latin typeface="Manjar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64698" y="5396656"/>
            <a:ext cx="81754" cy="269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100"/>
              </a:lnSpc>
            </a:pPr>
            <a:r>
              <a:rPr sz="1050" b="1" i="0" u="none">
                <a:solidFill>
                  <a:srgbClr val="FFFFFF"/>
                </a:solidFill>
                <a:latin typeface="Manjari"/>
              </a:rPr>
              <a:t>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2000250"/>
            <a:ext cx="10972800" cy="1593353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2252662"/>
            <a:ext cx="47625" cy="1112341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746003"/>
            <a:ext cx="3530500" cy="1885950"/>
          </a:xfrm>
          <a:prstGeom prst="roundRect">
            <a:avLst>
              <a:gd name="adj" fmla="val 505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30600" y="3746003"/>
            <a:ext cx="3530649" cy="1885950"/>
          </a:xfrm>
          <a:prstGeom prst="roundRect">
            <a:avLst>
              <a:gd name="adj" fmla="val 505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51750" y="3746003"/>
            <a:ext cx="3530500" cy="1885950"/>
          </a:xfrm>
          <a:prstGeom prst="roundRect">
            <a:avLst>
              <a:gd name="adj" fmla="val 505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6262" y="4022228"/>
            <a:ext cx="257175" cy="3429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451" y="4022228"/>
            <a:ext cx="304800" cy="3429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2688" y="4022228"/>
            <a:ext cx="428625" cy="3429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811619" y="912465"/>
            <a:ext cx="105653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64748B"/>
                </a:solidFill>
                <a:latin typeface="Gayathri"/>
              </a:rPr>
              <a:t>Homiletics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457200"/>
            <a:ext cx="747600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563EB"/>
                </a:solidFill>
                <a:latin typeface="Manjari"/>
              </a:rPr>
              <a:t>CHAPTER - 2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95325"/>
            <a:ext cx="7849809" cy="3885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0F172A"/>
                </a:solidFill>
                <a:latin typeface="Manjari"/>
              </a:rPr>
              <a:t>പ്രസംഗത്തിന്റെ സാധാരണയുള്ള ലക്ഷ്യം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491" y="2443162"/>
            <a:ext cx="10719303" cy="7437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 dirty="0" err="1">
                <a:solidFill>
                  <a:srgbClr val="1E293B"/>
                </a:solidFill>
                <a:latin typeface="Gayathri"/>
              </a:rPr>
              <a:t>കേൾവിക്കാരി</a:t>
            </a:r>
            <a:r>
              <a:rPr sz="1800" b="0" i="0" u="none" dirty="0">
                <a:solidFill>
                  <a:srgbClr val="1E293B"/>
                </a:solidFill>
                <a:latin typeface="Gayathri"/>
              </a:rPr>
              <a:t>ൽ </a:t>
            </a:r>
            <a:r>
              <a:rPr sz="1800" b="0" i="0" u="none" dirty="0" err="1">
                <a:solidFill>
                  <a:srgbClr val="1E293B"/>
                </a:solidFill>
                <a:latin typeface="Gayathri"/>
              </a:rPr>
              <a:t>ആത്മീയ</a:t>
            </a:r>
            <a:r>
              <a:rPr sz="1800" b="0" i="0" u="none" dirty="0">
                <a:solidFill>
                  <a:srgbClr val="1E293B"/>
                </a:solidFill>
                <a:latin typeface="Gayathri"/>
              </a:rPr>
              <a:t> </a:t>
            </a:r>
            <a:r>
              <a:rPr sz="1800" b="0" i="0" u="none" dirty="0" err="1">
                <a:solidFill>
                  <a:srgbClr val="1E293B"/>
                </a:solidFill>
                <a:latin typeface="Gayathri"/>
              </a:rPr>
              <a:t>ഉണർവ്വു</a:t>
            </a:r>
            <a:r>
              <a:rPr sz="1800" b="0" i="0" u="none" dirty="0">
                <a:solidFill>
                  <a:srgbClr val="1E293B"/>
                </a:solidFill>
                <a:latin typeface="Gayathri"/>
              </a:rPr>
              <a:t> </a:t>
            </a:r>
            <a:r>
              <a:rPr sz="1800" b="0" i="0" u="none" dirty="0" err="1">
                <a:solidFill>
                  <a:srgbClr val="1E293B"/>
                </a:solidFill>
                <a:latin typeface="Gayathri"/>
              </a:rPr>
              <a:t>ഉണ്ടാകുകയും</a:t>
            </a:r>
            <a:r>
              <a:rPr sz="1800" b="0" i="0" u="none" dirty="0">
                <a:solidFill>
                  <a:srgbClr val="1E293B"/>
                </a:solidFill>
                <a:latin typeface="Gayathri"/>
              </a:rPr>
              <a:t>, </a:t>
            </a:r>
            <a:r>
              <a:rPr sz="1800" b="0" i="0" u="none" dirty="0" err="1">
                <a:solidFill>
                  <a:srgbClr val="1E293B"/>
                </a:solidFill>
                <a:latin typeface="Gayathri"/>
              </a:rPr>
              <a:t>പുതിയ</a:t>
            </a:r>
            <a:r>
              <a:rPr sz="1800" b="0" i="0" u="none" dirty="0">
                <a:solidFill>
                  <a:srgbClr val="1E293B"/>
                </a:solidFill>
                <a:latin typeface="Gayathri"/>
              </a:rPr>
              <a:t> </a:t>
            </a:r>
            <a:r>
              <a:rPr sz="1800" b="0" i="0" u="none" dirty="0" err="1">
                <a:solidFill>
                  <a:srgbClr val="1E293B"/>
                </a:solidFill>
                <a:latin typeface="Gayathri"/>
              </a:rPr>
              <a:t>തീരുമാനങ്ങ</a:t>
            </a:r>
            <a:r>
              <a:rPr sz="1800" b="0" i="0" u="none" dirty="0">
                <a:solidFill>
                  <a:srgbClr val="1E293B"/>
                </a:solidFill>
                <a:latin typeface="Gayathri"/>
              </a:rPr>
              <a:t>ൾ </a:t>
            </a:r>
            <a:r>
              <a:rPr sz="1800" b="0" i="0" u="none" dirty="0" err="1">
                <a:solidFill>
                  <a:srgbClr val="1E293B"/>
                </a:solidFill>
                <a:latin typeface="Gayathri"/>
              </a:rPr>
              <a:t>എടുക്കുകയും</a:t>
            </a:r>
            <a:r>
              <a:rPr sz="1800" b="0" i="0" u="none" dirty="0">
                <a:solidFill>
                  <a:srgbClr val="1E293B"/>
                </a:solidFill>
                <a:latin typeface="Gayathri"/>
              </a:rPr>
              <a:t>, </a:t>
            </a:r>
            <a:r>
              <a:rPr sz="1800" b="0" i="0" u="none" dirty="0" err="1">
                <a:solidFill>
                  <a:srgbClr val="1E293B"/>
                </a:solidFill>
                <a:latin typeface="Gayathri"/>
              </a:rPr>
              <a:t>പൂർണ്ണ</a:t>
            </a:r>
            <a:r>
              <a:rPr sz="1800" b="0" i="0" u="none" dirty="0">
                <a:solidFill>
                  <a:srgbClr val="1E293B"/>
                </a:solidFill>
                <a:latin typeface="Gayathri"/>
              </a:rPr>
              <a:t> </a:t>
            </a:r>
            <a:r>
              <a:rPr sz="1800" b="0" i="0" u="none" dirty="0" err="1">
                <a:solidFill>
                  <a:srgbClr val="1E293B"/>
                </a:solidFill>
                <a:latin typeface="Gayathri"/>
              </a:rPr>
              <a:t>സമർപ്പണത്തിലേക്ക്</a:t>
            </a:r>
            <a:r>
              <a:rPr sz="1800" b="0" i="0" u="none" dirty="0">
                <a:solidFill>
                  <a:srgbClr val="1E293B"/>
                </a:solidFill>
                <a:latin typeface="Gayathri"/>
              </a:rPr>
              <a:t> </a:t>
            </a:r>
            <a:r>
              <a:rPr sz="1800" b="0" i="0" u="none" dirty="0" err="1">
                <a:solidFill>
                  <a:srgbClr val="1E293B"/>
                </a:solidFill>
                <a:latin typeface="Gayathri"/>
              </a:rPr>
              <a:t>വന്ന്</a:t>
            </a:r>
            <a:r>
              <a:rPr sz="1800" b="0" i="0" u="none" dirty="0">
                <a:solidFill>
                  <a:srgbClr val="1E293B"/>
                </a:solidFill>
                <a:latin typeface="Gayathri"/>
              </a:rPr>
              <a:t> </a:t>
            </a:r>
            <a:r>
              <a:rPr sz="1800" b="0" i="0" u="none" dirty="0" err="1">
                <a:solidFill>
                  <a:srgbClr val="1E293B"/>
                </a:solidFill>
                <a:latin typeface="Gayathri"/>
              </a:rPr>
              <a:t>പ്രതിജ്ഞ</a:t>
            </a:r>
            <a:r>
              <a:rPr sz="1800" b="0" i="0" u="none" dirty="0">
                <a:solidFill>
                  <a:srgbClr val="1E293B"/>
                </a:solidFill>
                <a:latin typeface="Gayathri"/>
              </a:rPr>
              <a:t> </a:t>
            </a:r>
            <a:r>
              <a:rPr sz="1800" b="0" i="0" u="none" dirty="0" err="1">
                <a:solidFill>
                  <a:srgbClr val="1E293B"/>
                </a:solidFill>
                <a:latin typeface="Gayathri"/>
              </a:rPr>
              <a:t>എടുക്കുകയും</a:t>
            </a:r>
            <a:r>
              <a:rPr sz="1800" b="0" i="0" u="none" dirty="0">
                <a:solidFill>
                  <a:srgbClr val="1E293B"/>
                </a:solidFill>
                <a:latin typeface="Gayathri"/>
              </a:rPr>
              <a:t> </a:t>
            </a:r>
            <a:r>
              <a:rPr sz="1800" b="0" i="0" u="none" dirty="0" err="1">
                <a:solidFill>
                  <a:srgbClr val="1E293B"/>
                </a:solidFill>
                <a:latin typeface="Gayathri"/>
              </a:rPr>
              <a:t>ചെയ്യണം</a:t>
            </a:r>
            <a:r>
              <a:rPr sz="1800" b="0" i="0" u="none" dirty="0">
                <a:solidFill>
                  <a:srgbClr val="1E293B"/>
                </a:solidFill>
                <a:latin typeface="Gayathri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492" y="4517528"/>
            <a:ext cx="4108716" cy="2476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650" b="1" i="0" u="none">
                <a:solidFill>
                  <a:srgbClr val="1E293B"/>
                </a:solidFill>
                <a:latin typeface="Manjari"/>
              </a:rPr>
              <a:t>ആത്മീയ ഉണർവ്വ്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8318" y="4841378"/>
            <a:ext cx="3913063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Gayathri"/>
              </a:rPr>
              <a:t>കേൾവിക്കാരിൽ ആത്മീയമായ ഉണർവ്വ് ഉണ്ടാക്കുക.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41469" y="4517528"/>
            <a:ext cx="4108911" cy="2476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650" b="1" i="0" u="none">
                <a:solidFill>
                  <a:srgbClr val="1E293B"/>
                </a:solidFill>
                <a:latin typeface="Manjari"/>
              </a:rPr>
              <a:t>പുതിയ തീരുമാനങ്ങൾ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39300" y="4841378"/>
            <a:ext cx="3913249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Gayathri"/>
              </a:rPr>
              <a:t>ആത്മീയ ജീവിതത്തിൽ പുതിയ തീരുമാനങ്ങൾ എടുക്കുക.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62642" y="4517528"/>
            <a:ext cx="4108716" cy="2476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650" b="1" i="0" u="none">
                <a:solidFill>
                  <a:srgbClr val="1E293B"/>
                </a:solidFill>
                <a:latin typeface="Manjari"/>
              </a:rPr>
              <a:t>പൂർണ്ണ സമർപ്പണം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0469" y="4841378"/>
            <a:ext cx="3913063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Gayathri"/>
              </a:rPr>
              <a:t>പൂർണ്ണ സമർപ്പണത്തിലേക്ക് വന്ന് പ്രതിജ്ഞ എടുക്കുക.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504033"/>
            <a:ext cx="10972800" cy="971550"/>
          </a:xfrm>
          <a:prstGeom prst="roundRect">
            <a:avLst>
              <a:gd name="adj" fmla="val 9803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589883"/>
            <a:ext cx="10972800" cy="971550"/>
          </a:xfrm>
          <a:prstGeom prst="roundRect">
            <a:avLst>
              <a:gd name="adj" fmla="val 9803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828133"/>
            <a:ext cx="10972800" cy="1264849"/>
          </a:xfrm>
          <a:prstGeom prst="roundRect">
            <a:avLst>
              <a:gd name="adj" fmla="val 10752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180183"/>
            <a:ext cx="190500" cy="19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5037683"/>
            <a:ext cx="190500" cy="190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811619" y="912465"/>
            <a:ext cx="105653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64748B"/>
                </a:solidFill>
                <a:latin typeface="Gayathri"/>
              </a:rPr>
              <a:t>Homiletics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170658"/>
            <a:ext cx="11582400" cy="219075"/>
          </a:xfrm>
          <a:prstGeom prst="rect">
            <a:avLst/>
          </a:prstGeom>
          <a:noFill/>
        </p:spPr>
        <p:txBody>
          <a:bodyPr wrap="none" lIns="19050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DC2626"/>
                </a:solidFill>
                <a:latin typeface="Gayathri"/>
              </a:rPr>
              <a:t>രണ്ട് രീതിയിലുള്ള പ്രസംഗങ്ങൾ പരാജയപ്പെടാറുണ്ട്: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57200"/>
            <a:ext cx="999455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563EB"/>
                </a:solidFill>
                <a:latin typeface="Manjari"/>
              </a:rPr>
              <a:t>CHAPTER - 3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95325"/>
            <a:ext cx="10494280" cy="3885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0F172A"/>
                </a:solidFill>
                <a:latin typeface="Manjari"/>
              </a:rPr>
              <a:t>പ്രസംഗം കൊണ്ടുള്ള പരാജയവും വിജയവും (പരിഹാരം)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2665958"/>
            <a:ext cx="1138237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991B1B"/>
                </a:solidFill>
                <a:latin typeface="Gayathri"/>
              </a:rPr>
              <a:t>1. സ്വന്ത ആശയങ്ങൾ മാത്രം പ്രസംഗിക്കുമ്പോൾ: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2913608"/>
            <a:ext cx="106680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7F1D1D"/>
                </a:solidFill>
                <a:latin typeface="Gayathri"/>
              </a:rPr>
              <a:t>നമ്മുടെ ചില ധാരണകൾ മാത്രം പ്രസംഗിക്കുമ്പോൾ, നമ്മുടെ ചിന്തകൾ, ദർശനങ്ങൾ, വെറുതെയുള്ള വികാരങ്ങൾ, വേദശാസ്ത്രം ഇവകൾ പലപ്പോഴും പരാജയപ്പെടുന്നു.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3751808"/>
            <a:ext cx="1138237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991B1B"/>
                </a:solidFill>
                <a:latin typeface="Gayathri"/>
              </a:rPr>
              <a:t>2. ബന്ധമില്ലാത്ത പ്രസംഗം: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25" y="3999458"/>
            <a:ext cx="106680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7F1D1D"/>
                </a:solidFill>
                <a:latin typeface="Gayathri"/>
              </a:rPr>
              <a:t>യാതൊരു ബന്ധവുമില്ലാത്ത പ്രസംഗം - ചരിത്രപരമായോ, സദ്ധാന്തപരമായോ, നമ്മുടെ ജീവിത പശ്ചാത്തലപരമായോ, ക്രിസ്തീയാനുഭവപരമായോ ബന്ധമില്ലാത്തത്.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5028158"/>
            <a:ext cx="11344275" cy="219075"/>
          </a:xfrm>
          <a:prstGeom prst="rect">
            <a:avLst/>
          </a:prstGeom>
          <a:noFill/>
        </p:spPr>
        <p:txBody>
          <a:bodyPr wrap="none" lIns="19050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66534"/>
                </a:solidFill>
                <a:latin typeface="Gayathri"/>
              </a:rPr>
              <a:t>വിജയത്തിനുള്ള പരിഹാരം: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5304383"/>
            <a:ext cx="9478557" cy="43858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0" i="0" u="none" dirty="0" err="1">
                <a:solidFill>
                  <a:srgbClr val="14532D"/>
                </a:solidFill>
                <a:latin typeface="Gayathri"/>
              </a:rPr>
              <a:t>ഇരിക്കുന്ന</a:t>
            </a:r>
            <a:r>
              <a:rPr sz="1425" b="0" i="0" u="none" dirty="0">
                <a:solidFill>
                  <a:srgbClr val="14532D"/>
                </a:solidFill>
                <a:latin typeface="Gayathri"/>
              </a:rPr>
              <a:t> </a:t>
            </a:r>
            <a:r>
              <a:rPr sz="1425" b="0" i="0" u="none" dirty="0" err="1">
                <a:solidFill>
                  <a:srgbClr val="14532D"/>
                </a:solidFill>
                <a:latin typeface="Gayathri"/>
              </a:rPr>
              <a:t>കൂട്ടത്തിന്റെ</a:t>
            </a:r>
            <a:r>
              <a:rPr sz="1425" b="0" i="0" u="none" dirty="0">
                <a:solidFill>
                  <a:srgbClr val="14532D"/>
                </a:solidFill>
                <a:latin typeface="Gayathri"/>
              </a:rPr>
              <a:t> </a:t>
            </a:r>
            <a:r>
              <a:rPr sz="1425" b="0" i="0" u="none" dirty="0" err="1">
                <a:solidFill>
                  <a:srgbClr val="14532D"/>
                </a:solidFill>
                <a:latin typeface="Gayathri"/>
              </a:rPr>
              <a:t>വികാരം</a:t>
            </a:r>
            <a:r>
              <a:rPr sz="1425" b="0" i="0" u="none" dirty="0">
                <a:solidFill>
                  <a:srgbClr val="14532D"/>
                </a:solidFill>
                <a:latin typeface="Gayathri"/>
              </a:rPr>
              <a:t> </a:t>
            </a:r>
            <a:r>
              <a:rPr sz="1425" b="0" i="0" u="none" dirty="0" err="1">
                <a:solidFill>
                  <a:srgbClr val="14532D"/>
                </a:solidFill>
                <a:latin typeface="Gayathri"/>
              </a:rPr>
              <a:t>ഉൾക്കൊണ്ടുകൊണ്ട്</a:t>
            </a:r>
            <a:r>
              <a:rPr sz="1425" b="0" i="0" u="none" dirty="0">
                <a:solidFill>
                  <a:srgbClr val="14532D"/>
                </a:solidFill>
                <a:latin typeface="Gayathri"/>
              </a:rPr>
              <a:t> </a:t>
            </a:r>
            <a:r>
              <a:rPr sz="1425" b="0" i="0" u="none" dirty="0" err="1">
                <a:solidFill>
                  <a:srgbClr val="14532D"/>
                </a:solidFill>
                <a:latin typeface="Gayathri"/>
              </a:rPr>
              <a:t>വ്യക്തിപരമായും</a:t>
            </a:r>
            <a:r>
              <a:rPr sz="1425" b="0" i="0" u="none" dirty="0">
                <a:solidFill>
                  <a:srgbClr val="14532D"/>
                </a:solidFill>
                <a:latin typeface="Gayathri"/>
              </a:rPr>
              <a:t> </a:t>
            </a:r>
            <a:r>
              <a:rPr sz="1425" b="0" i="0" u="none" dirty="0" err="1">
                <a:solidFill>
                  <a:srgbClr val="14532D"/>
                </a:solidFill>
                <a:latin typeface="Gayathri"/>
              </a:rPr>
              <a:t>ക്രിസ്ത്യാനിത്വവും</a:t>
            </a:r>
            <a:r>
              <a:rPr sz="1425" b="0" i="0" u="none" dirty="0">
                <a:solidFill>
                  <a:srgbClr val="14532D"/>
                </a:solidFill>
                <a:latin typeface="Gayathri"/>
              </a:rPr>
              <a:t> </a:t>
            </a:r>
            <a:r>
              <a:rPr sz="1425" b="0" i="0" u="none" dirty="0" err="1">
                <a:solidFill>
                  <a:srgbClr val="14532D"/>
                </a:solidFill>
                <a:latin typeface="Gayathri"/>
              </a:rPr>
              <a:t>കൂടി</a:t>
            </a:r>
            <a:r>
              <a:rPr sz="1425" b="0" i="0" u="none" dirty="0">
                <a:solidFill>
                  <a:srgbClr val="14532D"/>
                </a:solidFill>
                <a:latin typeface="Gayathri"/>
              </a:rPr>
              <a:t> </a:t>
            </a:r>
            <a:endParaRPr lang="en-US" sz="1425" b="0" i="0" u="none" dirty="0" smtClean="0">
              <a:solidFill>
                <a:srgbClr val="14532D"/>
              </a:solidFill>
              <a:latin typeface="Gayathri"/>
            </a:endParaRPr>
          </a:p>
          <a:p>
            <a:pPr algn="l"/>
            <a:r>
              <a:rPr sz="1425" b="0" i="0" u="none" dirty="0" err="1" smtClean="0">
                <a:solidFill>
                  <a:srgbClr val="14532D"/>
                </a:solidFill>
                <a:latin typeface="Gayathri"/>
              </a:rPr>
              <a:t>കൂട്ടിയോജിപ്പിച്ച്</a:t>
            </a:r>
            <a:r>
              <a:rPr sz="1425" b="0" i="0" u="none" dirty="0" smtClean="0">
                <a:solidFill>
                  <a:srgbClr val="14532D"/>
                </a:solidFill>
                <a:latin typeface="Gayathri"/>
              </a:rPr>
              <a:t> </a:t>
            </a:r>
            <a:r>
              <a:rPr sz="1425" b="0" i="0" u="none" dirty="0" err="1">
                <a:solidFill>
                  <a:srgbClr val="14532D"/>
                </a:solidFill>
                <a:latin typeface="Gayathri"/>
              </a:rPr>
              <a:t>പ്രസംഗിക്കണം</a:t>
            </a:r>
            <a:r>
              <a:rPr sz="1425" b="0" i="0" u="none" dirty="0">
                <a:solidFill>
                  <a:srgbClr val="14532D"/>
                </a:solidFill>
                <a:latin typeface="Gayathri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961108"/>
            <a:ext cx="5410200" cy="1219200"/>
          </a:xfrm>
          <a:prstGeom prst="roundRect">
            <a:avLst>
              <a:gd name="adj" fmla="val 781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172200" y="1961108"/>
            <a:ext cx="5410200" cy="1219200"/>
          </a:xfrm>
          <a:prstGeom prst="roundRect">
            <a:avLst>
              <a:gd name="adj" fmla="val 781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332708"/>
            <a:ext cx="5410200" cy="1219200"/>
          </a:xfrm>
          <a:prstGeom prst="roundRect">
            <a:avLst>
              <a:gd name="adj" fmla="val 781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72200" y="3332708"/>
            <a:ext cx="5410200" cy="1219200"/>
          </a:xfrm>
          <a:prstGeom prst="roundRect">
            <a:avLst>
              <a:gd name="adj" fmla="val 781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9600" y="4704308"/>
            <a:ext cx="5410200" cy="1219200"/>
          </a:xfrm>
          <a:prstGeom prst="roundRect">
            <a:avLst>
              <a:gd name="adj" fmla="val 781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72200" y="4704308"/>
            <a:ext cx="5410200" cy="1219200"/>
          </a:xfrm>
          <a:prstGeom prst="roundRect">
            <a:avLst>
              <a:gd name="adj" fmla="val 781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09625" y="2142083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372225" y="2142083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09625" y="3513683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72225" y="3513683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09625" y="4885283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372225" y="4885283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112914" y="912465"/>
            <a:ext cx="1761701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64748B"/>
                </a:solidFill>
                <a:latin typeface="Gayathri"/>
              </a:rPr>
              <a:t>6 പ്രധാന കാരണങ്ങൾ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36737" y="457200"/>
            <a:ext cx="1053173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2563EB"/>
                </a:solidFill>
                <a:latin typeface="Manjari"/>
              </a:rPr>
              <a:t>CHAPTER - 4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231" y="695325"/>
            <a:ext cx="7237558" cy="3975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060"/>
              </a:lnSpc>
            </a:pPr>
            <a:r>
              <a:rPr sz="2550" b="1" i="0" u="none">
                <a:solidFill>
                  <a:srgbClr val="0F172A"/>
                </a:solidFill>
                <a:latin typeface="Manjari"/>
              </a:rPr>
              <a:t>പ്രസംഗത്തിന്റെ ആവശ്യകത (പ്രാധാന്യം)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0665" y="2188592"/>
            <a:ext cx="3377528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 i="0" u="none" dirty="0" err="1">
                <a:solidFill>
                  <a:srgbClr val="1E293B"/>
                </a:solidFill>
                <a:latin typeface="Manjari"/>
              </a:rPr>
              <a:t>ദൈവം</a:t>
            </a:r>
            <a:r>
              <a:rPr sz="1500" b="1" i="0" u="none" dirty="0">
                <a:solidFill>
                  <a:srgbClr val="1E293B"/>
                </a:solidFill>
                <a:latin typeface="Manjari"/>
              </a:rPr>
              <a:t> </a:t>
            </a:r>
            <a:r>
              <a:rPr sz="1500" b="1" i="0" u="none" dirty="0" err="1">
                <a:solidFill>
                  <a:srgbClr val="1E293B"/>
                </a:solidFill>
                <a:latin typeface="Manjari"/>
              </a:rPr>
              <a:t>പ്രസംഗം</a:t>
            </a:r>
            <a:r>
              <a:rPr sz="1500" b="1" i="0" u="none" dirty="0">
                <a:solidFill>
                  <a:srgbClr val="1E293B"/>
                </a:solidFill>
                <a:latin typeface="Manjari"/>
              </a:rPr>
              <a:t> </a:t>
            </a:r>
            <a:r>
              <a:rPr sz="1500" b="1" i="0" u="none" dirty="0" err="1">
                <a:solidFill>
                  <a:srgbClr val="1E293B"/>
                </a:solidFill>
                <a:latin typeface="Manjari"/>
              </a:rPr>
              <a:t>തെരഞ്ഞെടുത്തു</a:t>
            </a:r>
            <a:endParaRPr sz="1500" b="1" i="0" u="none" dirty="0">
              <a:solidFill>
                <a:srgbClr val="1E293B"/>
              </a:solidFill>
              <a:latin typeface="Manja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09625" y="2484983"/>
            <a:ext cx="51054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Gayathri"/>
              </a:rPr>
              <a:t>വെളിപാട്- 1:1-3, മത്തായി- 10:5-7, മർക്കൊസ്- 16:15, പ്രവൃത്തി- 2:4, 14.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49787" y="2160017"/>
            <a:ext cx="3350276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 i="0" u="none" dirty="0" err="1">
                <a:solidFill>
                  <a:srgbClr val="1E293B"/>
                </a:solidFill>
                <a:latin typeface="Manjari"/>
              </a:rPr>
              <a:t>മനുഷ്യന്</a:t>
            </a:r>
            <a:r>
              <a:rPr sz="1500" b="1" i="0" u="none" dirty="0">
                <a:solidFill>
                  <a:srgbClr val="1E293B"/>
                </a:solidFill>
                <a:latin typeface="Manjari"/>
              </a:rPr>
              <a:t> </a:t>
            </a:r>
            <a:r>
              <a:rPr sz="1500" b="1" i="0" u="none" dirty="0" err="1">
                <a:solidFill>
                  <a:srgbClr val="1E293B"/>
                </a:solidFill>
                <a:latin typeface="Manjari"/>
              </a:rPr>
              <a:t>പ്രസംഗം</a:t>
            </a:r>
            <a:r>
              <a:rPr sz="1500" b="1" i="0" u="none" dirty="0">
                <a:solidFill>
                  <a:srgbClr val="1E293B"/>
                </a:solidFill>
                <a:latin typeface="Manjari"/>
              </a:rPr>
              <a:t> </a:t>
            </a:r>
            <a:r>
              <a:rPr sz="1500" b="1" i="0" u="none" dirty="0" err="1">
                <a:solidFill>
                  <a:srgbClr val="1E293B"/>
                </a:solidFill>
                <a:latin typeface="Manjari"/>
              </a:rPr>
              <a:t>ആവശ്യമാണ്</a:t>
            </a:r>
            <a:endParaRPr sz="1500" b="1" i="0" u="none" dirty="0">
              <a:solidFill>
                <a:srgbClr val="1E293B"/>
              </a:solidFill>
              <a:latin typeface="Manja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795601" y="2484983"/>
            <a:ext cx="973022" cy="256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Gayathri"/>
              </a:rPr>
              <a:t>എഫെ- 5:19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99137" y="3531617"/>
            <a:ext cx="3339056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 i="0" u="none" dirty="0" err="1">
                <a:solidFill>
                  <a:srgbClr val="1E293B"/>
                </a:solidFill>
                <a:latin typeface="Manjari"/>
              </a:rPr>
              <a:t>വെളിപാടുക</a:t>
            </a:r>
            <a:r>
              <a:rPr sz="1500" b="1" i="0" u="none" dirty="0">
                <a:solidFill>
                  <a:srgbClr val="1E293B"/>
                </a:solidFill>
                <a:latin typeface="Manjari"/>
              </a:rPr>
              <a:t>ൾ </a:t>
            </a:r>
            <a:r>
              <a:rPr sz="1500" b="1" i="0" u="none" dirty="0" err="1">
                <a:solidFill>
                  <a:srgbClr val="1E293B"/>
                </a:solidFill>
                <a:latin typeface="Manjari"/>
              </a:rPr>
              <a:t>പ്രസംഗത്തിലൂടെ</a:t>
            </a:r>
            <a:endParaRPr sz="1500" b="1" i="0" u="none" dirty="0">
              <a:solidFill>
                <a:srgbClr val="1E293B"/>
              </a:solidFill>
              <a:latin typeface="Manja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435496" y="3856583"/>
            <a:ext cx="3739805" cy="5129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 dirty="0" err="1" smtClean="0">
                <a:solidFill>
                  <a:srgbClr val="475569"/>
                </a:solidFill>
                <a:latin typeface="Gayathri"/>
              </a:rPr>
              <a:t>വെളിപാടുക</a:t>
            </a:r>
            <a:r>
              <a:rPr sz="1350" b="0" i="0" u="none" dirty="0" smtClean="0">
                <a:solidFill>
                  <a:srgbClr val="475569"/>
                </a:solidFill>
                <a:latin typeface="Gayathri"/>
              </a:rPr>
              <a:t>ൾ </a:t>
            </a:r>
            <a:r>
              <a:rPr sz="1350" b="0" i="0" u="none" dirty="0" err="1" smtClean="0">
                <a:solidFill>
                  <a:srgbClr val="475569"/>
                </a:solidFill>
                <a:latin typeface="Gayathri"/>
              </a:rPr>
              <a:t>പ്രസംഗത്തിലൂടെ</a:t>
            </a:r>
            <a:r>
              <a:rPr sz="1350" b="0" i="0" u="none" dirty="0" smtClean="0">
                <a:solidFill>
                  <a:srgbClr val="475569"/>
                </a:solidFill>
                <a:latin typeface="Gayathri"/>
              </a:rPr>
              <a:t> </a:t>
            </a:r>
            <a:r>
              <a:rPr sz="1350" b="0" i="0" u="none" dirty="0" err="1" smtClean="0">
                <a:solidFill>
                  <a:srgbClr val="475569"/>
                </a:solidFill>
                <a:latin typeface="Gayathri"/>
              </a:rPr>
              <a:t>മാത്രമേ</a:t>
            </a:r>
            <a:endParaRPr lang="en-US" sz="1350" b="0" i="0" u="none" dirty="0" smtClean="0">
              <a:solidFill>
                <a:srgbClr val="475569"/>
              </a:solidFill>
              <a:latin typeface="Gayathri"/>
            </a:endParaRPr>
          </a:p>
          <a:p>
            <a:pPr algn="ctr">
              <a:lnSpc>
                <a:spcPts val="2025"/>
              </a:lnSpc>
            </a:pPr>
            <a:r>
              <a:rPr sz="1350" b="0" i="0" u="none" dirty="0" smtClean="0">
                <a:solidFill>
                  <a:srgbClr val="475569"/>
                </a:solidFill>
                <a:latin typeface="Gayathri"/>
              </a:rPr>
              <a:t> </a:t>
            </a:r>
            <a:r>
              <a:rPr sz="1350" b="0" i="0" u="none" dirty="0" err="1" smtClean="0">
                <a:solidFill>
                  <a:srgbClr val="475569"/>
                </a:solidFill>
                <a:latin typeface="Gayathri"/>
              </a:rPr>
              <a:t>ഗ്രഹിക്കുവാ</a:t>
            </a:r>
            <a:r>
              <a:rPr sz="1350" b="0" i="0" u="none" dirty="0" smtClean="0">
                <a:solidFill>
                  <a:srgbClr val="475569"/>
                </a:solidFill>
                <a:latin typeface="Gayathri"/>
              </a:rPr>
              <a:t>ൻ </a:t>
            </a:r>
            <a:r>
              <a:rPr sz="1350" b="0" i="0" u="none" dirty="0" err="1" smtClean="0">
                <a:solidFill>
                  <a:srgbClr val="475569"/>
                </a:solidFill>
                <a:latin typeface="Gayathri"/>
              </a:rPr>
              <a:t>സാധിക്കൂ</a:t>
            </a:r>
            <a:r>
              <a:rPr sz="1350" b="0" i="0" u="none" dirty="0" smtClean="0">
                <a:solidFill>
                  <a:srgbClr val="475569"/>
                </a:solidFill>
                <a:latin typeface="Gayathri"/>
              </a:rPr>
              <a:t>.</a:t>
            </a:r>
            <a:endParaRPr sz="1350" b="0" i="0" u="none" dirty="0">
              <a:solidFill>
                <a:srgbClr val="475569"/>
              </a:solidFill>
              <a:latin typeface="Gayath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332860" y="3531617"/>
            <a:ext cx="2925481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 i="0" u="none" dirty="0" err="1">
                <a:solidFill>
                  <a:srgbClr val="1E293B"/>
                </a:solidFill>
                <a:latin typeface="Manjari"/>
              </a:rPr>
              <a:t>വിശ്വാസം</a:t>
            </a:r>
            <a:r>
              <a:rPr sz="1500" b="1" i="0" u="none" dirty="0">
                <a:solidFill>
                  <a:srgbClr val="1E293B"/>
                </a:solidFill>
                <a:latin typeface="Manjari"/>
              </a:rPr>
              <a:t> </a:t>
            </a:r>
            <a:r>
              <a:rPr sz="1500" b="1" i="0" u="none" dirty="0" err="1">
                <a:solidFill>
                  <a:srgbClr val="1E293B"/>
                </a:solidFill>
                <a:latin typeface="Manjari"/>
              </a:rPr>
              <a:t>അനുഭവിക്കുന്നത്</a:t>
            </a:r>
            <a:endParaRPr sz="1500" b="1" i="0" u="none" dirty="0">
              <a:solidFill>
                <a:srgbClr val="1E293B"/>
              </a:solidFill>
              <a:latin typeface="Manja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372225" y="3856583"/>
            <a:ext cx="51054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Gayathri"/>
              </a:rPr>
              <a:t>പ്രസംഗത്തിലൂടെയാണ് വിശ്വാസം അനുഭവിക്കുന്നത് (വളരുന്നത്).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35496" y="4903217"/>
            <a:ext cx="3855222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 i="0" u="none" dirty="0" err="1">
                <a:solidFill>
                  <a:srgbClr val="1E293B"/>
                </a:solidFill>
                <a:latin typeface="Manjari"/>
              </a:rPr>
              <a:t>ആത്മികാരോഗ്യവും</a:t>
            </a:r>
            <a:r>
              <a:rPr sz="1500" b="1" i="0" u="none" dirty="0">
                <a:solidFill>
                  <a:srgbClr val="1E293B"/>
                </a:solidFill>
                <a:latin typeface="Manjari"/>
              </a:rPr>
              <a:t> </a:t>
            </a:r>
            <a:r>
              <a:rPr sz="1500" b="1" i="0" u="none" dirty="0" err="1">
                <a:solidFill>
                  <a:srgbClr val="1E293B"/>
                </a:solidFill>
                <a:latin typeface="Manjari"/>
              </a:rPr>
              <a:t>ദൈവവചനവും</a:t>
            </a:r>
            <a:endParaRPr sz="1500" b="1" i="0" u="none" dirty="0">
              <a:solidFill>
                <a:srgbClr val="1E293B"/>
              </a:solidFill>
              <a:latin typeface="Manja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09625" y="5228183"/>
            <a:ext cx="51054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Gayathri"/>
              </a:rPr>
              <a:t>പ്രസംഗത്തിലൂടെയാണ് ആത്മികാരോഗ്യവും ദൈവവചനവും - 2 പത്രോസ്- 1:21, റോമ- 10:14.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2860" y="4903217"/>
            <a:ext cx="2968761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 i="0" u="none" dirty="0" err="1">
                <a:solidFill>
                  <a:srgbClr val="1E293B"/>
                </a:solidFill>
                <a:latin typeface="Manjari"/>
              </a:rPr>
              <a:t>ദൈവത്തിന്റെ</a:t>
            </a:r>
            <a:r>
              <a:rPr sz="1500" b="1" i="0" u="none" dirty="0">
                <a:solidFill>
                  <a:srgbClr val="1E293B"/>
                </a:solidFill>
                <a:latin typeface="Manjari"/>
              </a:rPr>
              <a:t> </a:t>
            </a:r>
            <a:r>
              <a:rPr sz="1500" b="1" i="0" u="none" dirty="0" err="1">
                <a:solidFill>
                  <a:srgbClr val="1E293B"/>
                </a:solidFill>
                <a:latin typeface="Manjari"/>
              </a:rPr>
              <a:t>സൃഷ്ടിനിയമം</a:t>
            </a:r>
            <a:endParaRPr sz="1500" b="1" i="0" u="none" dirty="0">
              <a:solidFill>
                <a:srgbClr val="1E293B"/>
              </a:solidFill>
              <a:latin typeface="Manjar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372225" y="5228183"/>
            <a:ext cx="51054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Gayathri"/>
              </a:rPr>
              <a:t>ദൈവത്തിന്റെ സൃഷ്ടിനിയമം (സ്വഭാവം) പ്രസംഗമാണ്. പ്രസംഗിക്കുവാൻ വിശുദ്ധ വിളി അയച്ചു.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5724" y="2142083"/>
            <a:ext cx="54502" cy="269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sz="1050" b="1" i="0" u="none">
                <a:solidFill>
                  <a:srgbClr val="FFFFFF"/>
                </a:solidFill>
                <a:latin typeface="Manjari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67103" y="2142083"/>
            <a:ext cx="76944" cy="269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sz="1050" b="1" i="0" u="none">
                <a:solidFill>
                  <a:srgbClr val="FFFFFF"/>
                </a:solidFill>
                <a:latin typeface="Manjari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6907" y="3513683"/>
            <a:ext cx="72135" cy="269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sz="1050" b="1" i="0" u="none">
                <a:solidFill>
                  <a:srgbClr val="FFFFFF"/>
                </a:solidFill>
                <a:latin typeface="Manjar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61492" y="3513683"/>
            <a:ext cx="88166" cy="269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sz="1050" b="1" i="0" u="none">
                <a:solidFill>
                  <a:srgbClr val="FFFFFF"/>
                </a:solidFill>
                <a:latin typeface="Manjar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3701" y="4885283"/>
            <a:ext cx="78547" cy="269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sz="1050" b="1" i="0" u="none">
                <a:solidFill>
                  <a:srgbClr val="FFFFFF"/>
                </a:solidFill>
                <a:latin typeface="Manja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64698" y="4885283"/>
            <a:ext cx="81754" cy="269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sz="1050" b="1" i="0" u="none">
                <a:solidFill>
                  <a:srgbClr val="FFFFFF"/>
                </a:solidFill>
                <a:latin typeface="Manja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4570958"/>
            <a:ext cx="10972800" cy="619125"/>
          </a:xfrm>
          <a:prstGeom prst="roundRect">
            <a:avLst>
              <a:gd name="adj" fmla="val 15384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694533"/>
            <a:ext cx="3530500" cy="1647825"/>
          </a:xfrm>
          <a:prstGeom prst="roundRect">
            <a:avLst>
              <a:gd name="adj" fmla="val 578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30600" y="2694533"/>
            <a:ext cx="3530649" cy="1647825"/>
          </a:xfrm>
          <a:prstGeom prst="roundRect">
            <a:avLst>
              <a:gd name="adj" fmla="val 578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51750" y="2694533"/>
            <a:ext cx="3530500" cy="1647825"/>
          </a:xfrm>
          <a:prstGeom prst="roundRect">
            <a:avLst>
              <a:gd name="adj" fmla="val 578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3013" y="4780508"/>
            <a:ext cx="142875" cy="190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964191" y="912465"/>
            <a:ext cx="202276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64748B"/>
                </a:solidFill>
                <a:latin typeface="Gayathri"/>
              </a:rPr>
              <a:t>മൂന്ന് തരം പ്രസംഗങ്ങൾ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463692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563EB"/>
                </a:solidFill>
                <a:latin typeface="Manjari"/>
              </a:rPr>
              <a:t>CHAPTER - 5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95325"/>
            <a:ext cx="4868772" cy="3885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0F172A"/>
                </a:solidFill>
                <a:latin typeface="Manjari"/>
              </a:rPr>
              <a:t>വിവിധതരം പ്രസംഗങ്ങൾ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255984" y="4770983"/>
            <a:ext cx="12703968" cy="219075"/>
          </a:xfrm>
          <a:prstGeom prst="rect">
            <a:avLst/>
          </a:prstGeom>
          <a:noFill/>
        </p:spPr>
        <p:txBody>
          <a:bodyPr wrap="none" lIns="142875" tIns="0" rIns="0" bIns="0" anchor="t">
            <a:spAutoFit/>
          </a:bodyPr>
          <a:lstStyle/>
          <a:p>
            <a:pPr algn="ctr"/>
            <a:r>
              <a:rPr sz="1500" b="1" i="0" u="none" dirty="0" err="1">
                <a:solidFill>
                  <a:srgbClr val="334155"/>
                </a:solidFill>
                <a:latin typeface="Gayathri"/>
              </a:rPr>
              <a:t>കേൾവിക്കാരെക്കുറിച്ച്</a:t>
            </a:r>
            <a:r>
              <a:rPr sz="1500" b="1" i="0" u="none" dirty="0">
                <a:solidFill>
                  <a:srgbClr val="334155"/>
                </a:solidFill>
                <a:latin typeface="Gayathri"/>
              </a:rPr>
              <a:t> </a:t>
            </a:r>
            <a:r>
              <a:rPr sz="1500" b="1" i="0" u="none" dirty="0" err="1">
                <a:solidFill>
                  <a:srgbClr val="334155"/>
                </a:solidFill>
                <a:latin typeface="Gayathri"/>
              </a:rPr>
              <a:t>ചിന്തിക്കുക</a:t>
            </a:r>
            <a:r>
              <a:rPr sz="1500" b="1" i="0" u="none" dirty="0">
                <a:solidFill>
                  <a:srgbClr val="334155"/>
                </a:solidFill>
                <a:latin typeface="Gayathri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3170783"/>
            <a:ext cx="32257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 err="1">
                <a:solidFill>
                  <a:srgbClr val="475569"/>
                </a:solidFill>
                <a:latin typeface="Gayathri"/>
              </a:rPr>
              <a:t>ഏതെങ്കിലും</a:t>
            </a:r>
            <a:r>
              <a:rPr sz="1350" b="0" i="0" u="none" dirty="0">
                <a:solidFill>
                  <a:srgbClr val="475569"/>
                </a:solidFill>
                <a:latin typeface="Gayathri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Gayathri"/>
              </a:rPr>
              <a:t>ഒരു</a:t>
            </a:r>
            <a:r>
              <a:rPr sz="1350" b="0" i="0" u="none" dirty="0">
                <a:solidFill>
                  <a:srgbClr val="475569"/>
                </a:solidFill>
                <a:latin typeface="Gayathri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Gayathri"/>
              </a:rPr>
              <a:t>വിഷയം</a:t>
            </a:r>
            <a:r>
              <a:rPr sz="1350" b="0" i="0" u="none" dirty="0">
                <a:solidFill>
                  <a:srgbClr val="475569"/>
                </a:solidFill>
                <a:latin typeface="Gayathri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Gayathri"/>
              </a:rPr>
              <a:t>ആസ്പദമാക്കിയുള്ള</a:t>
            </a:r>
            <a:r>
              <a:rPr sz="1350" b="0" i="0" u="none" dirty="0">
                <a:solidFill>
                  <a:srgbClr val="475569"/>
                </a:solidFill>
                <a:latin typeface="Gayathri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Gayathri"/>
              </a:rPr>
              <a:t>പ്രസംഗം</a:t>
            </a:r>
            <a:r>
              <a:rPr sz="1350" b="0" i="0" u="none" dirty="0">
                <a:solidFill>
                  <a:srgbClr val="475569"/>
                </a:solidFill>
                <a:latin typeface="Gayathri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0625" y="3170783"/>
            <a:ext cx="3225849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Gayathri"/>
              </a:rPr>
              <a:t>ഏതെങ്കിലും ഒരു വാക്യം മുഴുവനായോ, ഭാഗികമായോ പ്രസംഗിക്കുന്ന രീതി.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1775" y="3389858"/>
            <a:ext cx="32257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Gayathri"/>
              </a:rPr>
              <a:t>ഏതെങ്കിലും ഒരു ഖണ്ഡികയോ, ഒരു പുസ്തകം മുഴുവനായോ പ്രസംഗിക്കുന്ന രീതി.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25" y="2899320"/>
            <a:ext cx="3196087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ml-IN" sz="1200" b="1" dirty="0">
                <a:solidFill>
                  <a:srgbClr val="2563EB"/>
                </a:solidFill>
                <a:latin typeface="Manjari" panose="02000503000000000000" pitchFamily="2" charset="0"/>
              </a:rPr>
              <a:t>1. വിഷയ </a:t>
            </a:r>
            <a:r>
              <a:rPr lang="ml-IN" sz="1200" b="1" dirty="0" smtClean="0">
                <a:solidFill>
                  <a:srgbClr val="2563EB"/>
                </a:solidFill>
                <a:latin typeface="Manjari" panose="02000503000000000000" pitchFamily="2" charset="0"/>
              </a:rPr>
              <a:t>പ്രസംഗം</a:t>
            </a:r>
            <a:r>
              <a:rPr lang="en-US" sz="1200" dirty="0" smtClean="0"/>
              <a:t> </a:t>
            </a:r>
            <a:r>
              <a:rPr lang="ml-IN" sz="1200" dirty="0" smtClean="0">
                <a:solidFill>
                  <a:srgbClr val="64748B"/>
                </a:solidFill>
                <a:latin typeface="Manjari" panose="02000503000000000000" pitchFamily="2" charset="0"/>
              </a:rPr>
              <a:t>(</a:t>
            </a:r>
            <a:r>
              <a:rPr lang="en-IN" sz="1200" dirty="0">
                <a:solidFill>
                  <a:srgbClr val="64748B"/>
                </a:solidFill>
                <a:latin typeface="Manjari" panose="02000503000000000000" pitchFamily="2" charset="0"/>
              </a:rPr>
              <a:t>Topical Sermon)</a:t>
            </a:r>
            <a:endParaRPr sz="1200" b="0" i="0" u="none" dirty="0">
              <a:solidFill>
                <a:srgbClr val="64748B"/>
              </a:solidFill>
              <a:latin typeface="Manja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30625" y="2899320"/>
            <a:ext cx="30271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ml-IN" sz="1200" b="1" dirty="0">
                <a:solidFill>
                  <a:srgbClr val="2563EB"/>
                </a:solidFill>
                <a:latin typeface="Manjari" panose="02000503000000000000" pitchFamily="2" charset="0"/>
              </a:rPr>
              <a:t>2. വാക്യ </a:t>
            </a:r>
            <a:r>
              <a:rPr lang="ml-IN" sz="1200" b="1" dirty="0" smtClean="0">
                <a:solidFill>
                  <a:srgbClr val="2563EB"/>
                </a:solidFill>
                <a:latin typeface="Manjari" panose="02000503000000000000" pitchFamily="2" charset="0"/>
              </a:rPr>
              <a:t>പ്രസംഗം</a:t>
            </a:r>
            <a:r>
              <a:rPr lang="en-US" sz="1200" dirty="0" smtClean="0"/>
              <a:t> </a:t>
            </a:r>
            <a:r>
              <a:rPr lang="ml-IN" sz="1200" dirty="0" smtClean="0">
                <a:solidFill>
                  <a:srgbClr val="64748B"/>
                </a:solidFill>
                <a:latin typeface="Manjari" panose="02000503000000000000" pitchFamily="2" charset="0"/>
              </a:rPr>
              <a:t>(</a:t>
            </a:r>
            <a:r>
              <a:rPr lang="en-IN" sz="1200" dirty="0">
                <a:solidFill>
                  <a:srgbClr val="64748B"/>
                </a:solidFill>
                <a:latin typeface="Manjari" panose="02000503000000000000" pitchFamily="2" charset="0"/>
              </a:rPr>
              <a:t>Textual Sermon)</a:t>
            </a:r>
            <a:endParaRPr sz="1200" b="0" i="0" u="none" dirty="0">
              <a:solidFill>
                <a:srgbClr val="64748B"/>
              </a:solidFill>
              <a:latin typeface="Manja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51776" y="2923133"/>
            <a:ext cx="32257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ml-IN" sz="1200" b="1" dirty="0">
                <a:solidFill>
                  <a:srgbClr val="2563EB"/>
                </a:solidFill>
                <a:latin typeface="Manjari" panose="02000503000000000000" pitchFamily="2" charset="0"/>
              </a:rPr>
              <a:t>3. ഖണ്ഡികാ </a:t>
            </a:r>
            <a:r>
              <a:rPr lang="ml-IN" sz="1200" b="1" dirty="0" smtClean="0">
                <a:solidFill>
                  <a:srgbClr val="2563EB"/>
                </a:solidFill>
                <a:latin typeface="Manjari" panose="02000503000000000000" pitchFamily="2" charset="0"/>
              </a:rPr>
              <a:t>പ്രസംഗം</a:t>
            </a:r>
            <a:r>
              <a:rPr lang="en-US" sz="1200" dirty="0" smtClean="0"/>
              <a:t> </a:t>
            </a:r>
            <a:r>
              <a:rPr lang="ml-IN" sz="1200" dirty="0" smtClean="0">
                <a:solidFill>
                  <a:srgbClr val="64748B"/>
                </a:solidFill>
                <a:latin typeface="Manjari" panose="02000503000000000000" pitchFamily="2" charset="0"/>
              </a:rPr>
              <a:t>(</a:t>
            </a:r>
            <a:r>
              <a:rPr lang="en-IN" sz="1200" dirty="0">
                <a:solidFill>
                  <a:srgbClr val="64748B"/>
                </a:solidFill>
                <a:latin typeface="Manjari" panose="02000503000000000000" pitchFamily="2" charset="0"/>
              </a:rPr>
              <a:t>Expository Sermon)</a:t>
            </a:r>
            <a:endParaRPr sz="1200" b="0" i="0" u="none" dirty="0">
              <a:solidFill>
                <a:srgbClr val="64748B"/>
              </a:solidFill>
              <a:latin typeface="Manja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50798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365</Words>
  <Application>Microsoft Office PowerPoint</Application>
  <PresentationFormat>Widescreen</PresentationFormat>
  <Paragraphs>84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Gayathri</vt:lpstr>
      <vt:lpstr>Kartika</vt:lpstr>
      <vt:lpstr>Manjari</vt:lpstr>
      <vt:lpstr>Office Theme</vt:lpstr>
      <vt:lpstr>Homiletics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DELL</dc:creator>
  <cp:keywords/>
  <dc:description>generated using python-pptx</dc:description>
  <cp:lastModifiedBy>DELL</cp:lastModifiedBy>
  <cp:revision>9</cp:revision>
  <dcterms:created xsi:type="dcterms:W3CDTF">2013-01-27T09:14:16Z</dcterms:created>
  <dcterms:modified xsi:type="dcterms:W3CDTF">2026-10-28T16:30:38Z</dcterms:modified>
  <cp:category/>
</cp:coreProperties>
</file>