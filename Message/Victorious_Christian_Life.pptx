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5912" cy="4572000"/>
          </a:xfrm>
          <a:prstGeom prst="roundRect">
            <a:avLst/>
          </a:prstGeom>
          <a:solidFill>
            <a:srgbClr val="1520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7024" y="1371600"/>
            <a:ext cx="3657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41264" y="1645920"/>
            <a:ext cx="10972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  <a:latin typeface="Palatino Linotype"/>
                <a:cs typeface="Palatino Linotype"/>
              </a:rPr>
              <a:t>VICTORIOUS CHRISTIAN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BBF24"/>
                </a:solidFill>
                <a:latin typeface="Nirmala UI"/>
                <a:cs typeface="Nirmala UI"/>
              </a:rPr>
              <a:t>വിജയകരമായ ക്രിസ്തീയ ജീവിതം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libri"/>
                <a:cs typeface="Calibri"/>
              </a:rPr>
              <a:t>ICPF Camp at Trivandrum 2026  |  ICPF ക്യാമ്പ്, തിരുവനന്തപുരം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59E0B"/>
                </a:solidFill>
                <a:latin typeface="Palatino Linotype"/>
                <a:cs typeface="Palatino Linotype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BBF24"/>
                </a:solidFill>
                <a:latin typeface="Nirmala UI"/>
                <a:cs typeface="Nirmala UI"/>
              </a:rPr>
              <a:t>ആമുഖം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Relationship with Christ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ക്രിസ്തുവുമായുള്ള ബന്ധം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01. Relationship with Christ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01. ക്രിസ്തുവുമായുള്ള ബന്ധം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Abiding in Christ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I am the vine; you are the branches.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Whoever abides in Me bears much fruit.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Apart from Christ, we can do nothing.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If you abide in Me and My words abide in you, ask whatever you wish.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John 15:5, 7-8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ക്രിസ്തുവില്‍ വസിക്കുക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ഞാന്‍ മുന്തിരിവള്ളിയും നിങ്ങള്‍ കൊമ്പുകളും ആകുന്നു.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എന്നില്‍ വസിക്കുന്നവന്‍ വളരെ ഫലം കായ്ക്കും.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എന്നെക്കൂടാതെ നിങ്ങള്‍ക്ക് ഒന്നും ചെയ്യുവാന്‍ കഴിയുകയില്ല.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നിങ്ങള്‍ എന്നിലും എന്റെ വചനങ്ങള്‍ നിങ്ങളിലും വസിച്ചാല്‍ ഇച്ഛിക്കുന്നതു ചോദിപ്പിന്‍.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യോഹന്നാന്‍ 15:5, 7-8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01. Relationship with Christ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01. ക്രിസ്തുവുമായുള്ള ബന്ധം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The Mind of Christ (Phil 2:5)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Have this mind among yourselves, which is yours in Christ Jesus.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Cultivate the humble, obedient attitude of Jesus.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Walk in selfless servanthood and love for others.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Philippians 2:5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ക്രിസ്തുവിന്റെ ഭാവം (ഫിലി 2:5)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ക്രിസ്തുയേശുവിലുള്ള ഈ ഭാവം തന്നെ നിങ്ങളിലും ഉണ്ടായിരിക്കട്ടെ.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യേശുവിന്റെ താഴ്മയും വിനയവും സ്വന്തമാക്കുക.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ത്യാഗത്തോടെ മറ്റുള്ളവരെ സ്നേഹിക്കുകയും സേവിക്കുകയും ചെയ്യുക.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ഫിലിപ്പിയര്‍ 2:5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01. Relationship with Christ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01. ക്രിസ്തുവുമായുള്ള ബന്ധം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Bearing Fruit for God's Glory (John 15:7-8)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By this my Father is glorified, that you bear much fruit.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Fruitfulness is the evidence of authentic discipleship.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Our lives bring honor and glory to the Father.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John 15:7-8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പിതാവിന്റെ മഹത്ത്വത്തിനായി ഫലം കായ്ക്കുക (യോഹ 15:7-8)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നിങ്ങള്‍ വളരെ ഫലം കായ്ക്കുന്നതിനാല്‍ എന്റെ പിതാവ് മഹത്ത്വപ്പെടുന്നു.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ഏറെ ഫലം കായ്ക്കുന്നതാണ് യഥാര്‍ത്ഥ ശിഷ്യത്വത്തിന്റെ തെളിവ്.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നമ്മുടെ ജീവിതം വഴി സ്വര്‍ഗ്ഗീയ പിതാവ് മഹത്ത്വപ്പെടുന്നു.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യോഹന്നാന്‍ 15:7-8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Bible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ബൈബിള്‍ വായന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02. Bible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02. ബൈബിള്‍ വായന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Word of God Has Creating Power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In the beginning, God created the heavens and the earth by His spoken Word.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God SAID "Let there be light" — and there was light.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Word of God carries creative, life-giving power.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Genesis 1:1 — "In the beginning God created the heavens and the earth."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ദൈവവചനത്തിന് സൃഷ്ടിക്കുന്ന ശക്തിയുണ്ട്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ആദിയില്‍ ദൈവം ആകാശവും ഭൂമിയും സൃഷ്ടിച്ചു.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ദൈവം "വെളിച്ചം ഉണ്ടാകട്ടെ" എന്ന് അരുളിച്ചെയ്തു; വെളിച്ചം ഉണ്ടായി.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ദൈവവചനത്തിന് സൃഷ്ടിക്കുന്നതും ജീവന്‍ നല്‍കുന്നതുമായ ശക്തിയുണ്ട്.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ഉല്‍പത്തി 1:1 — "ആദിയില്‍ ദൈവം ആകാശവും ഭൂമിയും സൃഷ്ടിച്ചു."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02. Bible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02. ബൈബിള്‍ വായന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Word of God is Jesus Christ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In the beginning was the Word, and the Word was with God, and the Word was God.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Jesus Christ IS the living Word of God made flesh.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Scripture reveals the person and heart of Jesus to us daily.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John 1:1 — "The Word was with God, and the Word was God."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ദൈവവചനം യേശുക്രിസ്തുവാണ്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ആദിയില്‍ വചനം ഉണ്ടായിരുന്നു; വചനം ദൈവത്തോടുകൂടെ ആയിരുന്നു; വചനം ദൈവം ആയിരുന്നു.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യേശുക്രിസ്തു ജഡമായിത്തീര്‍ന്ന ജീവനുള്ള ദൈവവചനമാണ്.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തിരുവെഴുത്തുകള്‍ യേശുവിന്റെ ഹൃദയവും സത്യവും നമുക്ക് വെളിപ്പെടുത്തുന്നു.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യോഹന്നാന്‍ 1:1 — "വചനം ദൈവത്തോടുകൂടെ ആയിരുന്നു; വചനം ദൈവം ആയിരുന്നു."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02. Bible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02. ബൈബിള്‍ വായന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Good News of the Kingdom of God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beginning of the Gospel of Jesus Christ, the Son of God.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Without understanding, the evil one snatches away the sown Word.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Guard, meditate upon, and obey the Truth in your heart.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Mark 1:1 &amp; Matthew 13:19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ദൈവരാജ്യത്തിന്റെ സുവിശേഷം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ദൈവപുത്രനായ യേശുക്രിസ്തുവിന്റെ സുവിശേഷത്തിന്റെ ആരംഭം.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ഗ്രഹിക്കാതിരുന്നാല്‍ ദുഷ്ടന്‍ വന്ന് ഹൃദയത്തിലെ വചനം റാഞ്ചി എടുക്കും.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വചനം ശ്രദ്ധയോടെ കേട്ട് ഹൃദയത്തില്‍ കാത്തുസൂക്ഷിക്കണം.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മര്‍ക്കൊസ് 1:1 &amp; മത്തായി 13:19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02. Bible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02. ബൈബിള്‍ വായന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Written Word of God is the Bible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All Scripture is breathed out by God (God-breathed / inspired).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Profitable for teaching, reproof, correction, and training in righteousness.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Bible is the inspired, written, authoritative Word of God.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2 Timothy 3:16-17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എഴുതപ്പെട്ട ദൈവവചനമാണ് ബൈബിൾ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എല്ലാ തിരുവെഴുത്തും ദൈവശ്വാസീയമാകുന്നു.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ഉപദേശത്തിനും ശാസനത്തിനും തിരുത്തലിനും നീതിയിലെ പരിശീലനത്തിനും പ്രയോജനമുള്ളത്.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സത്യവേദപുസ്തകം ദൈവത്താല്‍ നിശ്വസിക്കപ്പെട്ട അധികാരപൂര്‍ണ്ണമായ വചനമാകുന്നു.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2 തിമൊഥെയൊസ് 3:16-17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Palatino Linotype"/>
                <a:cs typeface="Palatino Linotype"/>
              </a:rPr>
              <a:t>WHAT IS THE BIBLE?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F59E0B"/>
                </a:solidFill>
                <a:latin typeface="Palatino Linotype"/>
                <a:cs typeface="Palatino Linotype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alatino Linotype"/>
                <a:cs typeface="Palatino Linotype"/>
              </a:rPr>
              <a:t> —  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8346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F59E0B"/>
                </a:solidFill>
                <a:latin typeface="Palatino Linotype"/>
                <a:cs typeface="Palatino Linotype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346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alatino Linotype"/>
                <a:cs typeface="Palatino Linotype"/>
              </a:rPr>
              <a:t> — 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57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F59E0B"/>
                </a:solidFill>
                <a:latin typeface="Palatino Linotype"/>
                <a:cs typeface="Palatino Linotype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alatino Linotype"/>
                <a:cs typeface="Palatino Linotype"/>
              </a:rPr>
              <a:t> —  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F59E0B"/>
                </a:solidFill>
                <a:latin typeface="Palatino Linotype"/>
                <a:cs typeface="Palatino Linotype"/>
              </a:rP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805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alatino Linotype"/>
                <a:cs typeface="Palatino Linotype"/>
              </a:rPr>
              <a:t> —  Leaving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3035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i="0">
                <a:solidFill>
                  <a:srgbClr val="F59E0B"/>
                </a:solidFill>
                <a:latin typeface="Palatino Linotype"/>
                <a:cs typeface="Palatino Linotype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035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alatino Linotype"/>
                <a:cs typeface="Palatino Linotype"/>
              </a:rPr>
              <a:t> —  Earth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Prayer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പ്രാര്‍ത്ഥനാ ജീവിതം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03. Prayer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03. പ്രാര്‍ത്ഥനാ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Lord, Teach Us to Pray (Luke 11:1)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disciples saw the power of prayer in Jesus and asked Him to teach them.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Prayer is not a religious duty but intimate communion with the Father.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ലൂക്കൊസ് 11:1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കര്‍ത്താവേ, ഞങ്ങളെ പ്രാര്‍ത്ഥിപ്പാന്‍ പഠിപ്പിക്കേണമേ (ലൂക്കൊ 11:1)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ശിഷ്യന്മാര്‍ യേശുവിന്റെ പ്രാര്‍ത്ഥനാജീവിതം കണ്ട് പഠിപ്പിക്കാന്‍ അപേക്ഷിച്ചു.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പ്രാര്‍ത്ഥന കേവലം ചടങ്ങല്ല, പിതാവുമായുള്ള ആഴമേറിയ ബന്ധമാണ്.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ലൂക്കൊസ് 11:1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03. Prayer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03. പ്രാര്‍ത്ഥനാ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Persistence in Prayer (Luke 11:5)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Friend at Midnight: bold persistence in prayer yields results.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Ask, seek, knock — the Heavenly Father gives the Holy Spirit to those who ask.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Luke 11:5-13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നിരന്തര പ്രാര്‍ത്ഥന (ലൂക്കൊ 11:5)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അര്‍ദ്ധരാത്രിയിലെ സ്നേഹിതന്‍: ലജ്ജയില്ലാത്ത യാചനയ്ക്ക് ഉത്തരം ലഭിക്കും.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ചോദിപ്പിന്‍, നിങ്ങള്‍ക്ക് നല്‍കപ്പെടും; തിരയുവിന്‍, നിങ്ങള്‍ കണ്ടെത്തും.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ലൂക്കൊസ് 11:5-13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03. Prayer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03. പ്രാര്‍ത്ഥനാ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Prayer Life of Jesus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Jesus regularly withdrew to solitary places to pray (Luke 5:16).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He prayed all night before appointing the 12 apostles (Luke 6:12).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His High Priestly prayer — John 17.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Luke 5:16, 6:12, John 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യേശുവിന്റെ പ്രാര്‍ത്ഥനാ ജീവിതം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യേശു ഏകാന്തസ്ഥലങ്ങളില്‍ പോയി പ്രാര്‍ത്ഥിച്ചിരുന്നു (ലൂക്കൊ 5:16).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ശിഷ്യരെ തെരഞ്ഞെടുക്കും മുമ്പ് രാത്രി മുഴുവന്‍ പ്രാര്‍ത്ഥിച്ചു (ലൂക്കൊ 6:12).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മഹാപൌരോഹിത്യ പ്രാര്‍ത്ഥന — യോഹന്നാന്‍ 17.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ലൂക്കൊസ് 5:16, 6:12, യോഹ 17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03. Prayer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03. പ്രാര്‍ത്ഥനാ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Prayer Warriors — Recommended Reading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Leonard Ravenhill — "Why Revival Tarries"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E.M. Bounds — "Power Through Prayer"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C.H. Spurgeon — Known for fervent morning prayers; "The Prince of Preachers"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Martin Luther — "I have so much to do that I shall spend the first three hours in prayer."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പ്രാര്‍ത്ഥനാ യോദ്ധാക്കള്‍ — വായനയ്ക്ക്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ലെണാര്‍ഡ് റേവന്‍ഹില്‍ — "Why Revival Tarries"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E.M. ബൌണ്ട്‌സ് — "Power Through Prayer"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C.H. സ്‌പര്‍ജന്‍ — ഉജ്ജ്വലമായ പ്രഭാത പ്രാര്‍ത്ഥനയ്ക്ക് പ്രശസ്തന്‍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മാര്‍ട്ടിന്‍ ലൂഥര്‍ — "എനിക്ക് ഇത്ര ജോലിയുള്ളതുകൊണ്ട് ആദ്യ മൂന്ന് മണിക്കൂര്‍ പ്രാര്‍ത്ഥനയ്ക്ക് ചെലവിടും."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സ്നേഹം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04. 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04. സ്നേഹം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The Greatest Commandment (Deut 6:4)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Hear O Israel: The LORD our God, the LORD is one.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Love the LORD your God with all your heart, soul, mind, and strength.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Deuteronomy 6:4-5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ഏറ്റവും വലിയ കല്‍പന (ആവ 6:4)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യിസ്രായേലേ കേള്‍ക്ക; നമ്മുടെ ദൈവമായ യഹോവ ഏക യഹോവ ആകുന്നു.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നിന്റെ ദൈവമായ യഹോവയെ പൂര്‍ണ്ണ ഹൃദയത്തോടും ആത്മാവോടും ശക്തിയോടും സ്നേഹിക്കേണം.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ആവര്‍ത്തനം 6:4-5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04. 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04. സ്നേഹം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Love Your Neighbour (Luke 10:25-37 / Eph 2:1-4)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Good Samaritan: practical compassion is the proof of love.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God, being rich in mercy, loved us even when we were dead in sins.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Luke 10:25-37 &amp; Ephesians 2:1-4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അയല്‍ക്കാരനെ സ്നേഹിക്കുക (ലൂക്കൊ 10:25-37 / എഫെ 2:1-4)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നല്ല ശമര്യക്കാരന്‍: പ്രായോഗിക അനുകമ്പയാണ് സ്നേഹത്തിന്റെ തെളിവ്.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കരുണാസമ്പന്നനായ ദൈവം പാപത്തില്‍ മരിച്ചിരുന്ന നമ്മെയും സ്നേഹിച്ചു.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ലൂക്കൊസ് 10:25-37 &amp; എഫെസ്യര്‍ 2:1-4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4. Love — 7 Bindings of 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4. സ്നേഹം — പാപത്തിന്റെ 7 ബന്ധനങ്ങള്‍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5852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  <a:cs typeface="Calibri"/>
              </a:rPr>
              <a:t>Ephesians 2:2-3 | എഫെസ്യര്‍ 2:2-3</a:t>
            </a:r>
          </a:p>
        </p:txBody>
      </p:sp>
      <p:sp>
        <p:nvSpPr>
          <p:cNvPr id="11" name="Oval 10"/>
          <p:cNvSpPr/>
          <p:nvPr/>
        </p:nvSpPr>
        <p:spPr>
          <a:xfrm>
            <a:off x="1522476" y="1508760"/>
            <a:ext cx="9144000" cy="4572000"/>
          </a:xfrm>
          <a:prstGeom prst="ellipse">
            <a:avLst/>
          </a:prstGeom>
          <a:noFill/>
          <a:ln w="444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50932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  <a:cs typeface="Calibri"/>
              </a:rPr>
              <a:t>Children of Wrath
by 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50932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Nirmala UI"/>
                <a:cs typeface="Nirmala UI"/>
              </a:rPr>
              <a:t>സ്വഭാവമായി
ക്രോധത്തിന്റെ മക്കള്‍</a:t>
            </a:r>
          </a:p>
        </p:txBody>
      </p:sp>
      <p:sp>
        <p:nvSpPr>
          <p:cNvPr id="14" name="Oval 13"/>
          <p:cNvSpPr/>
          <p:nvPr/>
        </p:nvSpPr>
        <p:spPr>
          <a:xfrm>
            <a:off x="2253996" y="1874520"/>
            <a:ext cx="7680960" cy="3840480"/>
          </a:xfrm>
          <a:prstGeom prst="ellipse">
            <a:avLst/>
          </a:prstGeom>
          <a:noFill/>
          <a:ln w="444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4434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  <a:cs typeface="Calibri"/>
              </a:rPr>
              <a:t>Desires of Body
&amp; Mind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4434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Nirmala UI"/>
                <a:cs typeface="Nirmala UI"/>
              </a:rPr>
              <a:t>ശരീരത്തിന്റെയും
മനസ്സിന്റെയും ആഗ്രഹങ്ങള്‍</a:t>
            </a:r>
          </a:p>
        </p:txBody>
      </p:sp>
      <p:sp>
        <p:nvSpPr>
          <p:cNvPr id="17" name="Oval 16"/>
          <p:cNvSpPr/>
          <p:nvPr/>
        </p:nvSpPr>
        <p:spPr>
          <a:xfrm>
            <a:off x="2894076" y="2240280"/>
            <a:ext cx="6400800" cy="3108960"/>
          </a:xfrm>
          <a:prstGeom prst="ellipse">
            <a:avLst/>
          </a:prstGeom>
          <a:noFill/>
          <a:ln w="4445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37764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00"/>
                </a:solidFill>
                <a:latin typeface="Calibri"/>
                <a:cs typeface="Calibri"/>
              </a:rPr>
              <a:t>Passions / Lusts
of the Flesh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7764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00"/>
                </a:solidFill>
                <a:latin typeface="Nirmala UI"/>
                <a:cs typeface="Nirmala UI"/>
              </a:rPr>
              <a:t>ജഡമോഹങ്ങള്‍</a:t>
            </a:r>
          </a:p>
        </p:txBody>
      </p:sp>
      <p:sp>
        <p:nvSpPr>
          <p:cNvPr id="20" name="Oval 19"/>
          <p:cNvSpPr/>
          <p:nvPr/>
        </p:nvSpPr>
        <p:spPr>
          <a:xfrm>
            <a:off x="3534156" y="2606040"/>
            <a:ext cx="5120640" cy="2377440"/>
          </a:xfrm>
          <a:prstGeom prst="ellipse">
            <a:avLst/>
          </a:prstGeom>
          <a:noFill/>
          <a:ln w="44450"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311810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347"/>
                </a:solidFill>
                <a:latin typeface="Calibri"/>
                <a:cs typeface="Calibri"/>
              </a:rPr>
              <a:t>Spirit of
Disobedience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11810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347"/>
                </a:solidFill>
                <a:latin typeface="Nirmala UI"/>
                <a:cs typeface="Nirmala UI"/>
              </a:rPr>
              <a:t>അനുസരണക്കേടിന്റെ
ആത്മാവ്</a:t>
            </a:r>
          </a:p>
        </p:txBody>
      </p:sp>
      <p:sp>
        <p:nvSpPr>
          <p:cNvPr id="23" name="Oval 22"/>
          <p:cNvSpPr/>
          <p:nvPr/>
        </p:nvSpPr>
        <p:spPr>
          <a:xfrm>
            <a:off x="4174236" y="2880360"/>
            <a:ext cx="3840480" cy="1828800"/>
          </a:xfrm>
          <a:prstGeom prst="ellipse">
            <a:avLst/>
          </a:prstGeom>
          <a:noFill/>
          <a:ln w="444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24597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  <a:cs typeface="Calibri"/>
              </a:rPr>
              <a:t>Prince of the
Power of the 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597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Nirmala UI"/>
                <a:cs typeface="Nirmala UI"/>
              </a:rPr>
              <a:t>ആകാശാധിപതിയായ
അധികാരി</a:t>
            </a:r>
          </a:p>
        </p:txBody>
      </p:sp>
      <p:sp>
        <p:nvSpPr>
          <p:cNvPr id="26" name="Oval 25"/>
          <p:cNvSpPr/>
          <p:nvPr/>
        </p:nvSpPr>
        <p:spPr>
          <a:xfrm>
            <a:off x="4814316" y="3154680"/>
            <a:ext cx="2560320" cy="1280160"/>
          </a:xfrm>
          <a:prstGeom prst="ellipse">
            <a:avLst/>
          </a:prstGeom>
          <a:noFill/>
          <a:ln w="4445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18013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E42"/>
                </a:solidFill>
                <a:latin typeface="Calibri"/>
                <a:cs typeface="Calibri"/>
              </a:rPr>
              <a:t>Course of
this 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18013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E42"/>
                </a:solidFill>
                <a:latin typeface="Nirmala UI"/>
                <a:cs typeface="Nirmala UI"/>
              </a:rPr>
              <a:t>ഈ ലോകത്തിന്റെ
വഴിയില്‍ നടന്നു</a:t>
            </a:r>
          </a:p>
        </p:txBody>
      </p:sp>
      <p:sp>
        <p:nvSpPr>
          <p:cNvPr id="29" name="Oval 28"/>
          <p:cNvSpPr/>
          <p:nvPr/>
        </p:nvSpPr>
        <p:spPr>
          <a:xfrm>
            <a:off x="5362956" y="3383280"/>
            <a:ext cx="1463040" cy="822960"/>
          </a:xfrm>
          <a:prstGeom prst="ellipse">
            <a:avLst/>
          </a:prstGeom>
          <a:noFill/>
          <a:ln w="444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1143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  <a:cs typeface="Calibri"/>
              </a:rPr>
              <a:t>Dead in Trespasses
&amp; Sins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1143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Nirmala UI"/>
                <a:cs typeface="Nirmala UI"/>
              </a:rPr>
              <a:t>അതിക്രമങ്ങളിലും
പാപങ്ങളിലും മരിച്ചവര്‍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20156" y="1965960"/>
            <a:ext cx="548640" cy="36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5676" y="352044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11680" y="4937760"/>
            <a:ext cx="8165592" cy="1554480"/>
          </a:xfrm>
          <a:prstGeom prst="roundRect">
            <a:avLst/>
          </a:prstGeom>
          <a:solidFill>
            <a:srgbClr val="1520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50292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Palatino Linotype"/>
                <a:cs typeface="Palatino Linotype"/>
              </a:rPr>
              <a:t>BUT GOD, being rich in mercy, because of His great love... (Eph 2:4)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292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Nirmala UI"/>
                <a:cs typeface="Nirmala UI"/>
              </a:rPr>
              <a:t>എന്നാല്‍ ദൈവം കരുണാസമ്പന്നനാകയാല്‍, നമ്മെ സ്നേഹിച്ച മഹാസ്നേഹം... (എഫെ 2:4)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04. 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04. സ്നേഹം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Love Never Fails (1 Cor 13 &amp; Rom 8:35-39)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Love is patient, kind, does not envy, and never ends.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Nothing in all creation can separate us from the love of God in Christ.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1 Corinthians 13 &amp; Romans 8:35-39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സ്നേഹം ഒരുനാളും ഉതിര്‍ന്നുപോകയില്ല (1 കൊരി 13 &amp; റോമ 8:35-39)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സ്നേഹം ദീര്‍ഘമായി ക്ഷമിക്കുന്നു, ദയ കാണിക്കുന്നു; സ്നേഹം ഒടുങ്ങുകയില്ല.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ക്രിസ്തുവിലുള്ള ദൈവസ്നേഹത്തില്‍ നിന്ന് നമ്മെ വേര്‍പിരിപ്പാന്‍ ഒന്നിനും കഴിയുകയില്ല.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1 കൊരിന്ത്യര്‍ 13 &amp; റോമര്‍ 8:35-39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04. 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04. സ്നേഹം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The New Commandment (John 13:34-35)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Love one another as Christ has loved us.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By this love, the world will know we are His true disciples.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John 13:34-35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പുതിയ കല്‍പന (യോഹ 13:34-35)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ഞാന്‍ നിങ്ങളെ സ്നേഹിച്ചതുപോലെ നിങ്ങളും തമ്മില്‍ തമ്മില്‍ സ്നേഹിക്കുവിന്‍.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സഹോദരസ്നേഹത്താല്‍ നിങ്ങള്‍ ക്രിസ്തുവിന്റെ ശിഷ്യരെന്ന് ലോകം അറിയും.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യോഹന്നാന്‍ 13:34-35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Receive Holy Spirit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പരിശുദ്ധാത്മാവിനെ പ്രാപിക്കുക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05. Receive Holy Spirit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05. പരിശുദ്ധാത്മാവിനെ പ്രാപിക്കുക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The Helper &amp; Spirit of Truth (John 16:7-8, 13)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Holy Spirit convicts the world of sin, righteousness, and judgment.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He guides believers into all truth and glorifies Jesus Christ.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John 16:7-8,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കാര്യസ്ഥനായ പരിശുദ്ധാത്മാവ് (യോഹ 16:7-8, 13)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പരിശുദ്ധാത്മാവ് ലോകത്തിന് പാപം, നീതി, ന്യായവിധി ഇവയെക്കുറിച്ച് ബോധ്യം വരുത്തും.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അവന്‍ നിങ്ങളെ സകല സത്യത്തിലും വഴിനടത്തും.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യോഹന്നാന്‍ 16:7-8, 13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05. Receive Holy Spirit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05. പരിശുദ്ധാത്മാവിനെ പ്രാപിക്കുക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Power from On High (Acts 1:4, 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Wait for the promise of the Father — baptism in the Holy Spirit.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You will receive power to be bold witnesses to the ends of the earth.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Acts 1:4,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ഉയരത്തില്‍ നിന്നുള്ള ശക്തി (പ്രവൃ 1:4, 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പിതാവിന്റെ വാഗ്ദത്തമായ പരിശുദ്ധാത്മ സ്നാനത്തിനായി കാത്തിരിക്കുക.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ശക്തി ലഭിച്ചിട്ട് ഭൂമിയുടെ അറ്റത്തോളം സാക്ഷികളാകും.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പ്രവൃത്തികള്‍ 1:4, 8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05. Receive Holy Spirit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05. പരിശുദ്ധാത്മാവിനെ പ്രാപിക്കുക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Outpouring of the Spirit in Acts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Jerusalem: All filled, spoke in tongues (Acts 2:1-4).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Samaria: Received the Spirit through laying on of hands (Acts 8:17).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Caesarea — Cornelius: Holy Spirit fell on all who heard the Word (Acts 10:44).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Ephesus: Filled with the Spirit and prophesied (Acts 19:6).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Acts 2:1-4, 8:17, 10:44, 19:6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ആത്മാവിന്റെ പകര്‍ച്ച — പ്രവൃത്തികള്‍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യെരൂശലേം: എല്ലാവരും പരിശുദ്ധാത്മാവ് നിറഞ്ഞു സംസാരിച്ചു (പ്രവൃ 2:1-4).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ശമര്യ: കൈവെച്ചു പ്രാര്‍ത്ഥിച്ചപ്പോള്‍ ആത്മാവ് ലഭിച്ചു (പ്രവൃ 8:17).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കൈസര്യ — കൊര്‍ന്നേല്യൊസ്: വചനം കേട്ട ഏവരുടെയും മേല്‍ ആത്മാവ് ഇറങ്ങി (പ്രവൃ 10:44).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എഫെസൊസ്: കൈവെച്ചപ്പോള്‍ ആത്മാവ് വന്നു പ്രവചിച്ചു (പ്രവൃ 19:6).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പ്രവൃത്തികള്‍ 2:1-4, 8:17, 10:44, 19:6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Holy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വിശുദ്ധ ജീവിതം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06. Holy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06. വിശുദ്ധ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Be Holy as God is Holy (1 Peter 1:14-16)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Do not conform to the former worldly passions.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Be holy in all your conduct and daily lifestyle.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1 Peter 1:14-16 — "Be holy, for I am holy."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ദൈവം വിശുദ്ധനാകയാല്‍ വിശുദ്ധരാകുക (1 പത്രൊ 1:14-16)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മുന്‍കാല ലോക മോഹങ്ങള്‍ക്ക് അനുരൂപരാകരുത്.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നിങ്ങളുടെ എല്ലാ നടത്തയിലും വിശുദ്ധരായിരിപ്പിന്‍.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1 പത്രൊസ് 1:14-16 — "ഞാന്‍ വിശുദ്ധന്‍ ആകയാല്‍ നിങ്ങളും വിശുദ്ധരായിരിപ്പിന്‍."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06. Holy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06. വിശുദ്ധ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Vision of God's Holiness (Isaiah 6:1-3)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Isaiah saw the Lord high and exalted; Seraphim cried "Holy, Holy, Holy."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heavenly throne glorifies the Holy and Righteous Lord.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Isaiah 6:1-3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ദൈവീക വിശുദ്ധിയുടെ ദര്‍ശനം (യെശ 6:1-3)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യെശയ്യാവ് കര്‍ത്താവിനെ ഉന്നതമായി ദര്‍ശിച്ചു; സെറാഫുകള്‍ "പരിശുദ്ധന്‍" എന്ന് ആര്‍ത്തു.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സ്വര്‍ഗ്ഗീയ സിംഹാസനം പരിശുദ്ധനായ കര്‍ത്താവിനെ പുകഴ്ത്തുന്നു.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യെശയ്യാവു 6:1-3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06. Holy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06. വിശുദ്ധ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Holy, Holy, Holy (Rev 4:8, 11 &amp; Acts 3:14)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"Holy, holy, holy, is the Lord God Almighty, who was and is and is to come!"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Jesus is the Holy and Righteous One who set us apart.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Revelation 4:8, 11 &amp; Acts 3:14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പരിശുദ്ധന്‍, പരിശുദ്ധന്‍, പരിശുദ്ധന്‍ (വെളി 4:8, 11 &amp; പ്രവൃ 3:14)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"പരിശുദ്ധന്‍, പരിശുദ്ധന്‍, പരിശുദ്ധന്‍; സര്‍വ്വശക്തിയുള്ള ദൈവമായ കര്‍ത്താവ്!"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യേശു നമ്മെ തനിക്കായി വേര്‍തിരിച്ച പരിശുദ്ധനും നീതിമാനുമാണ്.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വെളിപ്പാടു 4:8, 11 &amp; പ്രവൃത്തികള്‍ 3:14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06. Holy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06. വിശുദ്ധ ജീവിതം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Living Sacrifice &amp; Transformed Mind (Rom 12:1-2)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Present your bodies as a living sacrifice, holy and acceptable to God.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Do not be conformed to this world, but be transformed by renewing your mind.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Romans 12:1-2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ജീവനുള്ള യാഗവും രൂപാന്തരപ്പെടുന്ന മനസ്സും (റോമ 12:1-2)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നിങ്ങളുടെ ശരീരങ്ങളെ ദൈവത്തിന്ന് പ്രസാദമുള്ള ജീവനുള്ള യാഗമായി സമര്‍പ്പിപ്പിന്‍.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ഈ ലോകത്തിന്ന് അനുരൂപമാകാതെ മനസ്സ് പുതുക്കി രൂപാന്തരപ്പെടുവിന്‍.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റോമര്‍ 12:1-2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0A1128"/>
                </a:solidFill>
                <a:cs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alatino Linotype"/>
                <a:cs typeface="Palatino Linotype"/>
              </a:rPr>
              <a:t>Eternal Hope (Eternity)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Nirmala UI"/>
                <a:cs typeface="Nirmala UI"/>
              </a:rPr>
              <a:t>നിത്യപ്രത്യാശ (നിത്യത)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07. Eternal Hope (Eternity)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07. നിത്യപ്രത്യാശ (നിത്യത)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Temporary Troubles vs. Eternal Glory (2 Cor 4:17-18)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Light momentary troubles prepare us for an eternal weight of glory.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We look not to things seen, but to the eternal unseen reality.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2 Corinthians 4:17-18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ക്ഷണികമായ കഷ്ടവും നിത്യ തേജസ്സിന്റെ ഘനവും (2 കൊരി 4:17-18)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നൊടിനേരത്തേക്കുള്ള ലഘുവായ കഷ്ടം നിത്യമായ തേജോഭാരം ഉളവാക്കുന്നു.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നാം കാണുന്നതിനെയല്ല, കാണാത്ത നിത്യതയെയത്രേ നോക്കുന്നത്.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2 കൊരിന്ത്യര്‍ 4:17-18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07. Eternal Hope (Eternity)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07. നിത്യപ്രത്യാശ (നിത്യത)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Living Hope &amp; Imperishable Inheritance (1 Pet 1:4-6)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Born again into a living hope through the resurrection of Jesus.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An inheritance imperishable, undefiled, and unfading in heaven.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1 Peter 1:4-6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ജീവനുള്ള പ്രത്യാശയും വാടാത്ത അവകാശവും (1 പത്രൊ 1:4-6)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യേശുവിന്റെ പുനരുത്ഥാനത്താല്‍ ജീവനുള്ള പ്രത്യാശയ്ക്കായി വീണ്ടും ജനിച്ചു.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അക്ഷയവും നിര്‍മ്മലവും വാടാത്തതുമായ അവകാശം സ്വര്‍ഗ്ഗത്തില്‍ സൂക്ഷിച്ചിരിക്കുന്നു.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1 പത്രൊസ് 1:4-6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07. Eternal Hope (Eternity)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07. നിത്യപ്രത്യാശ (നിത്യത)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Fix Our Eyes on Jesus (Heb 12:2-3, Rom 8:18)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Looking to Jesus, the founder and perfecter of our faith.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Present sufferings are not worth comparing with the glory to be revealed.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Hebrews 12:2-3 &amp; Romans 8:18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യേശുവിലേക്ക് നോക്കി ഓടുക (എബ്രാ 12:2-3, റോമ 8:18)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വിശ്വാസത്തിന്റെ നായകനായ യേശുവിനെ നോക്കി സ്ഥിരതയോടെ ഓടുക.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ഇപ്പോഴത്തെ കഷ്ടങ്ങള്‍ വെളിപ്പെടാനിരിക്കുന്ന തേജസ്സുമായി തുലനം ചെയ്യാനാകില്ല.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എബ്രായര്‍ 12:2-3 &amp; റോമര്‍ 8:18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984"/>
            <a:ext cx="12188952" cy="18288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alatino Linotype"/>
                <a:cs typeface="Palatino Linotype"/>
              </a:rPr>
              <a:t>07. Eternal Hope (Eternity)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irmala UI"/>
                <a:cs typeface="Nirmala UI"/>
              </a:rPr>
              <a:t>07. നിത്യപ്രത്യാശ (നിത്യത)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  <a:cs typeface="Calibri"/>
              </a:rPr>
              <a:t>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Palatino Linotype"/>
                <a:cs typeface="Palatino Linotype"/>
              </a:rPr>
              <a:t>The Resurrection Life (Romans 8:11)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The same Spirit who raised Jesus from the dead dwells in us.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  <a:cs typeface="Calibri"/>
              </a:rPr>
              <a:t>  &gt;&gt; He will give eternal life and glory to our mortal bodies.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Calibri"/>
                <a:cs typeface="Calibri"/>
              </a:rPr>
              <a:t>Romans 8:11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325880"/>
            <a:ext cx="18288" cy="4937760"/>
          </a:xfrm>
          <a:prstGeom prst="rect">
            <a:avLst/>
          </a:prstGeom>
          <a:solidFill>
            <a:srgbClr val="2E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4768" y="1143000"/>
            <a:ext cx="5632704" cy="534924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2E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F59E0B"/>
                </a:solidFill>
                <a:latin typeface="Nirmala UI"/>
                <a:cs typeface="Nirmala UI"/>
              </a:rPr>
              <a:t>പുനരുത്ഥാനത്തിന്റെ ആത്മാവ് (റോമ 8:11)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യേശുവിനെ മരിച്ചവരില്‍ നിന്ന് ഉയിര്‍പ്പിച്ചവന്റെ ആത്മാവ് നമ്മില്‍ വസിക്കുന്നു.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Nirmala UI"/>
                <a:cs typeface="Nirmala UI"/>
              </a:rPr>
              <a:t>  &gt;&gt; അവന്‍ നമ്മുടെ മര്‍ത്യശരീരങ്ങളെയും ജീവിപ്പിക്കും.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38BDF8"/>
                </a:solidFill>
                <a:latin typeface="Nirmala UI"/>
                <a:cs typeface="Nirmala UI"/>
              </a:rPr>
              <a:t>റോമര്‍ 8:11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Palatino Linotype"/>
                <a:cs typeface="Palatino Linotype"/>
              </a:rPr>
              <a:t>LIVE VICTORIOUSLY IN CHRIST!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BBF24"/>
                </a:solidFill>
                <a:latin typeface="Nirmala UI"/>
                <a:cs typeface="Nirmala UI"/>
              </a:rPr>
              <a:t>ക്രിസ്തുവില്‍ വിജയകരമായി ജീവിക്കുക!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1. Relationship
with Christ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1. ക്രിസ്തുവുമായുള്ള
ബന്ധം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30118" y="146304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2. Bible
Reading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2. ബൈബിള്‍
വായന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6" y="146304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3. Prayer
Life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3. പ്രാര്‍ത്ഥനാ
ജീവിതം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1714" y="146304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4. Love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4. സ്നേഹം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2219" y="338328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5. Receive
Holy Spirit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5. പരിശുദ്ധാത്മാവിനെ
പ്രാപിക്കുക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8017" y="338328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6. Holy
Life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6. വിശുദ്ധ
ജീവിതം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3815" y="3383280"/>
            <a:ext cx="2772918" cy="1737360"/>
          </a:xfrm>
          <a:prstGeom prst="roundRect">
            <a:avLst/>
          </a:prstGeom>
          <a:solidFill>
            <a:srgbClr val="1520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7. Eternal
Hope</a:t>
            </a:r>
          </a:p>
          <a:p>
            <a:r>
              <a:rPr sz="1300">
                <a:solidFill>
                  <a:srgbClr val="FBBF24"/>
                </a:solidFill>
                <a:latin typeface="Nirmala UI"/>
                <a:cs typeface="Nirmala UI"/>
              </a:rPr>
              <a:t>7. നിത്യ
പ്രത്യാശ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3035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8BDF8"/>
                </a:solidFill>
                <a:latin typeface="Calibri"/>
                <a:cs typeface="Calibri"/>
              </a:rPr>
              <a:t>"I can do all things through Christ who strengthens me." — Philippians 4:13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035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8BDF8"/>
                </a:solidFill>
                <a:latin typeface="Nirmala UI"/>
                <a:cs typeface="Nirmala UI"/>
              </a:rPr>
              <a:t>"എന്നെ ശക്തനാക്കുന്നവന്‍ മുഖാന്തരം ഞാന്‍ സകലത്തിന്നും മതിയാകുന്നു." — ഫിലിപ്പിയര്‍ 4:13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17904" y="1828800"/>
            <a:ext cx="9144000" cy="3200400"/>
          </a:xfrm>
          <a:prstGeom prst="roundRect">
            <a:avLst/>
          </a:prstGeom>
          <a:solidFill>
            <a:srgbClr val="0A1128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 i="0">
                <a:solidFill>
                  <a:srgbClr val="F59E0B"/>
                </a:solidFill>
                <a:latin typeface="Palatino Linotype"/>
                <a:cs typeface="Palatino Linotype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Nirmala UI"/>
                <a:cs typeface="Nirmala UI"/>
              </a:rPr>
              <a:t>ക്ലാസ്സിൽ പങ്കെടുത്ത എല്ലാവർക്കും നന്ദി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